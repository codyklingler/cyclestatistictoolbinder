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http://customooxmlschemas.google.com/">
      <go:slidesCustomData xmlns:go="http://customooxmlschemas.google.com/" r:id="rId19" roundtripDataSignature="AMtx7mi8Em0LHiRIMym5p6xg0pRdQm3Lz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549467FF-6A36-42A5-9114-26B6131018BD}">
  <a:tblStyle styleId="{549467FF-6A36-42A5-9114-26B6131018BD}" styleName="Table_0">
    <a:wholeTbl>
      <a:tcTxStyle b="off" i="off">
        <a:font>
          <a:latin typeface="Arial"/>
          <a:ea typeface="Arial"/>
          <a:cs typeface="Arial"/>
        </a:font>
        <a:srgbClr val="000000"/>
      </a:tcTxStyle>
      <a:tcStyle>
        <a:tcBdr>
          <a:left>
            <a:ln cap="flat" cmpd="sng" w="12700">
              <a:solidFill>
                <a:srgbClr val="FFFFFF"/>
              </a:solidFill>
              <a:prstDash val="solid"/>
              <a:round/>
              <a:headEnd len="sm" w="sm" type="none"/>
              <a:tailEnd len="sm" w="sm" type="none"/>
            </a:ln>
          </a:left>
          <a:right>
            <a:ln cap="flat" cmpd="sng" w="12700">
              <a:solidFill>
                <a:srgbClr val="FFFFFF"/>
              </a:solidFill>
              <a:prstDash val="solid"/>
              <a:round/>
              <a:headEnd len="sm" w="sm" type="none"/>
              <a:tailEnd len="sm" w="sm" type="none"/>
            </a:ln>
          </a:right>
          <a:top>
            <a:ln cap="flat" cmpd="sng" w="12700">
              <a:solidFill>
                <a:srgbClr val="FFFFFF"/>
              </a:solidFill>
              <a:prstDash val="solid"/>
              <a:round/>
              <a:headEnd len="sm" w="sm" type="none"/>
              <a:tailEnd len="sm" w="sm" type="none"/>
            </a:ln>
          </a:top>
          <a:bottom>
            <a:ln cap="flat" cmpd="sng" w="12700">
              <a:solidFill>
                <a:srgbClr val="FFFFFF"/>
              </a:solidFill>
              <a:prstDash val="solid"/>
              <a:round/>
              <a:headEnd len="sm" w="sm" type="none"/>
              <a:tailEnd len="sm" w="sm" type="none"/>
            </a:ln>
          </a:bottom>
          <a:insideH>
            <a:ln cap="flat" cmpd="sng" w="12700">
              <a:solidFill>
                <a:srgbClr val="FFFFFF"/>
              </a:solidFill>
              <a:prstDash val="solid"/>
              <a:round/>
              <a:headEnd len="sm" w="sm" type="none"/>
              <a:tailEnd len="sm" w="sm" type="none"/>
            </a:ln>
          </a:insideH>
          <a:insideV>
            <a:ln cap="flat" cmpd="sng" w="12700">
              <a:solidFill>
                <a:srgbClr val="FFFFFF"/>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 styleId="{5A8EF67A-0E4A-49A6-880E-3EDAF77BBDF1}" styleName="Table_1">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5" Type="http://schemas.openxmlformats.org/officeDocument/2006/relationships/slideMaster" Target="slideMasters/slideMaster1.xml"/><Relationship Id="rId19" Type="http://customschemas.google.com/relationships/presentationmetadata" Target="metadata"/><Relationship Id="rId6" Type="http://schemas.openxmlformats.org/officeDocument/2006/relationships/notesMaster" Target="notesMasters/notesMaster1.xml"/><Relationship Id="rId18" Type="http://schemas.openxmlformats.org/officeDocument/2006/relationships/slide" Target="slides/slide12.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 name="Google Shape;52;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8" name="Google Shape;58;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900">
                <a:solidFill>
                  <a:schemeClr val="dk1"/>
                </a:solidFill>
              </a:rPr>
              <a:t>The Cycle Statistic Tool is a data recording device which will be attached to the frame of a bicycle. In this position, several electronic components may be used to record statistics about a user’s cycling trip. The Cycle Statistic Tool will transmit data to a companion application that is installed on a user’s smartphone. This application will utilize the collected information to provide records of a user’s cycling sessions in the form of graphs and charts that enable the user to improve their cycling skills.</a:t>
            </a:r>
            <a:endParaRPr sz="900">
              <a:solidFill>
                <a:schemeClr val="dk1"/>
              </a:solidFill>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4" name="Google Shape;64;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900">
                <a:solidFill>
                  <a:schemeClr val="dk1"/>
                </a:solidFill>
              </a:rPr>
              <a:t>The figure depicts a general layout of the components of the Cycle Statistic Tool. The primary microcontroller and display will be attached to the main frame of the bicycle within the line of sight of the user. The anemometer and wind angle fin will be mounted in an unrestricted location at the front of the cycle. The secondary microcontroller is mounted on the pedal shaft to inhibit any physical tethering between the pedals and the frame, which would interfere with pedaling. </a:t>
            </a:r>
            <a:endParaRPr sz="9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ba8d29d8b3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0" name="Google Shape;70;gba8d29d8b3_0_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ba8d29d8b3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6" name="Google Shape;76;gba8d29d8b3_0_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a79ffe57d7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2" name="Google Shape;82;ga79ffe57d7_0_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900">
                <a:solidFill>
                  <a:schemeClr val="dk1"/>
                </a:solidFill>
              </a:rPr>
              <a:t>The completed tasks for the Cycle Statistic Tool are shown. The expected and actual time for each task is displayed. Currently, these tasks consist of research and design of the product. We will continue to research components and bluetooth as the project continues. </a:t>
            </a:r>
            <a:endParaRPr sz="900">
              <a:solidFill>
                <a:schemeClr val="dk1"/>
              </a:solidFill>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a79ffe57d7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8" name="Google Shape;88;ga79ffe57d7_0_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This Gantt Chart was created from the network diagram that you saw from before. It is used to create timeline for when each task should be completed to stay on course with our deadline. In this chart the critical path is highlighted in red.</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a79ffe57d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4" name="Google Shape;94;ga79ffe57d7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900">
                <a:solidFill>
                  <a:schemeClr val="dk1"/>
                </a:solidFill>
              </a:rPr>
              <a:t>The bill of materials for the final design are displayed. For each component purchased, we have listed the part number, product name, quantity, cost per unit, description, and any applicable standards. Some parts have still not been finalized, such as the stabilizer and motor for the anemometer. This is because we already have some parts that could be used for the project, first they need to be tested for efficacy.</a:t>
            </a:r>
            <a:endParaRPr sz="900">
              <a:solidFill>
                <a:schemeClr val="dk1"/>
              </a:solidFill>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a715356b46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0" name="Google Shape;100;ga715356b46_0_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900">
                <a:solidFill>
                  <a:schemeClr val="dk1"/>
                </a:solidFill>
              </a:rPr>
              <a:t>The block diagram of the cycle statistic tool represent the two microcontrollers used in our design and the system of components connected to each. The primary microcontroller will be used as the primary board to connect all sensors and for operation of the device. The secondary microcontroller will be attached to the pedal shaft to wirelessly relay data from this position to the primary board. The block diagram depicts each component connected to the respective microcontroller and the component’s method of transmission. The block diagram is a necessary prelude to the more detailed design schematics of the product.</a:t>
            </a:r>
            <a:endParaRPr sz="900">
              <a:solidFill>
                <a:schemeClr val="dk1"/>
              </a:solidFill>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ba8d29d8b3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6" name="Google Shape;106;gba8d29d8b3_0_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ba8d29d8b3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2" name="Google Shape;112;gba8d29d8b3_0_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8" name="Google Shape;118;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Now id like to open up our presentation for any questions the audience may have</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10"/>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1" name="Google Shape;11;p10"/>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1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3" name="Shape 13"/>
        <p:cNvGrpSpPr/>
        <p:nvPr/>
      </p:nvGrpSpPr>
      <p:grpSpPr>
        <a:xfrm>
          <a:off x="0" y="0"/>
          <a:ext cx="0" cy="0"/>
          <a:chOff x="0" y="0"/>
          <a:chExt cx="0" cy="0"/>
        </a:xfrm>
      </p:grpSpPr>
      <p:sp>
        <p:nvSpPr>
          <p:cNvPr id="14" name="Google Shape;14;p1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5" name="Google Shape;15;p1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16" name="Google Shape;16;p1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7" name="Shape 17"/>
        <p:cNvGrpSpPr/>
        <p:nvPr/>
      </p:nvGrpSpPr>
      <p:grpSpPr>
        <a:xfrm>
          <a:off x="0" y="0"/>
          <a:ext cx="0" cy="0"/>
          <a:chOff x="0" y="0"/>
          <a:chExt cx="0" cy="0"/>
        </a:xfrm>
      </p:grpSpPr>
      <p:sp>
        <p:nvSpPr>
          <p:cNvPr id="18" name="Google Shape;18;p1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9" name="Shape 19"/>
        <p:cNvGrpSpPr/>
        <p:nvPr/>
      </p:nvGrpSpPr>
      <p:grpSpPr>
        <a:xfrm>
          <a:off x="0" y="0"/>
          <a:ext cx="0" cy="0"/>
          <a:chOff x="0" y="0"/>
          <a:chExt cx="0" cy="0"/>
        </a:xfrm>
      </p:grpSpPr>
      <p:sp>
        <p:nvSpPr>
          <p:cNvPr id="20" name="Google Shape;20;p13"/>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21" name="Google Shape;21;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2" name="Shape 22"/>
        <p:cNvGrpSpPr/>
        <p:nvPr/>
      </p:nvGrpSpPr>
      <p:grpSpPr>
        <a:xfrm>
          <a:off x="0" y="0"/>
          <a:ext cx="0" cy="0"/>
          <a:chOff x="0" y="0"/>
          <a:chExt cx="0" cy="0"/>
        </a:xfrm>
      </p:grpSpPr>
      <p:sp>
        <p:nvSpPr>
          <p:cNvPr id="23" name="Google Shape;23;p1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4" name="Google Shape;24;p14"/>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25" name="Google Shape;25;p14"/>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26" name="Google Shape;26;p1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7" name="Shape 27"/>
        <p:cNvGrpSpPr/>
        <p:nvPr/>
      </p:nvGrpSpPr>
      <p:grpSpPr>
        <a:xfrm>
          <a:off x="0" y="0"/>
          <a:ext cx="0" cy="0"/>
          <a:chOff x="0" y="0"/>
          <a:chExt cx="0" cy="0"/>
        </a:xfrm>
      </p:grpSpPr>
      <p:sp>
        <p:nvSpPr>
          <p:cNvPr id="28" name="Google Shape;28;p1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9" name="Google Shape;29;p1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0" name="Shape 30"/>
        <p:cNvGrpSpPr/>
        <p:nvPr/>
      </p:nvGrpSpPr>
      <p:grpSpPr>
        <a:xfrm>
          <a:off x="0" y="0"/>
          <a:ext cx="0" cy="0"/>
          <a:chOff x="0" y="0"/>
          <a:chExt cx="0" cy="0"/>
        </a:xfrm>
      </p:grpSpPr>
      <p:sp>
        <p:nvSpPr>
          <p:cNvPr id="31" name="Google Shape;31;p16"/>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2" name="Google Shape;32;p16"/>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33" name="Google Shape;33;p1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4" name="Shape 34"/>
        <p:cNvGrpSpPr/>
        <p:nvPr/>
      </p:nvGrpSpPr>
      <p:grpSpPr>
        <a:xfrm>
          <a:off x="0" y="0"/>
          <a:ext cx="0" cy="0"/>
          <a:chOff x="0" y="0"/>
          <a:chExt cx="0" cy="0"/>
        </a:xfrm>
      </p:grpSpPr>
      <p:sp>
        <p:nvSpPr>
          <p:cNvPr id="35" name="Google Shape;35;p17"/>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6" name="Google Shape;36;p1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7" name="Shape 37"/>
        <p:cNvGrpSpPr/>
        <p:nvPr/>
      </p:nvGrpSpPr>
      <p:grpSpPr>
        <a:xfrm>
          <a:off x="0" y="0"/>
          <a:ext cx="0" cy="0"/>
          <a:chOff x="0" y="0"/>
          <a:chExt cx="0" cy="0"/>
        </a:xfrm>
      </p:grpSpPr>
      <p:sp>
        <p:nvSpPr>
          <p:cNvPr id="38" name="Google Shape;38;p18"/>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 name="Google Shape;39;p18"/>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40" name="Google Shape;40;p18"/>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1" name="Google Shape;41;p18"/>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42" name="Google Shape;42;p1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3" name="Shape 43"/>
        <p:cNvGrpSpPr/>
        <p:nvPr/>
      </p:nvGrpSpPr>
      <p:grpSpPr>
        <a:xfrm>
          <a:off x="0" y="0"/>
          <a:ext cx="0" cy="0"/>
          <a:chOff x="0" y="0"/>
          <a:chExt cx="0" cy="0"/>
        </a:xfrm>
      </p:grpSpPr>
      <p:sp>
        <p:nvSpPr>
          <p:cNvPr id="44" name="Google Shape;44;p19"/>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Autofit/>
          </a:bodyPr>
          <a:lstStyle>
            <a:lvl1pPr indent="-228600" lvl="0" marL="457200" algn="l">
              <a:lnSpc>
                <a:spcPct val="100000"/>
              </a:lnSpc>
              <a:spcBef>
                <a:spcPts val="0"/>
              </a:spcBef>
              <a:spcAft>
                <a:spcPts val="0"/>
              </a:spcAft>
              <a:buSzPts val="1800"/>
              <a:buNone/>
              <a:defRPr/>
            </a:lvl1pPr>
          </a:lstStyle>
          <a:p/>
        </p:txBody>
      </p:sp>
      <p:sp>
        <p:nvSpPr>
          <p:cNvPr id="45" name="Google Shape;45;p1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6" name="Shape 46"/>
        <p:cNvGrpSpPr/>
        <p:nvPr/>
      </p:nvGrpSpPr>
      <p:grpSpPr>
        <a:xfrm>
          <a:off x="0" y="0"/>
          <a:ext cx="0" cy="0"/>
          <a:chOff x="0" y="0"/>
          <a:chExt cx="0" cy="0"/>
        </a:xfrm>
      </p:grpSpPr>
      <p:sp>
        <p:nvSpPr>
          <p:cNvPr id="47" name="Google Shape;47;p20"/>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8" name="Google Shape;48;p20"/>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1600"/>
              </a:spcBef>
              <a:spcAft>
                <a:spcPts val="0"/>
              </a:spcAft>
              <a:buSzPts val="1400"/>
              <a:buChar char="○"/>
              <a:defRPr/>
            </a:lvl2pPr>
            <a:lvl3pPr indent="-317500" lvl="2" marL="1371600" algn="ctr">
              <a:lnSpc>
                <a:spcPct val="115000"/>
              </a:lnSpc>
              <a:spcBef>
                <a:spcPts val="1600"/>
              </a:spcBef>
              <a:spcAft>
                <a:spcPts val="0"/>
              </a:spcAft>
              <a:buSzPts val="1400"/>
              <a:buChar char="■"/>
              <a:defRPr/>
            </a:lvl3pPr>
            <a:lvl4pPr indent="-317500" lvl="3" marL="1828800" algn="ctr">
              <a:lnSpc>
                <a:spcPct val="115000"/>
              </a:lnSpc>
              <a:spcBef>
                <a:spcPts val="1600"/>
              </a:spcBef>
              <a:spcAft>
                <a:spcPts val="0"/>
              </a:spcAft>
              <a:buSzPts val="1400"/>
              <a:buChar char="●"/>
              <a:defRPr/>
            </a:lvl4pPr>
            <a:lvl5pPr indent="-317500" lvl="4" marL="2286000" algn="ctr">
              <a:lnSpc>
                <a:spcPct val="115000"/>
              </a:lnSpc>
              <a:spcBef>
                <a:spcPts val="1600"/>
              </a:spcBef>
              <a:spcAft>
                <a:spcPts val="0"/>
              </a:spcAft>
              <a:buSzPts val="1400"/>
              <a:buChar char="○"/>
              <a:defRPr/>
            </a:lvl5pPr>
            <a:lvl6pPr indent="-317500" lvl="5" marL="2743200" algn="ctr">
              <a:lnSpc>
                <a:spcPct val="115000"/>
              </a:lnSpc>
              <a:spcBef>
                <a:spcPts val="1600"/>
              </a:spcBef>
              <a:spcAft>
                <a:spcPts val="0"/>
              </a:spcAft>
              <a:buSzPts val="1400"/>
              <a:buChar char="■"/>
              <a:defRPr/>
            </a:lvl6pPr>
            <a:lvl7pPr indent="-317500" lvl="6" marL="3200400" algn="ctr">
              <a:lnSpc>
                <a:spcPct val="115000"/>
              </a:lnSpc>
              <a:spcBef>
                <a:spcPts val="1600"/>
              </a:spcBef>
              <a:spcAft>
                <a:spcPts val="0"/>
              </a:spcAft>
              <a:buSzPts val="1400"/>
              <a:buChar char="●"/>
              <a:defRPr/>
            </a:lvl7pPr>
            <a:lvl8pPr indent="-317500" lvl="7" marL="3657600" algn="ctr">
              <a:lnSpc>
                <a:spcPct val="115000"/>
              </a:lnSpc>
              <a:spcBef>
                <a:spcPts val="1600"/>
              </a:spcBef>
              <a:spcAft>
                <a:spcPts val="0"/>
              </a:spcAft>
              <a:buSzPts val="1400"/>
              <a:buChar char="○"/>
              <a:defRPr/>
            </a:lvl8pPr>
            <a:lvl9pPr indent="-317500" lvl="8" marL="4114800" algn="ctr">
              <a:lnSpc>
                <a:spcPct val="115000"/>
              </a:lnSpc>
              <a:spcBef>
                <a:spcPts val="1600"/>
              </a:spcBef>
              <a:spcAft>
                <a:spcPts val="1600"/>
              </a:spcAft>
              <a:buSzPts val="1400"/>
              <a:buChar char="■"/>
              <a:defRPr/>
            </a:lvl9pPr>
          </a:lstStyle>
          <a:p/>
        </p:txBody>
      </p:sp>
      <p:sp>
        <p:nvSpPr>
          <p:cNvPr id="49" name="Google Shape;49;p2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9"/>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1600"/>
              </a:spcBef>
              <a:spcAft>
                <a:spcPts val="160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hyperlink" Target="https://altcodeunicode.com/cubed-alt-code/"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hyperlink" Target="http://www.youtube.com/watch?v=B1cZqLRHR94" TargetMode="External"/><Relationship Id="rId4" Type="http://schemas.openxmlformats.org/officeDocument/2006/relationships/image" Target="../media/image5.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hyperlink" Target="http://www.youtube.com/watch?v=AETrUXQi9Oo" TargetMode="External"/><Relationship Id="rId4" Type="http://schemas.openxmlformats.org/officeDocument/2006/relationships/image" Target="../media/image6.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5200"/>
              <a:buNone/>
            </a:pPr>
            <a:r>
              <a:rPr lang="en">
                <a:latin typeface="Calibri"/>
                <a:ea typeface="Calibri"/>
                <a:cs typeface="Calibri"/>
                <a:sym typeface="Calibri"/>
              </a:rPr>
              <a:t>Cycle Statistic Tool</a:t>
            </a:r>
            <a:endParaRPr>
              <a:latin typeface="Calibri"/>
              <a:ea typeface="Calibri"/>
              <a:cs typeface="Calibri"/>
              <a:sym typeface="Calibri"/>
            </a:endParaRPr>
          </a:p>
        </p:txBody>
      </p:sp>
      <p:sp>
        <p:nvSpPr>
          <p:cNvPr id="55" name="Google Shape;55;p1"/>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lang="en">
                <a:latin typeface="Calibri"/>
                <a:ea typeface="Calibri"/>
                <a:cs typeface="Calibri"/>
                <a:sym typeface="Calibri"/>
              </a:rPr>
              <a:t>Cody Klingler &amp; Jacob Hoffman</a:t>
            </a:r>
            <a:endParaRPr>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3"/>
          <p:cNvSpPr txBox="1"/>
          <p:nvPr>
            <p:ph type="title"/>
          </p:nvPr>
        </p:nvSpPr>
        <p:spPr>
          <a:xfrm>
            <a:off x="346700" y="277050"/>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latin typeface="Calibri"/>
                <a:ea typeface="Calibri"/>
                <a:cs typeface="Calibri"/>
                <a:sym typeface="Calibri"/>
              </a:rPr>
              <a:t>ENGINEERING SOLUTION</a:t>
            </a:r>
            <a:endParaRPr>
              <a:latin typeface="Calibri"/>
              <a:ea typeface="Calibri"/>
              <a:cs typeface="Calibri"/>
              <a:sym typeface="Calibri"/>
            </a:endParaRPr>
          </a:p>
        </p:txBody>
      </p:sp>
      <p:sp>
        <p:nvSpPr>
          <p:cNvPr id="61" name="Google Shape;61;p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lang="en">
                <a:latin typeface="Calibri"/>
                <a:ea typeface="Calibri"/>
                <a:cs typeface="Calibri"/>
                <a:sym typeface="Calibri"/>
              </a:rPr>
              <a:t>Sensors and components may be used to create a device designed to provide a large collection of cycling data.</a:t>
            </a:r>
            <a:endParaRPr>
              <a:latin typeface="Calibri"/>
              <a:ea typeface="Calibri"/>
              <a:cs typeface="Calibri"/>
              <a:sym typeface="Calibri"/>
            </a:endParaRPr>
          </a:p>
          <a:p>
            <a:pPr indent="0" lvl="0" marL="0" rtl="0" algn="l">
              <a:lnSpc>
                <a:spcPct val="115000"/>
              </a:lnSpc>
              <a:spcBef>
                <a:spcPts val="1600"/>
              </a:spcBef>
              <a:spcAft>
                <a:spcPts val="0"/>
              </a:spcAft>
              <a:buSzPts val="1800"/>
              <a:buNone/>
            </a:pPr>
            <a:r>
              <a:rPr lang="en">
                <a:latin typeface="Calibri"/>
                <a:ea typeface="Calibri"/>
                <a:cs typeface="Calibri"/>
                <a:sym typeface="Calibri"/>
              </a:rPr>
              <a:t>Attaching sensors and components directly to the bicycle allows for more specific cycling data to be measured.</a:t>
            </a:r>
            <a:endParaRPr>
              <a:latin typeface="Calibri"/>
              <a:ea typeface="Calibri"/>
              <a:cs typeface="Calibri"/>
              <a:sym typeface="Calibri"/>
            </a:endParaRPr>
          </a:p>
          <a:p>
            <a:pPr indent="0" lvl="0" marL="0" rtl="0" algn="l">
              <a:lnSpc>
                <a:spcPct val="115000"/>
              </a:lnSpc>
              <a:spcBef>
                <a:spcPts val="1600"/>
              </a:spcBef>
              <a:spcAft>
                <a:spcPts val="0"/>
              </a:spcAft>
              <a:buSzPts val="1800"/>
              <a:buNone/>
            </a:pPr>
            <a:r>
              <a:rPr lang="en">
                <a:latin typeface="Calibri"/>
                <a:ea typeface="Calibri"/>
                <a:cs typeface="Calibri"/>
                <a:sym typeface="Calibri"/>
              </a:rPr>
              <a:t>Transmitting cycling data to a companion application will provide record of each cycling session for use in improving a user’s cycling skills.</a:t>
            </a:r>
            <a:endParaRPr>
              <a:latin typeface="Calibri"/>
              <a:ea typeface="Calibri"/>
              <a:cs typeface="Calibri"/>
              <a:sym typeface="Calibri"/>
            </a:endParaRPr>
          </a:p>
          <a:p>
            <a:pPr indent="0" lvl="0" marL="0" rtl="0" algn="l">
              <a:lnSpc>
                <a:spcPct val="115000"/>
              </a:lnSpc>
              <a:spcBef>
                <a:spcPts val="1600"/>
              </a:spcBef>
              <a:spcAft>
                <a:spcPts val="1600"/>
              </a:spcAft>
              <a:buSzPts val="1800"/>
              <a:buNone/>
            </a:pPr>
            <a:r>
              <a:t/>
            </a:r>
            <a:endParaRPr>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pic>
        <p:nvPicPr>
          <p:cNvPr id="66" name="Google Shape;66;p5"/>
          <p:cNvPicPr preferRelativeResize="0"/>
          <p:nvPr/>
        </p:nvPicPr>
        <p:blipFill rotWithShape="1">
          <a:blip r:embed="rId3">
            <a:alphaModFix/>
          </a:blip>
          <a:srcRect b="0" l="0" r="0" t="0"/>
          <a:stretch/>
        </p:blipFill>
        <p:spPr>
          <a:xfrm>
            <a:off x="350813" y="68250"/>
            <a:ext cx="8442375" cy="5006999"/>
          </a:xfrm>
          <a:prstGeom prst="rect">
            <a:avLst/>
          </a:prstGeom>
          <a:noFill/>
          <a:ln>
            <a:noFill/>
          </a:ln>
        </p:spPr>
      </p:pic>
      <p:sp>
        <p:nvSpPr>
          <p:cNvPr id="67" name="Google Shape;67;p5"/>
          <p:cNvSpPr txBox="1"/>
          <p:nvPr>
            <p:ph idx="4294967295" type="title"/>
          </p:nvPr>
        </p:nvSpPr>
        <p:spPr>
          <a:xfrm>
            <a:off x="592675" y="276950"/>
            <a:ext cx="1666500" cy="535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latin typeface="Calibri"/>
                <a:ea typeface="Calibri"/>
                <a:cs typeface="Calibri"/>
                <a:sym typeface="Calibri"/>
              </a:rPr>
              <a:t>FINAL DESIGN</a:t>
            </a:r>
            <a:endParaRPr>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gba8d29d8b3_0_10"/>
          <p:cNvSpPr txBox="1"/>
          <p:nvPr/>
        </p:nvSpPr>
        <p:spPr>
          <a:xfrm>
            <a:off x="-125" y="277075"/>
            <a:ext cx="9144000" cy="5727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700"/>
              <a:buFont typeface="Arial"/>
              <a:buNone/>
            </a:pPr>
            <a:r>
              <a:rPr b="0" i="0" lang="en" sz="2700" u="none" cap="none" strike="noStrike">
                <a:solidFill>
                  <a:srgbClr val="000000"/>
                </a:solidFill>
                <a:latin typeface="Calibri"/>
                <a:ea typeface="Calibri"/>
                <a:cs typeface="Calibri"/>
                <a:sym typeface="Calibri"/>
              </a:rPr>
              <a:t>ENGINEERING SPECIFICATIONS &amp; FUNCTIONAL REQUIREMENTS</a:t>
            </a:r>
            <a:endParaRPr b="0" i="0" sz="2700" u="none" cap="none" strike="noStrike">
              <a:solidFill>
                <a:srgbClr val="000000"/>
              </a:solidFill>
              <a:latin typeface="Calibri"/>
              <a:ea typeface="Calibri"/>
              <a:cs typeface="Calibri"/>
              <a:sym typeface="Calibri"/>
            </a:endParaRPr>
          </a:p>
        </p:txBody>
      </p:sp>
      <p:graphicFrame>
        <p:nvGraphicFramePr>
          <p:cNvPr id="73" name="Google Shape;73;gba8d29d8b3_0_10"/>
          <p:cNvGraphicFramePr/>
          <p:nvPr/>
        </p:nvGraphicFramePr>
        <p:xfrm>
          <a:off x="1709738" y="933175"/>
          <a:ext cx="3000000" cy="3000000"/>
        </p:xfrm>
        <a:graphic>
          <a:graphicData uri="http://schemas.openxmlformats.org/drawingml/2006/table">
            <a:tbl>
              <a:tblPr>
                <a:noFill/>
                <a:tableStyleId>{549467FF-6A36-42A5-9114-26B6131018BD}</a:tableStyleId>
              </a:tblPr>
              <a:tblGrid>
                <a:gridCol w="3019425"/>
                <a:gridCol w="447675"/>
                <a:gridCol w="800100"/>
                <a:gridCol w="600075"/>
                <a:gridCol w="857250"/>
              </a:tblGrid>
              <a:tr h="12700">
                <a:tc>
                  <a:txBody>
                    <a:bodyPr/>
                    <a:lstStyle/>
                    <a:p>
                      <a:pPr indent="0" lvl="0" marL="0" marR="0" rtl="0" algn="l">
                        <a:lnSpc>
                          <a:spcPct val="100000"/>
                        </a:lnSpc>
                        <a:spcBef>
                          <a:spcPts val="0"/>
                        </a:spcBef>
                        <a:spcAft>
                          <a:spcPts val="0"/>
                        </a:spcAft>
                        <a:buClr>
                          <a:srgbClr val="000000"/>
                        </a:buClr>
                        <a:buSzPts val="1300"/>
                        <a:buFont typeface="Arial"/>
                        <a:buNone/>
                      </a:pPr>
                      <a:r>
                        <a:rPr b="1" lang="en" sz="1300" u="none" cap="none" strike="noStrike">
                          <a:latin typeface="Times New Roman"/>
                          <a:ea typeface="Times New Roman"/>
                          <a:cs typeface="Times New Roman"/>
                          <a:sym typeface="Times New Roman"/>
                        </a:rPr>
                        <a:t>Engineering Specification</a:t>
                      </a:r>
                      <a:endParaRPr b="1" sz="1300" u="none" cap="none" strike="noStrike">
                        <a:latin typeface="Times New Roman"/>
                        <a:ea typeface="Times New Roman"/>
                        <a:cs typeface="Times New Roman"/>
                        <a:sym typeface="Times New Roman"/>
                      </a:endParaRPr>
                    </a:p>
                  </a:txBody>
                  <a:tcPr marT="63500" marB="63500" marR="63500" marL="63500"/>
                </a:tc>
                <a:tc>
                  <a:txBody>
                    <a:bodyPr/>
                    <a:lstStyle/>
                    <a:p>
                      <a:pPr indent="0" lvl="0" marL="0" marR="0" rtl="0" algn="ctr">
                        <a:lnSpc>
                          <a:spcPct val="100000"/>
                        </a:lnSpc>
                        <a:spcBef>
                          <a:spcPts val="0"/>
                        </a:spcBef>
                        <a:spcAft>
                          <a:spcPts val="0"/>
                        </a:spcAft>
                        <a:buClr>
                          <a:srgbClr val="000000"/>
                        </a:buClr>
                        <a:buSzPts val="1300"/>
                        <a:buFont typeface="Arial"/>
                        <a:buNone/>
                      </a:pPr>
                      <a:r>
                        <a:rPr b="1" lang="en" sz="1300" u="none" cap="none" strike="noStrike">
                          <a:latin typeface="Times New Roman"/>
                          <a:ea typeface="Times New Roman"/>
                          <a:cs typeface="Times New Roman"/>
                          <a:sym typeface="Times New Roman"/>
                        </a:rPr>
                        <a:t>Unit</a:t>
                      </a:r>
                      <a:endParaRPr b="1" sz="1300" u="none" cap="none" strike="noStrike">
                        <a:latin typeface="Times New Roman"/>
                        <a:ea typeface="Times New Roman"/>
                        <a:cs typeface="Times New Roman"/>
                        <a:sym typeface="Times New Roman"/>
                      </a:endParaRPr>
                    </a:p>
                  </a:txBody>
                  <a:tcPr marT="63500" marB="63500" marR="63500" marL="63500"/>
                </a:tc>
                <a:tc>
                  <a:txBody>
                    <a:bodyPr/>
                    <a:lstStyle/>
                    <a:p>
                      <a:pPr indent="0" lvl="0" marL="0" marR="0" rtl="0" algn="ctr">
                        <a:lnSpc>
                          <a:spcPct val="100000"/>
                        </a:lnSpc>
                        <a:spcBef>
                          <a:spcPts val="0"/>
                        </a:spcBef>
                        <a:spcAft>
                          <a:spcPts val="0"/>
                        </a:spcAft>
                        <a:buClr>
                          <a:srgbClr val="000000"/>
                        </a:buClr>
                        <a:buSzPts val="1300"/>
                        <a:buFont typeface="Arial"/>
                        <a:buNone/>
                      </a:pPr>
                      <a:r>
                        <a:rPr b="1" lang="en" sz="1300" u="none" cap="none" strike="noStrike">
                          <a:latin typeface="Times New Roman"/>
                          <a:ea typeface="Times New Roman"/>
                          <a:cs typeface="Times New Roman"/>
                          <a:sym typeface="Times New Roman"/>
                        </a:rPr>
                        <a:t>Direction</a:t>
                      </a:r>
                      <a:endParaRPr b="1" sz="1300" u="none" cap="none" strike="noStrike">
                        <a:latin typeface="Times New Roman"/>
                        <a:ea typeface="Times New Roman"/>
                        <a:cs typeface="Times New Roman"/>
                        <a:sym typeface="Times New Roman"/>
                      </a:endParaRPr>
                    </a:p>
                  </a:txBody>
                  <a:tcPr marT="63500" marB="63500" marR="63500" marL="63500"/>
                </a:tc>
                <a:tc>
                  <a:txBody>
                    <a:bodyPr/>
                    <a:lstStyle/>
                    <a:p>
                      <a:pPr indent="0" lvl="0" marL="0" marR="0" rtl="0" algn="ctr">
                        <a:lnSpc>
                          <a:spcPct val="100000"/>
                        </a:lnSpc>
                        <a:spcBef>
                          <a:spcPts val="0"/>
                        </a:spcBef>
                        <a:spcAft>
                          <a:spcPts val="0"/>
                        </a:spcAft>
                        <a:buClr>
                          <a:srgbClr val="000000"/>
                        </a:buClr>
                        <a:buSzPts val="1300"/>
                        <a:buFont typeface="Arial"/>
                        <a:buNone/>
                      </a:pPr>
                      <a:r>
                        <a:rPr b="1" lang="en" sz="1300" u="none" cap="none" strike="noStrike">
                          <a:latin typeface="Times New Roman"/>
                          <a:ea typeface="Times New Roman"/>
                          <a:cs typeface="Times New Roman"/>
                          <a:sym typeface="Times New Roman"/>
                        </a:rPr>
                        <a:t>Target</a:t>
                      </a:r>
                      <a:endParaRPr b="1" sz="1300" u="none" cap="none" strike="noStrike">
                        <a:latin typeface="Times New Roman"/>
                        <a:ea typeface="Times New Roman"/>
                        <a:cs typeface="Times New Roman"/>
                        <a:sym typeface="Times New Roman"/>
                      </a:endParaRPr>
                    </a:p>
                  </a:txBody>
                  <a:tcPr marT="63500" marB="63500" marR="63500" marL="63500"/>
                </a:tc>
                <a:tc>
                  <a:txBody>
                    <a:bodyPr/>
                    <a:lstStyle/>
                    <a:p>
                      <a:pPr indent="0" lvl="0" marL="0" marR="0" rtl="0" algn="ctr">
                        <a:lnSpc>
                          <a:spcPct val="100000"/>
                        </a:lnSpc>
                        <a:spcBef>
                          <a:spcPts val="0"/>
                        </a:spcBef>
                        <a:spcAft>
                          <a:spcPts val="0"/>
                        </a:spcAft>
                        <a:buClr>
                          <a:srgbClr val="000000"/>
                        </a:buClr>
                        <a:buSzPts val="1300"/>
                        <a:buFont typeface="Arial"/>
                        <a:buNone/>
                      </a:pPr>
                      <a:r>
                        <a:rPr b="1" lang="en" sz="1300" u="none" cap="none" strike="noStrike">
                          <a:latin typeface="Times New Roman"/>
                          <a:ea typeface="Times New Roman"/>
                          <a:cs typeface="Times New Roman"/>
                          <a:sym typeface="Times New Roman"/>
                        </a:rPr>
                        <a:t>Threshold</a:t>
                      </a:r>
                      <a:endParaRPr b="1" sz="1300" u="none" cap="none" strike="noStrike">
                        <a:latin typeface="Times New Roman"/>
                        <a:ea typeface="Times New Roman"/>
                        <a:cs typeface="Times New Roman"/>
                        <a:sym typeface="Times New Roman"/>
                      </a:endParaRPr>
                    </a:p>
                  </a:txBody>
                  <a:tcPr marT="63500" marB="63500" marR="63500" marL="63500"/>
                </a:tc>
              </a:tr>
              <a:tr h="314350">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latin typeface="Times New Roman"/>
                          <a:ea typeface="Times New Roman"/>
                          <a:cs typeface="Times New Roman"/>
                          <a:sym typeface="Times New Roman"/>
                        </a:rPr>
                        <a:t>Size</a:t>
                      </a:r>
                      <a:endParaRPr i="1" sz="1000" u="none" cap="none" strike="noStrike">
                        <a:latin typeface="Times New Roman"/>
                        <a:ea typeface="Times New Roman"/>
                        <a:cs typeface="Times New Roman"/>
                        <a:sym typeface="Times New Roman"/>
                      </a:endParaRPr>
                    </a:p>
                    <a:p>
                      <a:pPr indent="0" lvl="0" marL="457200" marR="0" rtl="0" algn="l">
                        <a:lnSpc>
                          <a:spcPct val="100000"/>
                        </a:lnSpc>
                        <a:spcBef>
                          <a:spcPts val="0"/>
                        </a:spcBef>
                        <a:spcAft>
                          <a:spcPts val="0"/>
                        </a:spcAft>
                        <a:buClr>
                          <a:srgbClr val="000000"/>
                        </a:buClr>
                        <a:buSzPts val="1000"/>
                        <a:buFont typeface="Arial"/>
                        <a:buNone/>
                      </a:pPr>
                      <a:r>
                        <a:rPr i="1" lang="en" sz="1000" u="none" cap="none" strike="noStrike">
                          <a:latin typeface="Times New Roman"/>
                          <a:ea typeface="Times New Roman"/>
                          <a:cs typeface="Times New Roman"/>
                          <a:sym typeface="Times New Roman"/>
                        </a:rPr>
                        <a:t>Ease of use</a:t>
                      </a:r>
                      <a:endParaRPr i="1" sz="1000" u="none" cap="none" strike="noStrike">
                        <a:latin typeface="Times New Roman"/>
                        <a:ea typeface="Times New Roman"/>
                        <a:cs typeface="Times New Roman"/>
                        <a:sym typeface="Times New Roman"/>
                      </a:endParaRPr>
                    </a:p>
                  </a:txBody>
                  <a:tcPr marT="63500" marB="63500" marR="63500" marL="63500"/>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Times New Roman"/>
                          <a:ea typeface="Times New Roman"/>
                          <a:cs typeface="Times New Roman"/>
                          <a:sym typeface="Times New Roman"/>
                        </a:rPr>
                        <a:t>m</a:t>
                      </a:r>
                      <a:r>
                        <a:rPr lang="en" sz="1200" u="none" cap="none" strike="noStrike">
                          <a:solidFill>
                            <a:srgbClr val="660099"/>
                          </a:solidFill>
                          <a:uFill>
                            <a:noFill/>
                          </a:uFill>
                          <a:latin typeface="Times New Roman"/>
                          <a:ea typeface="Times New Roman"/>
                          <a:cs typeface="Times New Roman"/>
                          <a:sym typeface="Times New Roman"/>
                          <a:hlinkClick r:id="rId3">
                            <a:extLst>
                              <a:ext uri="{A12FA001-AC4F-418D-AE19-62706E023703}">
                                <ahyp:hlinkClr val="tx"/>
                              </a:ext>
                            </a:extLst>
                          </a:hlinkClick>
                        </a:rPr>
                        <a:t>³</a:t>
                      </a:r>
                      <a:endParaRPr sz="900" u="none" cap="none" strike="noStrike">
                        <a:latin typeface="Times New Roman"/>
                        <a:ea typeface="Times New Roman"/>
                        <a:cs typeface="Times New Roman"/>
                        <a:sym typeface="Times New Roman"/>
                      </a:endParaRPr>
                    </a:p>
                  </a:txBody>
                  <a:tcPr marT="63500" marB="63500" marR="63500" marL="63500"/>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Times New Roman"/>
                          <a:ea typeface="Times New Roman"/>
                          <a:cs typeface="Times New Roman"/>
                          <a:sym typeface="Times New Roman"/>
                        </a:rPr>
                        <a:t>▼</a:t>
                      </a:r>
                      <a:endParaRPr sz="1200" u="none" cap="none" strike="noStrike">
                        <a:latin typeface="Times New Roman"/>
                        <a:ea typeface="Times New Roman"/>
                        <a:cs typeface="Times New Roman"/>
                        <a:sym typeface="Times New Roman"/>
                      </a:endParaRPr>
                    </a:p>
                  </a:txBody>
                  <a:tcPr marT="63500" marB="63500" marR="63500" marL="63500"/>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Times New Roman"/>
                          <a:ea typeface="Times New Roman"/>
                          <a:cs typeface="Times New Roman"/>
                          <a:sym typeface="Times New Roman"/>
                        </a:rPr>
                        <a:t>.2</a:t>
                      </a:r>
                      <a:endParaRPr sz="1200" u="none" cap="none" strike="noStrike">
                        <a:latin typeface="Times New Roman"/>
                        <a:ea typeface="Times New Roman"/>
                        <a:cs typeface="Times New Roman"/>
                        <a:sym typeface="Times New Roman"/>
                      </a:endParaRPr>
                    </a:p>
                  </a:txBody>
                  <a:tcPr marT="63500" marB="63500" marR="63500" marL="63500"/>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Times New Roman"/>
                          <a:ea typeface="Times New Roman"/>
                          <a:cs typeface="Times New Roman"/>
                          <a:sym typeface="Times New Roman"/>
                        </a:rPr>
                        <a:t>.5</a:t>
                      </a:r>
                      <a:endParaRPr sz="1200" u="none" cap="none" strike="noStrike">
                        <a:latin typeface="Times New Roman"/>
                        <a:ea typeface="Times New Roman"/>
                        <a:cs typeface="Times New Roman"/>
                        <a:sym typeface="Times New Roman"/>
                      </a:endParaRPr>
                    </a:p>
                  </a:txBody>
                  <a:tcPr marT="63500" marB="63500" marR="63500" marL="63500"/>
                </a:tc>
              </a:tr>
              <a:tr h="12700">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latin typeface="Times New Roman"/>
                          <a:ea typeface="Times New Roman"/>
                          <a:cs typeface="Times New Roman"/>
                          <a:sym typeface="Times New Roman"/>
                        </a:rPr>
                        <a:t>Overall Accuracy of Sensors</a:t>
                      </a:r>
                      <a:endParaRPr sz="1200" u="none" cap="none" strike="noStrike">
                        <a:latin typeface="Times New Roman"/>
                        <a:ea typeface="Times New Roman"/>
                        <a:cs typeface="Times New Roman"/>
                        <a:sym typeface="Times New Roman"/>
                      </a:endParaRPr>
                    </a:p>
                    <a:p>
                      <a:pPr indent="0" lvl="0" marL="457200" marR="0" rtl="0" algn="l">
                        <a:lnSpc>
                          <a:spcPct val="100000"/>
                        </a:lnSpc>
                        <a:spcBef>
                          <a:spcPts val="0"/>
                        </a:spcBef>
                        <a:spcAft>
                          <a:spcPts val="0"/>
                        </a:spcAft>
                        <a:buClr>
                          <a:srgbClr val="000000"/>
                        </a:buClr>
                        <a:buSzPts val="1000"/>
                        <a:buFont typeface="Arial"/>
                        <a:buNone/>
                      </a:pPr>
                      <a:r>
                        <a:rPr i="1" lang="en" sz="1000" u="none" cap="none" strike="noStrike">
                          <a:latin typeface="Times New Roman"/>
                          <a:ea typeface="Times New Roman"/>
                          <a:cs typeface="Times New Roman"/>
                          <a:sym typeface="Times New Roman"/>
                        </a:rPr>
                        <a:t>Accuracy of measurements</a:t>
                      </a:r>
                      <a:endParaRPr i="1" sz="1000" u="none" cap="none" strike="noStrike">
                        <a:latin typeface="Times New Roman"/>
                        <a:ea typeface="Times New Roman"/>
                        <a:cs typeface="Times New Roman"/>
                        <a:sym typeface="Times New Roman"/>
                      </a:endParaRPr>
                    </a:p>
                    <a:p>
                      <a:pPr indent="0" lvl="0" marL="457200" marR="0" rtl="0" algn="l">
                        <a:lnSpc>
                          <a:spcPct val="100000"/>
                        </a:lnSpc>
                        <a:spcBef>
                          <a:spcPts val="0"/>
                        </a:spcBef>
                        <a:spcAft>
                          <a:spcPts val="0"/>
                        </a:spcAft>
                        <a:buClr>
                          <a:srgbClr val="000000"/>
                        </a:buClr>
                        <a:buSzPts val="1000"/>
                        <a:buFont typeface="Arial"/>
                        <a:buNone/>
                      </a:pPr>
                      <a:r>
                        <a:rPr i="1" lang="en" sz="1000" u="none" cap="none" strike="noStrike">
                          <a:latin typeface="Times New Roman"/>
                          <a:ea typeface="Times New Roman"/>
                          <a:cs typeface="Times New Roman"/>
                          <a:sym typeface="Times New Roman"/>
                        </a:rPr>
                        <a:t>Price</a:t>
                      </a:r>
                      <a:endParaRPr i="1" sz="1000" u="none" cap="none" strike="noStrike">
                        <a:latin typeface="Times New Roman"/>
                        <a:ea typeface="Times New Roman"/>
                        <a:cs typeface="Times New Roman"/>
                        <a:sym typeface="Times New Roman"/>
                      </a:endParaRPr>
                    </a:p>
                    <a:p>
                      <a:pPr indent="0" lvl="0" marL="457200" marR="0" rtl="0" algn="l">
                        <a:lnSpc>
                          <a:spcPct val="100000"/>
                        </a:lnSpc>
                        <a:spcBef>
                          <a:spcPts val="0"/>
                        </a:spcBef>
                        <a:spcAft>
                          <a:spcPts val="0"/>
                        </a:spcAft>
                        <a:buClr>
                          <a:srgbClr val="000000"/>
                        </a:buClr>
                        <a:buSzPts val="1000"/>
                        <a:buFont typeface="Arial"/>
                        <a:buNone/>
                      </a:pPr>
                      <a:r>
                        <a:rPr i="1" lang="en" sz="1000" u="none" cap="none" strike="noStrike">
                          <a:latin typeface="Times New Roman"/>
                          <a:ea typeface="Times New Roman"/>
                          <a:cs typeface="Times New Roman"/>
                          <a:sym typeface="Times New Roman"/>
                        </a:rPr>
                        <a:t>Battery life</a:t>
                      </a:r>
                      <a:endParaRPr i="1" sz="1000" u="none" cap="none" strike="noStrike">
                        <a:latin typeface="Times New Roman"/>
                        <a:ea typeface="Times New Roman"/>
                        <a:cs typeface="Times New Roman"/>
                        <a:sym typeface="Times New Roman"/>
                      </a:endParaRPr>
                    </a:p>
                  </a:txBody>
                  <a:tcPr marT="63500" marB="63500" marR="63500" marL="63500"/>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Times New Roman"/>
                          <a:ea typeface="Times New Roman"/>
                          <a:cs typeface="Times New Roman"/>
                          <a:sym typeface="Times New Roman"/>
                        </a:rPr>
                        <a:t>%</a:t>
                      </a:r>
                      <a:endParaRPr sz="1200" u="none" cap="none" strike="noStrike">
                        <a:latin typeface="Times New Roman"/>
                        <a:ea typeface="Times New Roman"/>
                        <a:cs typeface="Times New Roman"/>
                        <a:sym typeface="Times New Roman"/>
                      </a:endParaRPr>
                    </a:p>
                  </a:txBody>
                  <a:tcPr marT="63500" marB="63500" marR="63500" marL="63500"/>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Times New Roman"/>
                          <a:ea typeface="Times New Roman"/>
                          <a:cs typeface="Times New Roman"/>
                          <a:sym typeface="Times New Roman"/>
                        </a:rPr>
                        <a:t>▲</a:t>
                      </a:r>
                      <a:endParaRPr sz="1200" u="none" cap="none" strike="noStrike">
                        <a:latin typeface="Times New Roman"/>
                        <a:ea typeface="Times New Roman"/>
                        <a:cs typeface="Times New Roman"/>
                        <a:sym typeface="Times New Roman"/>
                      </a:endParaRPr>
                    </a:p>
                  </a:txBody>
                  <a:tcPr marT="63500" marB="63500" marR="63500" marL="63500"/>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Times New Roman"/>
                          <a:ea typeface="Times New Roman"/>
                          <a:cs typeface="Times New Roman"/>
                          <a:sym typeface="Times New Roman"/>
                        </a:rPr>
                        <a:t>90</a:t>
                      </a:r>
                      <a:endParaRPr sz="1200" u="none" cap="none" strike="noStrike">
                        <a:latin typeface="Times New Roman"/>
                        <a:ea typeface="Times New Roman"/>
                        <a:cs typeface="Times New Roman"/>
                        <a:sym typeface="Times New Roman"/>
                      </a:endParaRPr>
                    </a:p>
                  </a:txBody>
                  <a:tcPr marT="63500" marB="63500" marR="63500" marL="63500"/>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Times New Roman"/>
                          <a:ea typeface="Times New Roman"/>
                          <a:cs typeface="Times New Roman"/>
                          <a:sym typeface="Times New Roman"/>
                        </a:rPr>
                        <a:t>80</a:t>
                      </a:r>
                      <a:endParaRPr sz="1200" u="none" cap="none" strike="noStrike">
                        <a:latin typeface="Times New Roman"/>
                        <a:ea typeface="Times New Roman"/>
                        <a:cs typeface="Times New Roman"/>
                        <a:sym typeface="Times New Roman"/>
                      </a:endParaRPr>
                    </a:p>
                  </a:txBody>
                  <a:tcPr marT="63500" marB="63500" marR="63500" marL="63500"/>
                </a:tc>
              </a:tr>
              <a:tr h="12700">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latin typeface="Times New Roman"/>
                          <a:ea typeface="Times New Roman"/>
                          <a:cs typeface="Times New Roman"/>
                          <a:sym typeface="Times New Roman"/>
                        </a:rPr>
                        <a:t>Accuracy of Power Metric</a:t>
                      </a:r>
                      <a:endParaRPr sz="1200" u="none" cap="none" strike="noStrike">
                        <a:latin typeface="Times New Roman"/>
                        <a:ea typeface="Times New Roman"/>
                        <a:cs typeface="Times New Roman"/>
                        <a:sym typeface="Times New Roman"/>
                      </a:endParaRPr>
                    </a:p>
                    <a:p>
                      <a:pPr indent="0" lvl="0" marL="457200" marR="0" rtl="0" algn="l">
                        <a:lnSpc>
                          <a:spcPct val="100000"/>
                        </a:lnSpc>
                        <a:spcBef>
                          <a:spcPts val="0"/>
                        </a:spcBef>
                        <a:spcAft>
                          <a:spcPts val="0"/>
                        </a:spcAft>
                        <a:buClr>
                          <a:srgbClr val="000000"/>
                        </a:buClr>
                        <a:buSzPts val="1000"/>
                        <a:buFont typeface="Arial"/>
                        <a:buNone/>
                      </a:pPr>
                      <a:r>
                        <a:rPr i="1" lang="en" sz="1000" u="none" cap="none" strike="noStrike">
                          <a:latin typeface="Times New Roman"/>
                          <a:ea typeface="Times New Roman"/>
                          <a:cs typeface="Times New Roman"/>
                          <a:sym typeface="Times New Roman"/>
                        </a:rPr>
                        <a:t>Accuracy of measurements</a:t>
                      </a:r>
                      <a:endParaRPr i="1" sz="1000" u="none" cap="none" strike="noStrike">
                        <a:latin typeface="Times New Roman"/>
                        <a:ea typeface="Times New Roman"/>
                        <a:cs typeface="Times New Roman"/>
                        <a:sym typeface="Times New Roman"/>
                      </a:endParaRPr>
                    </a:p>
                    <a:p>
                      <a:pPr indent="0" lvl="0" marL="457200" marR="0" rtl="0" algn="l">
                        <a:lnSpc>
                          <a:spcPct val="100000"/>
                        </a:lnSpc>
                        <a:spcBef>
                          <a:spcPts val="0"/>
                        </a:spcBef>
                        <a:spcAft>
                          <a:spcPts val="0"/>
                        </a:spcAft>
                        <a:buClr>
                          <a:srgbClr val="000000"/>
                        </a:buClr>
                        <a:buSzPts val="1000"/>
                        <a:buFont typeface="Arial"/>
                        <a:buNone/>
                      </a:pPr>
                      <a:r>
                        <a:rPr i="1" lang="en" sz="1000" u="none" cap="none" strike="noStrike">
                          <a:latin typeface="Times New Roman"/>
                          <a:ea typeface="Times New Roman"/>
                          <a:cs typeface="Times New Roman"/>
                          <a:sym typeface="Times New Roman"/>
                        </a:rPr>
                        <a:t>Price</a:t>
                      </a:r>
                      <a:endParaRPr i="1" sz="1000" u="none" cap="none" strike="noStrike">
                        <a:latin typeface="Times New Roman"/>
                        <a:ea typeface="Times New Roman"/>
                        <a:cs typeface="Times New Roman"/>
                        <a:sym typeface="Times New Roman"/>
                      </a:endParaRPr>
                    </a:p>
                    <a:p>
                      <a:pPr indent="0" lvl="0" marL="457200" marR="0" rtl="0" algn="l">
                        <a:lnSpc>
                          <a:spcPct val="100000"/>
                        </a:lnSpc>
                        <a:spcBef>
                          <a:spcPts val="0"/>
                        </a:spcBef>
                        <a:spcAft>
                          <a:spcPts val="0"/>
                        </a:spcAft>
                        <a:buClr>
                          <a:srgbClr val="000000"/>
                        </a:buClr>
                        <a:buSzPts val="1000"/>
                        <a:buFont typeface="Arial"/>
                        <a:buNone/>
                      </a:pPr>
                      <a:r>
                        <a:rPr i="1" lang="en" sz="1000" u="none" cap="none" strike="noStrike">
                          <a:latin typeface="Times New Roman"/>
                          <a:ea typeface="Times New Roman"/>
                          <a:cs typeface="Times New Roman"/>
                          <a:sym typeface="Times New Roman"/>
                        </a:rPr>
                        <a:t>Battery life</a:t>
                      </a:r>
                      <a:endParaRPr i="1" sz="1000" u="none" cap="none" strike="noStrike">
                        <a:latin typeface="Times New Roman"/>
                        <a:ea typeface="Times New Roman"/>
                        <a:cs typeface="Times New Roman"/>
                        <a:sym typeface="Times New Roman"/>
                      </a:endParaRPr>
                    </a:p>
                  </a:txBody>
                  <a:tcPr marT="63500" marB="63500" marR="63500" marL="63500"/>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Times New Roman"/>
                          <a:ea typeface="Times New Roman"/>
                          <a:cs typeface="Times New Roman"/>
                          <a:sym typeface="Times New Roman"/>
                        </a:rPr>
                        <a:t>%</a:t>
                      </a:r>
                      <a:endParaRPr sz="1200" u="none" cap="none" strike="noStrike">
                        <a:latin typeface="Times New Roman"/>
                        <a:ea typeface="Times New Roman"/>
                        <a:cs typeface="Times New Roman"/>
                        <a:sym typeface="Times New Roman"/>
                      </a:endParaRPr>
                    </a:p>
                  </a:txBody>
                  <a:tcPr marT="63500" marB="63500" marR="63500" marL="63500"/>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Times New Roman"/>
                          <a:ea typeface="Times New Roman"/>
                          <a:cs typeface="Times New Roman"/>
                          <a:sym typeface="Times New Roman"/>
                        </a:rPr>
                        <a:t>▲</a:t>
                      </a:r>
                      <a:endParaRPr sz="1200" u="none" cap="none" strike="noStrike">
                        <a:latin typeface="Times New Roman"/>
                        <a:ea typeface="Times New Roman"/>
                        <a:cs typeface="Times New Roman"/>
                        <a:sym typeface="Times New Roman"/>
                      </a:endParaRPr>
                    </a:p>
                  </a:txBody>
                  <a:tcPr marT="63500" marB="63500" marR="63500" marL="63500"/>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Times New Roman"/>
                          <a:ea typeface="Times New Roman"/>
                          <a:cs typeface="Times New Roman"/>
                          <a:sym typeface="Times New Roman"/>
                        </a:rPr>
                        <a:t>90</a:t>
                      </a:r>
                      <a:endParaRPr sz="1200" u="none" cap="none" strike="noStrike">
                        <a:latin typeface="Times New Roman"/>
                        <a:ea typeface="Times New Roman"/>
                        <a:cs typeface="Times New Roman"/>
                        <a:sym typeface="Times New Roman"/>
                      </a:endParaRPr>
                    </a:p>
                  </a:txBody>
                  <a:tcPr marT="63500" marB="63500" marR="63500" marL="63500"/>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Times New Roman"/>
                          <a:ea typeface="Times New Roman"/>
                          <a:cs typeface="Times New Roman"/>
                          <a:sym typeface="Times New Roman"/>
                        </a:rPr>
                        <a:t>75</a:t>
                      </a:r>
                      <a:endParaRPr sz="1200" u="none" cap="none" strike="noStrike">
                        <a:latin typeface="Times New Roman"/>
                        <a:ea typeface="Times New Roman"/>
                        <a:cs typeface="Times New Roman"/>
                        <a:sym typeface="Times New Roman"/>
                      </a:endParaRPr>
                    </a:p>
                  </a:txBody>
                  <a:tcPr marT="63500" marB="63500" marR="63500" marL="63500"/>
                </a:tc>
              </a:tr>
              <a:tr h="12700">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latin typeface="Times New Roman"/>
                          <a:ea typeface="Times New Roman"/>
                          <a:cs typeface="Times New Roman"/>
                          <a:sym typeface="Times New Roman"/>
                        </a:rPr>
                        <a:t>Accuracy of Speed Metric</a:t>
                      </a:r>
                      <a:endParaRPr sz="1200" u="none" cap="none" strike="noStrike">
                        <a:latin typeface="Times New Roman"/>
                        <a:ea typeface="Times New Roman"/>
                        <a:cs typeface="Times New Roman"/>
                        <a:sym typeface="Times New Roman"/>
                      </a:endParaRPr>
                    </a:p>
                    <a:p>
                      <a:pPr indent="0" lvl="0" marL="457200" marR="0" rtl="0" algn="l">
                        <a:lnSpc>
                          <a:spcPct val="100000"/>
                        </a:lnSpc>
                        <a:spcBef>
                          <a:spcPts val="0"/>
                        </a:spcBef>
                        <a:spcAft>
                          <a:spcPts val="0"/>
                        </a:spcAft>
                        <a:buClr>
                          <a:srgbClr val="000000"/>
                        </a:buClr>
                        <a:buSzPts val="1000"/>
                        <a:buFont typeface="Arial"/>
                        <a:buNone/>
                      </a:pPr>
                      <a:r>
                        <a:rPr i="1" lang="en" sz="1000" u="none" cap="none" strike="noStrike">
                          <a:latin typeface="Times New Roman"/>
                          <a:ea typeface="Times New Roman"/>
                          <a:cs typeface="Times New Roman"/>
                          <a:sym typeface="Times New Roman"/>
                        </a:rPr>
                        <a:t>Accuracy of measurements</a:t>
                      </a:r>
                      <a:endParaRPr i="1" sz="1000" u="none" cap="none" strike="noStrike">
                        <a:latin typeface="Times New Roman"/>
                        <a:ea typeface="Times New Roman"/>
                        <a:cs typeface="Times New Roman"/>
                        <a:sym typeface="Times New Roman"/>
                      </a:endParaRPr>
                    </a:p>
                    <a:p>
                      <a:pPr indent="0" lvl="0" marL="457200" marR="0" rtl="0" algn="l">
                        <a:lnSpc>
                          <a:spcPct val="100000"/>
                        </a:lnSpc>
                        <a:spcBef>
                          <a:spcPts val="0"/>
                        </a:spcBef>
                        <a:spcAft>
                          <a:spcPts val="0"/>
                        </a:spcAft>
                        <a:buClr>
                          <a:srgbClr val="000000"/>
                        </a:buClr>
                        <a:buSzPts val="1000"/>
                        <a:buFont typeface="Arial"/>
                        <a:buNone/>
                      </a:pPr>
                      <a:r>
                        <a:rPr i="1" lang="en" sz="1000" u="none" cap="none" strike="noStrike">
                          <a:latin typeface="Times New Roman"/>
                          <a:ea typeface="Times New Roman"/>
                          <a:cs typeface="Times New Roman"/>
                          <a:sym typeface="Times New Roman"/>
                        </a:rPr>
                        <a:t>Price</a:t>
                      </a:r>
                      <a:endParaRPr i="1" sz="1000" u="none" cap="none" strike="noStrike">
                        <a:latin typeface="Times New Roman"/>
                        <a:ea typeface="Times New Roman"/>
                        <a:cs typeface="Times New Roman"/>
                        <a:sym typeface="Times New Roman"/>
                      </a:endParaRPr>
                    </a:p>
                    <a:p>
                      <a:pPr indent="0" lvl="0" marL="457200" marR="0" rtl="0" algn="l">
                        <a:lnSpc>
                          <a:spcPct val="100000"/>
                        </a:lnSpc>
                        <a:spcBef>
                          <a:spcPts val="0"/>
                        </a:spcBef>
                        <a:spcAft>
                          <a:spcPts val="0"/>
                        </a:spcAft>
                        <a:buClr>
                          <a:srgbClr val="000000"/>
                        </a:buClr>
                        <a:buSzPts val="1000"/>
                        <a:buFont typeface="Arial"/>
                        <a:buNone/>
                      </a:pPr>
                      <a:r>
                        <a:rPr i="1" lang="en" sz="1000" u="none" cap="none" strike="noStrike">
                          <a:latin typeface="Times New Roman"/>
                          <a:ea typeface="Times New Roman"/>
                          <a:cs typeface="Times New Roman"/>
                          <a:sym typeface="Times New Roman"/>
                        </a:rPr>
                        <a:t>Battery life</a:t>
                      </a:r>
                      <a:endParaRPr i="1" sz="1000" u="none" cap="none" strike="noStrike">
                        <a:latin typeface="Times New Roman"/>
                        <a:ea typeface="Times New Roman"/>
                        <a:cs typeface="Times New Roman"/>
                        <a:sym typeface="Times New Roman"/>
                      </a:endParaRPr>
                    </a:p>
                  </a:txBody>
                  <a:tcPr marT="63500" marB="63500" marR="63500" marL="63500"/>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Times New Roman"/>
                          <a:ea typeface="Times New Roman"/>
                          <a:cs typeface="Times New Roman"/>
                          <a:sym typeface="Times New Roman"/>
                        </a:rPr>
                        <a:t>%</a:t>
                      </a:r>
                      <a:endParaRPr sz="1200" u="none" cap="none" strike="noStrike">
                        <a:latin typeface="Times New Roman"/>
                        <a:ea typeface="Times New Roman"/>
                        <a:cs typeface="Times New Roman"/>
                        <a:sym typeface="Times New Roman"/>
                      </a:endParaRPr>
                    </a:p>
                  </a:txBody>
                  <a:tcPr marT="63500" marB="63500" marR="63500" marL="63500"/>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Times New Roman"/>
                          <a:ea typeface="Times New Roman"/>
                          <a:cs typeface="Times New Roman"/>
                          <a:sym typeface="Times New Roman"/>
                        </a:rPr>
                        <a:t>▲</a:t>
                      </a:r>
                      <a:endParaRPr sz="1200" u="none" cap="none" strike="noStrike">
                        <a:latin typeface="Times New Roman"/>
                        <a:ea typeface="Times New Roman"/>
                        <a:cs typeface="Times New Roman"/>
                        <a:sym typeface="Times New Roman"/>
                      </a:endParaRPr>
                    </a:p>
                  </a:txBody>
                  <a:tcPr marT="63500" marB="63500" marR="63500" marL="63500"/>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Times New Roman"/>
                          <a:ea typeface="Times New Roman"/>
                          <a:cs typeface="Times New Roman"/>
                          <a:sym typeface="Times New Roman"/>
                        </a:rPr>
                        <a:t>95</a:t>
                      </a:r>
                      <a:endParaRPr sz="1200" u="none" cap="none" strike="noStrike">
                        <a:latin typeface="Times New Roman"/>
                        <a:ea typeface="Times New Roman"/>
                        <a:cs typeface="Times New Roman"/>
                        <a:sym typeface="Times New Roman"/>
                      </a:endParaRPr>
                    </a:p>
                  </a:txBody>
                  <a:tcPr marT="63500" marB="63500" marR="63500" marL="63500"/>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Times New Roman"/>
                          <a:ea typeface="Times New Roman"/>
                          <a:cs typeface="Times New Roman"/>
                          <a:sym typeface="Times New Roman"/>
                        </a:rPr>
                        <a:t>85</a:t>
                      </a:r>
                      <a:endParaRPr sz="1200" u="none" cap="none" strike="noStrike">
                        <a:latin typeface="Times New Roman"/>
                        <a:ea typeface="Times New Roman"/>
                        <a:cs typeface="Times New Roman"/>
                        <a:sym typeface="Times New Roman"/>
                      </a:endParaRPr>
                    </a:p>
                  </a:txBody>
                  <a:tcPr marT="63500" marB="63500" marR="63500" marL="63500"/>
                </a:tc>
              </a:tr>
              <a:tr h="12700">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latin typeface="Times New Roman"/>
                          <a:ea typeface="Times New Roman"/>
                          <a:cs typeface="Times New Roman"/>
                          <a:sym typeface="Times New Roman"/>
                        </a:rPr>
                        <a:t>Cost of Materials</a:t>
                      </a:r>
                      <a:endParaRPr sz="1200" u="none" cap="none" strike="noStrike">
                        <a:latin typeface="Times New Roman"/>
                        <a:ea typeface="Times New Roman"/>
                        <a:cs typeface="Times New Roman"/>
                        <a:sym typeface="Times New Roman"/>
                      </a:endParaRPr>
                    </a:p>
                    <a:p>
                      <a:pPr indent="0" lvl="0" marL="457200" marR="0" rtl="0" algn="l">
                        <a:lnSpc>
                          <a:spcPct val="100000"/>
                        </a:lnSpc>
                        <a:spcBef>
                          <a:spcPts val="0"/>
                        </a:spcBef>
                        <a:spcAft>
                          <a:spcPts val="0"/>
                        </a:spcAft>
                        <a:buClr>
                          <a:srgbClr val="000000"/>
                        </a:buClr>
                        <a:buSzPts val="1000"/>
                        <a:buFont typeface="Arial"/>
                        <a:buNone/>
                      </a:pPr>
                      <a:r>
                        <a:rPr i="1" lang="en" sz="1000" u="none" cap="none" strike="noStrike">
                          <a:latin typeface="Times New Roman"/>
                          <a:ea typeface="Times New Roman"/>
                          <a:cs typeface="Times New Roman"/>
                          <a:sym typeface="Times New Roman"/>
                        </a:rPr>
                        <a:t>Accuracy of Measurements</a:t>
                      </a:r>
                      <a:endParaRPr i="1" sz="1000" u="none" cap="none" strike="noStrike">
                        <a:latin typeface="Times New Roman"/>
                        <a:ea typeface="Times New Roman"/>
                        <a:cs typeface="Times New Roman"/>
                        <a:sym typeface="Times New Roman"/>
                      </a:endParaRPr>
                    </a:p>
                    <a:p>
                      <a:pPr indent="0" lvl="0" marL="457200" marR="0" rtl="0" algn="l">
                        <a:lnSpc>
                          <a:spcPct val="100000"/>
                        </a:lnSpc>
                        <a:spcBef>
                          <a:spcPts val="0"/>
                        </a:spcBef>
                        <a:spcAft>
                          <a:spcPts val="0"/>
                        </a:spcAft>
                        <a:buClr>
                          <a:srgbClr val="000000"/>
                        </a:buClr>
                        <a:buSzPts val="1000"/>
                        <a:buFont typeface="Arial"/>
                        <a:buNone/>
                      </a:pPr>
                      <a:r>
                        <a:rPr i="1" lang="en" sz="1000" u="none" cap="none" strike="noStrike">
                          <a:latin typeface="Times New Roman"/>
                          <a:ea typeface="Times New Roman"/>
                          <a:cs typeface="Times New Roman"/>
                          <a:sym typeface="Times New Roman"/>
                        </a:rPr>
                        <a:t>Price</a:t>
                      </a:r>
                      <a:endParaRPr i="1" sz="1000" u="none" cap="none" strike="noStrike">
                        <a:latin typeface="Times New Roman"/>
                        <a:ea typeface="Times New Roman"/>
                        <a:cs typeface="Times New Roman"/>
                        <a:sym typeface="Times New Roman"/>
                      </a:endParaRPr>
                    </a:p>
                    <a:p>
                      <a:pPr indent="0" lvl="0" marL="457200" marR="0" rtl="0" algn="l">
                        <a:lnSpc>
                          <a:spcPct val="100000"/>
                        </a:lnSpc>
                        <a:spcBef>
                          <a:spcPts val="0"/>
                        </a:spcBef>
                        <a:spcAft>
                          <a:spcPts val="0"/>
                        </a:spcAft>
                        <a:buClr>
                          <a:srgbClr val="000000"/>
                        </a:buClr>
                        <a:buSzPts val="1000"/>
                        <a:buFont typeface="Arial"/>
                        <a:buNone/>
                      </a:pPr>
                      <a:r>
                        <a:rPr i="1" lang="en" sz="1000" u="none" cap="none" strike="noStrike">
                          <a:latin typeface="Times New Roman"/>
                          <a:ea typeface="Times New Roman"/>
                          <a:cs typeface="Times New Roman"/>
                          <a:sym typeface="Times New Roman"/>
                        </a:rPr>
                        <a:t>Battery life</a:t>
                      </a:r>
                      <a:endParaRPr i="1" sz="1000" u="none" cap="none" strike="noStrike">
                        <a:latin typeface="Times New Roman"/>
                        <a:ea typeface="Times New Roman"/>
                        <a:cs typeface="Times New Roman"/>
                        <a:sym typeface="Times New Roman"/>
                      </a:endParaRPr>
                    </a:p>
                    <a:p>
                      <a:pPr indent="0" lvl="0" marL="457200" marR="0" rtl="0" algn="l">
                        <a:lnSpc>
                          <a:spcPct val="100000"/>
                        </a:lnSpc>
                        <a:spcBef>
                          <a:spcPts val="0"/>
                        </a:spcBef>
                        <a:spcAft>
                          <a:spcPts val="0"/>
                        </a:spcAft>
                        <a:buClr>
                          <a:srgbClr val="000000"/>
                        </a:buClr>
                        <a:buSzPts val="1000"/>
                        <a:buFont typeface="Arial"/>
                        <a:buNone/>
                      </a:pPr>
                      <a:r>
                        <a:rPr i="1" lang="en" sz="1000" u="none" cap="none" strike="noStrike">
                          <a:latin typeface="Times New Roman"/>
                          <a:ea typeface="Times New Roman"/>
                          <a:cs typeface="Times New Roman"/>
                          <a:sym typeface="Times New Roman"/>
                        </a:rPr>
                        <a:t>Durability</a:t>
                      </a:r>
                      <a:endParaRPr i="1" sz="1000" u="none" cap="none" strike="noStrike">
                        <a:latin typeface="Times New Roman"/>
                        <a:ea typeface="Times New Roman"/>
                        <a:cs typeface="Times New Roman"/>
                        <a:sym typeface="Times New Roman"/>
                      </a:endParaRPr>
                    </a:p>
                  </a:txBody>
                  <a:tcPr marT="63500" marB="63500" marR="63500" marL="63500"/>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Times New Roman"/>
                          <a:ea typeface="Times New Roman"/>
                          <a:cs typeface="Times New Roman"/>
                          <a:sym typeface="Times New Roman"/>
                        </a:rPr>
                        <a:t>$</a:t>
                      </a:r>
                      <a:endParaRPr sz="1200" u="none" cap="none" strike="noStrike">
                        <a:latin typeface="Times New Roman"/>
                        <a:ea typeface="Times New Roman"/>
                        <a:cs typeface="Times New Roman"/>
                        <a:sym typeface="Times New Roman"/>
                      </a:endParaRPr>
                    </a:p>
                  </a:txBody>
                  <a:tcPr marT="63500" marB="63500" marR="63500" marL="63500"/>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Times New Roman"/>
                          <a:ea typeface="Times New Roman"/>
                          <a:cs typeface="Times New Roman"/>
                          <a:sym typeface="Times New Roman"/>
                        </a:rPr>
                        <a:t>▼</a:t>
                      </a:r>
                      <a:endParaRPr sz="1200" u="none" cap="none" strike="noStrike">
                        <a:latin typeface="Times New Roman"/>
                        <a:ea typeface="Times New Roman"/>
                        <a:cs typeface="Times New Roman"/>
                        <a:sym typeface="Times New Roman"/>
                      </a:endParaRPr>
                    </a:p>
                  </a:txBody>
                  <a:tcPr marT="63500" marB="63500" marR="63500" marL="63500"/>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Times New Roman"/>
                          <a:ea typeface="Times New Roman"/>
                          <a:cs typeface="Times New Roman"/>
                          <a:sym typeface="Times New Roman"/>
                        </a:rPr>
                        <a:t>500</a:t>
                      </a:r>
                      <a:endParaRPr sz="1200" u="none" cap="none" strike="noStrike">
                        <a:latin typeface="Times New Roman"/>
                        <a:ea typeface="Times New Roman"/>
                        <a:cs typeface="Times New Roman"/>
                        <a:sym typeface="Times New Roman"/>
                      </a:endParaRPr>
                    </a:p>
                  </a:txBody>
                  <a:tcPr marT="63500" marB="63500" marR="63500" marL="63500"/>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Times New Roman"/>
                          <a:ea typeface="Times New Roman"/>
                          <a:cs typeface="Times New Roman"/>
                          <a:sym typeface="Times New Roman"/>
                        </a:rPr>
                        <a:t>700</a:t>
                      </a:r>
                      <a:endParaRPr sz="1200" u="none" cap="none" strike="noStrike">
                        <a:latin typeface="Times New Roman"/>
                        <a:ea typeface="Times New Roman"/>
                        <a:cs typeface="Times New Roman"/>
                        <a:sym typeface="Times New Roman"/>
                      </a:endParaRPr>
                    </a:p>
                  </a:txBody>
                  <a:tcPr marT="63500" marB="63500" marR="63500" marL="63500"/>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graphicFrame>
        <p:nvGraphicFramePr>
          <p:cNvPr id="78" name="Google Shape;78;gba8d29d8b3_0_5"/>
          <p:cNvGraphicFramePr/>
          <p:nvPr/>
        </p:nvGraphicFramePr>
        <p:xfrm>
          <a:off x="1709600" y="933200"/>
          <a:ext cx="3000000" cy="3000000"/>
        </p:xfrm>
        <a:graphic>
          <a:graphicData uri="http://schemas.openxmlformats.org/drawingml/2006/table">
            <a:tbl>
              <a:tblPr>
                <a:noFill/>
                <a:tableStyleId>{549467FF-6A36-42A5-9114-26B6131018BD}</a:tableStyleId>
              </a:tblPr>
              <a:tblGrid>
                <a:gridCol w="3019425"/>
                <a:gridCol w="447675"/>
                <a:gridCol w="800100"/>
                <a:gridCol w="600075"/>
                <a:gridCol w="857250"/>
              </a:tblGrid>
              <a:tr h="12700">
                <a:tc>
                  <a:txBody>
                    <a:bodyPr/>
                    <a:lstStyle/>
                    <a:p>
                      <a:pPr indent="0" lvl="0" marL="0" marR="0" rtl="0" algn="l">
                        <a:lnSpc>
                          <a:spcPct val="100000"/>
                        </a:lnSpc>
                        <a:spcBef>
                          <a:spcPts val="0"/>
                        </a:spcBef>
                        <a:spcAft>
                          <a:spcPts val="0"/>
                        </a:spcAft>
                        <a:buClr>
                          <a:srgbClr val="000000"/>
                        </a:buClr>
                        <a:buSzPts val="1300"/>
                        <a:buFont typeface="Arial"/>
                        <a:buNone/>
                      </a:pPr>
                      <a:r>
                        <a:rPr b="1" lang="en" sz="1300" u="none" cap="none" strike="noStrike">
                          <a:latin typeface="Times New Roman"/>
                          <a:ea typeface="Times New Roman"/>
                          <a:cs typeface="Times New Roman"/>
                          <a:sym typeface="Times New Roman"/>
                        </a:rPr>
                        <a:t>Engineering Specification</a:t>
                      </a:r>
                      <a:endParaRPr b="1" sz="1300" u="none" cap="none" strike="noStrike">
                        <a:latin typeface="Times New Roman"/>
                        <a:ea typeface="Times New Roman"/>
                        <a:cs typeface="Times New Roman"/>
                        <a:sym typeface="Times New Roman"/>
                      </a:endParaRPr>
                    </a:p>
                  </a:txBody>
                  <a:tcPr marT="63500" marB="63500" marR="63500" marL="63500"/>
                </a:tc>
                <a:tc>
                  <a:txBody>
                    <a:bodyPr/>
                    <a:lstStyle/>
                    <a:p>
                      <a:pPr indent="0" lvl="0" marL="0" marR="0" rtl="0" algn="ctr">
                        <a:lnSpc>
                          <a:spcPct val="100000"/>
                        </a:lnSpc>
                        <a:spcBef>
                          <a:spcPts val="0"/>
                        </a:spcBef>
                        <a:spcAft>
                          <a:spcPts val="0"/>
                        </a:spcAft>
                        <a:buClr>
                          <a:srgbClr val="000000"/>
                        </a:buClr>
                        <a:buSzPts val="1300"/>
                        <a:buFont typeface="Arial"/>
                        <a:buNone/>
                      </a:pPr>
                      <a:r>
                        <a:rPr b="1" lang="en" sz="1300" u="none" cap="none" strike="noStrike">
                          <a:latin typeface="Times New Roman"/>
                          <a:ea typeface="Times New Roman"/>
                          <a:cs typeface="Times New Roman"/>
                          <a:sym typeface="Times New Roman"/>
                        </a:rPr>
                        <a:t>Unit</a:t>
                      </a:r>
                      <a:endParaRPr b="1" sz="1300" u="none" cap="none" strike="noStrike">
                        <a:latin typeface="Times New Roman"/>
                        <a:ea typeface="Times New Roman"/>
                        <a:cs typeface="Times New Roman"/>
                        <a:sym typeface="Times New Roman"/>
                      </a:endParaRPr>
                    </a:p>
                  </a:txBody>
                  <a:tcPr marT="63500" marB="63500" marR="63500" marL="63500"/>
                </a:tc>
                <a:tc>
                  <a:txBody>
                    <a:bodyPr/>
                    <a:lstStyle/>
                    <a:p>
                      <a:pPr indent="0" lvl="0" marL="0" marR="0" rtl="0" algn="ctr">
                        <a:lnSpc>
                          <a:spcPct val="100000"/>
                        </a:lnSpc>
                        <a:spcBef>
                          <a:spcPts val="0"/>
                        </a:spcBef>
                        <a:spcAft>
                          <a:spcPts val="0"/>
                        </a:spcAft>
                        <a:buClr>
                          <a:srgbClr val="000000"/>
                        </a:buClr>
                        <a:buSzPts val="1300"/>
                        <a:buFont typeface="Arial"/>
                        <a:buNone/>
                      </a:pPr>
                      <a:r>
                        <a:rPr b="1" lang="en" sz="1300" u="none" cap="none" strike="noStrike">
                          <a:latin typeface="Times New Roman"/>
                          <a:ea typeface="Times New Roman"/>
                          <a:cs typeface="Times New Roman"/>
                          <a:sym typeface="Times New Roman"/>
                        </a:rPr>
                        <a:t>Direction</a:t>
                      </a:r>
                      <a:endParaRPr b="1" sz="1300" u="none" cap="none" strike="noStrike">
                        <a:latin typeface="Times New Roman"/>
                        <a:ea typeface="Times New Roman"/>
                        <a:cs typeface="Times New Roman"/>
                        <a:sym typeface="Times New Roman"/>
                      </a:endParaRPr>
                    </a:p>
                  </a:txBody>
                  <a:tcPr marT="63500" marB="63500" marR="63500" marL="63500"/>
                </a:tc>
                <a:tc>
                  <a:txBody>
                    <a:bodyPr/>
                    <a:lstStyle/>
                    <a:p>
                      <a:pPr indent="0" lvl="0" marL="0" marR="0" rtl="0" algn="ctr">
                        <a:lnSpc>
                          <a:spcPct val="100000"/>
                        </a:lnSpc>
                        <a:spcBef>
                          <a:spcPts val="0"/>
                        </a:spcBef>
                        <a:spcAft>
                          <a:spcPts val="0"/>
                        </a:spcAft>
                        <a:buClr>
                          <a:srgbClr val="000000"/>
                        </a:buClr>
                        <a:buSzPts val="1300"/>
                        <a:buFont typeface="Arial"/>
                        <a:buNone/>
                      </a:pPr>
                      <a:r>
                        <a:rPr b="1" lang="en" sz="1300" u="none" cap="none" strike="noStrike">
                          <a:latin typeface="Times New Roman"/>
                          <a:ea typeface="Times New Roman"/>
                          <a:cs typeface="Times New Roman"/>
                          <a:sym typeface="Times New Roman"/>
                        </a:rPr>
                        <a:t>Target</a:t>
                      </a:r>
                      <a:endParaRPr b="1" sz="1300" u="none" cap="none" strike="noStrike">
                        <a:latin typeface="Times New Roman"/>
                        <a:ea typeface="Times New Roman"/>
                        <a:cs typeface="Times New Roman"/>
                        <a:sym typeface="Times New Roman"/>
                      </a:endParaRPr>
                    </a:p>
                  </a:txBody>
                  <a:tcPr marT="63500" marB="63500" marR="63500" marL="63500"/>
                </a:tc>
                <a:tc>
                  <a:txBody>
                    <a:bodyPr/>
                    <a:lstStyle/>
                    <a:p>
                      <a:pPr indent="0" lvl="0" marL="0" marR="0" rtl="0" algn="ctr">
                        <a:lnSpc>
                          <a:spcPct val="100000"/>
                        </a:lnSpc>
                        <a:spcBef>
                          <a:spcPts val="0"/>
                        </a:spcBef>
                        <a:spcAft>
                          <a:spcPts val="0"/>
                        </a:spcAft>
                        <a:buClr>
                          <a:srgbClr val="000000"/>
                        </a:buClr>
                        <a:buSzPts val="1300"/>
                        <a:buFont typeface="Arial"/>
                        <a:buNone/>
                      </a:pPr>
                      <a:r>
                        <a:rPr b="1" lang="en" sz="1300" u="none" cap="none" strike="noStrike">
                          <a:latin typeface="Times New Roman"/>
                          <a:ea typeface="Times New Roman"/>
                          <a:cs typeface="Times New Roman"/>
                          <a:sym typeface="Times New Roman"/>
                        </a:rPr>
                        <a:t>Threshold</a:t>
                      </a:r>
                      <a:endParaRPr b="1" sz="1300" u="none" cap="none" strike="noStrike">
                        <a:latin typeface="Times New Roman"/>
                        <a:ea typeface="Times New Roman"/>
                        <a:cs typeface="Times New Roman"/>
                        <a:sym typeface="Times New Roman"/>
                      </a:endParaRPr>
                    </a:p>
                  </a:txBody>
                  <a:tcPr marT="63500" marB="63500" marR="63500" marL="63500"/>
                </a:tc>
              </a:tr>
              <a:tr h="12700">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latin typeface="Times New Roman"/>
                          <a:ea typeface="Times New Roman"/>
                          <a:cs typeface="Times New Roman"/>
                          <a:sym typeface="Times New Roman"/>
                        </a:rPr>
                        <a:t>Battery Life</a:t>
                      </a:r>
                      <a:endParaRPr sz="1200" u="none" cap="none" strike="noStrike">
                        <a:latin typeface="Times New Roman"/>
                        <a:ea typeface="Times New Roman"/>
                        <a:cs typeface="Times New Roman"/>
                        <a:sym typeface="Times New Roman"/>
                      </a:endParaRPr>
                    </a:p>
                    <a:p>
                      <a:pPr indent="0" lvl="0" marL="457200" marR="0" rtl="0" algn="l">
                        <a:lnSpc>
                          <a:spcPct val="100000"/>
                        </a:lnSpc>
                        <a:spcBef>
                          <a:spcPts val="0"/>
                        </a:spcBef>
                        <a:spcAft>
                          <a:spcPts val="0"/>
                        </a:spcAft>
                        <a:buClr>
                          <a:srgbClr val="000000"/>
                        </a:buClr>
                        <a:buSzPts val="1000"/>
                        <a:buFont typeface="Arial"/>
                        <a:buNone/>
                      </a:pPr>
                      <a:r>
                        <a:rPr i="1" lang="en" sz="1000" u="none" cap="none" strike="noStrike">
                          <a:latin typeface="Times New Roman"/>
                          <a:ea typeface="Times New Roman"/>
                          <a:cs typeface="Times New Roman"/>
                          <a:sym typeface="Times New Roman"/>
                        </a:rPr>
                        <a:t>Price</a:t>
                      </a:r>
                      <a:endParaRPr i="1" sz="1000" u="none" cap="none" strike="noStrike">
                        <a:latin typeface="Times New Roman"/>
                        <a:ea typeface="Times New Roman"/>
                        <a:cs typeface="Times New Roman"/>
                        <a:sym typeface="Times New Roman"/>
                      </a:endParaRPr>
                    </a:p>
                    <a:p>
                      <a:pPr indent="0" lvl="0" marL="457200" marR="0" rtl="0" algn="l">
                        <a:lnSpc>
                          <a:spcPct val="100000"/>
                        </a:lnSpc>
                        <a:spcBef>
                          <a:spcPts val="0"/>
                        </a:spcBef>
                        <a:spcAft>
                          <a:spcPts val="0"/>
                        </a:spcAft>
                        <a:buClr>
                          <a:srgbClr val="000000"/>
                        </a:buClr>
                        <a:buSzPts val="1000"/>
                        <a:buFont typeface="Arial"/>
                        <a:buNone/>
                      </a:pPr>
                      <a:r>
                        <a:rPr i="1" lang="en" sz="1000" u="none" cap="none" strike="noStrike">
                          <a:latin typeface="Times New Roman"/>
                          <a:ea typeface="Times New Roman"/>
                          <a:cs typeface="Times New Roman"/>
                          <a:sym typeface="Times New Roman"/>
                        </a:rPr>
                        <a:t>Battery life</a:t>
                      </a:r>
                      <a:endParaRPr i="1" sz="1000" u="none" cap="none" strike="noStrike">
                        <a:latin typeface="Times New Roman"/>
                        <a:ea typeface="Times New Roman"/>
                        <a:cs typeface="Times New Roman"/>
                        <a:sym typeface="Times New Roman"/>
                      </a:endParaRPr>
                    </a:p>
                  </a:txBody>
                  <a:tcPr marT="63500" marB="63500" marR="63500" marL="63500"/>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Times New Roman"/>
                          <a:ea typeface="Times New Roman"/>
                          <a:cs typeface="Times New Roman"/>
                          <a:sym typeface="Times New Roman"/>
                        </a:rPr>
                        <a:t>hr</a:t>
                      </a:r>
                      <a:endParaRPr sz="1200" u="none" cap="none" strike="noStrike">
                        <a:latin typeface="Times New Roman"/>
                        <a:ea typeface="Times New Roman"/>
                        <a:cs typeface="Times New Roman"/>
                        <a:sym typeface="Times New Roman"/>
                      </a:endParaRPr>
                    </a:p>
                  </a:txBody>
                  <a:tcPr marT="63500" marB="63500" marR="63500" marL="63500"/>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Times New Roman"/>
                          <a:ea typeface="Times New Roman"/>
                          <a:cs typeface="Times New Roman"/>
                          <a:sym typeface="Times New Roman"/>
                        </a:rPr>
                        <a:t>▲</a:t>
                      </a:r>
                      <a:endParaRPr sz="1200" u="none" cap="none" strike="noStrike">
                        <a:latin typeface="Times New Roman"/>
                        <a:ea typeface="Times New Roman"/>
                        <a:cs typeface="Times New Roman"/>
                        <a:sym typeface="Times New Roman"/>
                      </a:endParaRPr>
                    </a:p>
                  </a:txBody>
                  <a:tcPr marT="63500" marB="63500" marR="63500" marL="63500"/>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Times New Roman"/>
                          <a:ea typeface="Times New Roman"/>
                          <a:cs typeface="Times New Roman"/>
                          <a:sym typeface="Times New Roman"/>
                        </a:rPr>
                        <a:t>12</a:t>
                      </a:r>
                      <a:endParaRPr sz="1200" u="none" cap="none" strike="noStrike">
                        <a:latin typeface="Times New Roman"/>
                        <a:ea typeface="Times New Roman"/>
                        <a:cs typeface="Times New Roman"/>
                        <a:sym typeface="Times New Roman"/>
                      </a:endParaRPr>
                    </a:p>
                  </a:txBody>
                  <a:tcPr marT="63500" marB="63500" marR="63500" marL="63500"/>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Times New Roman"/>
                          <a:ea typeface="Times New Roman"/>
                          <a:cs typeface="Times New Roman"/>
                          <a:sym typeface="Times New Roman"/>
                        </a:rPr>
                        <a:t>3</a:t>
                      </a:r>
                      <a:endParaRPr sz="1200" u="none" cap="none" strike="noStrike">
                        <a:latin typeface="Times New Roman"/>
                        <a:ea typeface="Times New Roman"/>
                        <a:cs typeface="Times New Roman"/>
                        <a:sym typeface="Times New Roman"/>
                      </a:endParaRPr>
                    </a:p>
                  </a:txBody>
                  <a:tcPr marT="63500" marB="63500" marR="63500" marL="63500"/>
                </a:tc>
              </a:tr>
              <a:tr h="12700">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latin typeface="Times New Roman"/>
                          <a:ea typeface="Times New Roman"/>
                          <a:cs typeface="Times New Roman"/>
                          <a:sym typeface="Times New Roman"/>
                        </a:rPr>
                        <a:t>Lifespan</a:t>
                      </a:r>
                      <a:endParaRPr sz="1200" u="none" cap="none" strike="noStrike">
                        <a:latin typeface="Times New Roman"/>
                        <a:ea typeface="Times New Roman"/>
                        <a:cs typeface="Times New Roman"/>
                        <a:sym typeface="Times New Roman"/>
                      </a:endParaRPr>
                    </a:p>
                    <a:p>
                      <a:pPr indent="0" lvl="0" marL="457200" marR="0" rtl="0" algn="l">
                        <a:lnSpc>
                          <a:spcPct val="100000"/>
                        </a:lnSpc>
                        <a:spcBef>
                          <a:spcPts val="0"/>
                        </a:spcBef>
                        <a:spcAft>
                          <a:spcPts val="0"/>
                        </a:spcAft>
                        <a:buClr>
                          <a:srgbClr val="000000"/>
                        </a:buClr>
                        <a:buSzPts val="1000"/>
                        <a:buFont typeface="Arial"/>
                        <a:buNone/>
                      </a:pPr>
                      <a:r>
                        <a:rPr i="1" lang="en" sz="1000" u="none" cap="none" strike="noStrike">
                          <a:latin typeface="Times New Roman"/>
                          <a:ea typeface="Times New Roman"/>
                          <a:cs typeface="Times New Roman"/>
                          <a:sym typeface="Times New Roman"/>
                        </a:rPr>
                        <a:t>Weatherproof</a:t>
                      </a:r>
                      <a:endParaRPr i="1" sz="1000" u="none" cap="none" strike="noStrike">
                        <a:latin typeface="Times New Roman"/>
                        <a:ea typeface="Times New Roman"/>
                        <a:cs typeface="Times New Roman"/>
                        <a:sym typeface="Times New Roman"/>
                      </a:endParaRPr>
                    </a:p>
                    <a:p>
                      <a:pPr indent="0" lvl="0" marL="457200" marR="0" rtl="0" algn="l">
                        <a:lnSpc>
                          <a:spcPct val="100000"/>
                        </a:lnSpc>
                        <a:spcBef>
                          <a:spcPts val="0"/>
                        </a:spcBef>
                        <a:spcAft>
                          <a:spcPts val="0"/>
                        </a:spcAft>
                        <a:buClr>
                          <a:srgbClr val="000000"/>
                        </a:buClr>
                        <a:buSzPts val="1000"/>
                        <a:buFont typeface="Arial"/>
                        <a:buNone/>
                      </a:pPr>
                      <a:r>
                        <a:rPr i="1" lang="en" sz="1000" u="none" cap="none" strike="noStrike">
                          <a:latin typeface="Times New Roman"/>
                          <a:ea typeface="Times New Roman"/>
                          <a:cs typeface="Times New Roman"/>
                          <a:sym typeface="Times New Roman"/>
                        </a:rPr>
                        <a:t>Durability</a:t>
                      </a:r>
                      <a:endParaRPr i="1" sz="1000" u="none" cap="none" strike="noStrike">
                        <a:latin typeface="Times New Roman"/>
                        <a:ea typeface="Times New Roman"/>
                        <a:cs typeface="Times New Roman"/>
                        <a:sym typeface="Times New Roman"/>
                      </a:endParaRPr>
                    </a:p>
                  </a:txBody>
                  <a:tcPr marT="63500" marB="63500" marR="63500" marL="63500"/>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Times New Roman"/>
                          <a:ea typeface="Times New Roman"/>
                          <a:cs typeface="Times New Roman"/>
                          <a:sym typeface="Times New Roman"/>
                        </a:rPr>
                        <a:t>mo</a:t>
                      </a:r>
                      <a:endParaRPr sz="1200" u="none" cap="none" strike="noStrike">
                        <a:latin typeface="Times New Roman"/>
                        <a:ea typeface="Times New Roman"/>
                        <a:cs typeface="Times New Roman"/>
                        <a:sym typeface="Times New Roman"/>
                      </a:endParaRPr>
                    </a:p>
                  </a:txBody>
                  <a:tcPr marT="63500" marB="63500" marR="63500" marL="63500"/>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Times New Roman"/>
                          <a:ea typeface="Times New Roman"/>
                          <a:cs typeface="Times New Roman"/>
                          <a:sym typeface="Times New Roman"/>
                        </a:rPr>
                        <a:t>▲</a:t>
                      </a:r>
                      <a:endParaRPr sz="1200" u="none" cap="none" strike="noStrike">
                        <a:latin typeface="Times New Roman"/>
                        <a:ea typeface="Times New Roman"/>
                        <a:cs typeface="Times New Roman"/>
                        <a:sym typeface="Times New Roman"/>
                      </a:endParaRPr>
                    </a:p>
                  </a:txBody>
                  <a:tcPr marT="63500" marB="63500" marR="63500" marL="63500"/>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Times New Roman"/>
                          <a:ea typeface="Times New Roman"/>
                          <a:cs typeface="Times New Roman"/>
                          <a:sym typeface="Times New Roman"/>
                        </a:rPr>
                        <a:t>24</a:t>
                      </a:r>
                      <a:endParaRPr sz="1200" u="none" cap="none" strike="noStrike">
                        <a:latin typeface="Times New Roman"/>
                        <a:ea typeface="Times New Roman"/>
                        <a:cs typeface="Times New Roman"/>
                        <a:sym typeface="Times New Roman"/>
                      </a:endParaRPr>
                    </a:p>
                  </a:txBody>
                  <a:tcPr marT="63500" marB="63500" marR="63500" marL="63500"/>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Times New Roman"/>
                          <a:ea typeface="Times New Roman"/>
                          <a:cs typeface="Times New Roman"/>
                          <a:sym typeface="Times New Roman"/>
                        </a:rPr>
                        <a:t>12</a:t>
                      </a:r>
                      <a:endParaRPr sz="1200" u="none" cap="none" strike="noStrike">
                        <a:latin typeface="Times New Roman"/>
                        <a:ea typeface="Times New Roman"/>
                        <a:cs typeface="Times New Roman"/>
                        <a:sym typeface="Times New Roman"/>
                      </a:endParaRPr>
                    </a:p>
                  </a:txBody>
                  <a:tcPr marT="63500" marB="63500" marR="63500" marL="63500"/>
                </a:tc>
              </a:tr>
              <a:tr h="12700">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latin typeface="Times New Roman"/>
                          <a:ea typeface="Times New Roman"/>
                          <a:cs typeface="Times New Roman"/>
                          <a:sym typeface="Times New Roman"/>
                        </a:rPr>
                        <a:t>Time to View Metrics in App</a:t>
                      </a:r>
                      <a:endParaRPr sz="1200" u="none" cap="none" strike="noStrike">
                        <a:latin typeface="Times New Roman"/>
                        <a:ea typeface="Times New Roman"/>
                        <a:cs typeface="Times New Roman"/>
                        <a:sym typeface="Times New Roman"/>
                      </a:endParaRPr>
                    </a:p>
                    <a:p>
                      <a:pPr indent="0" lvl="0" marL="457200" marR="0" rtl="0" algn="l">
                        <a:lnSpc>
                          <a:spcPct val="100000"/>
                        </a:lnSpc>
                        <a:spcBef>
                          <a:spcPts val="0"/>
                        </a:spcBef>
                        <a:spcAft>
                          <a:spcPts val="0"/>
                        </a:spcAft>
                        <a:buClr>
                          <a:srgbClr val="000000"/>
                        </a:buClr>
                        <a:buSzPts val="1000"/>
                        <a:buFont typeface="Arial"/>
                        <a:buNone/>
                      </a:pPr>
                      <a:r>
                        <a:rPr i="1" lang="en" sz="1000" u="none" cap="none" strike="noStrike">
                          <a:latin typeface="Times New Roman"/>
                          <a:ea typeface="Times New Roman"/>
                          <a:cs typeface="Times New Roman"/>
                          <a:sym typeface="Times New Roman"/>
                        </a:rPr>
                        <a:t>Statistic utilities in app</a:t>
                      </a:r>
                      <a:endParaRPr i="1" sz="1000" u="none" cap="none" strike="noStrike">
                        <a:latin typeface="Times New Roman"/>
                        <a:ea typeface="Times New Roman"/>
                        <a:cs typeface="Times New Roman"/>
                        <a:sym typeface="Times New Roman"/>
                      </a:endParaRPr>
                    </a:p>
                  </a:txBody>
                  <a:tcPr marT="63500" marB="63500" marR="63500" marL="63500"/>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Times New Roman"/>
                          <a:ea typeface="Times New Roman"/>
                          <a:cs typeface="Times New Roman"/>
                          <a:sym typeface="Times New Roman"/>
                        </a:rPr>
                        <a:t>s</a:t>
                      </a:r>
                      <a:endParaRPr sz="1200" u="none" cap="none" strike="noStrike">
                        <a:latin typeface="Times New Roman"/>
                        <a:ea typeface="Times New Roman"/>
                        <a:cs typeface="Times New Roman"/>
                        <a:sym typeface="Times New Roman"/>
                      </a:endParaRPr>
                    </a:p>
                  </a:txBody>
                  <a:tcPr marT="63500" marB="63500" marR="63500" marL="63500"/>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Times New Roman"/>
                          <a:ea typeface="Times New Roman"/>
                          <a:cs typeface="Times New Roman"/>
                          <a:sym typeface="Times New Roman"/>
                        </a:rPr>
                        <a:t>▼</a:t>
                      </a:r>
                      <a:endParaRPr sz="1200" u="none" cap="none" strike="noStrike">
                        <a:latin typeface="Times New Roman"/>
                        <a:ea typeface="Times New Roman"/>
                        <a:cs typeface="Times New Roman"/>
                        <a:sym typeface="Times New Roman"/>
                      </a:endParaRPr>
                    </a:p>
                  </a:txBody>
                  <a:tcPr marT="63500" marB="63500" marR="63500" marL="63500"/>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Times New Roman"/>
                          <a:ea typeface="Times New Roman"/>
                          <a:cs typeface="Times New Roman"/>
                          <a:sym typeface="Times New Roman"/>
                        </a:rPr>
                        <a:t>2</a:t>
                      </a:r>
                      <a:endParaRPr sz="1200" u="none" cap="none" strike="noStrike">
                        <a:latin typeface="Times New Roman"/>
                        <a:ea typeface="Times New Roman"/>
                        <a:cs typeface="Times New Roman"/>
                        <a:sym typeface="Times New Roman"/>
                      </a:endParaRPr>
                    </a:p>
                  </a:txBody>
                  <a:tcPr marT="63500" marB="63500" marR="63500" marL="63500"/>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Times New Roman"/>
                          <a:ea typeface="Times New Roman"/>
                          <a:cs typeface="Times New Roman"/>
                          <a:sym typeface="Times New Roman"/>
                        </a:rPr>
                        <a:t>6</a:t>
                      </a:r>
                      <a:endParaRPr sz="1200" u="none" cap="none" strike="noStrike">
                        <a:latin typeface="Times New Roman"/>
                        <a:ea typeface="Times New Roman"/>
                        <a:cs typeface="Times New Roman"/>
                        <a:sym typeface="Times New Roman"/>
                      </a:endParaRPr>
                    </a:p>
                  </a:txBody>
                  <a:tcPr marT="63500" marB="63500" marR="63500" marL="63500"/>
                </a:tc>
              </a:tr>
              <a:tr h="12700">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latin typeface="Times New Roman"/>
                          <a:ea typeface="Times New Roman"/>
                          <a:cs typeface="Times New Roman"/>
                          <a:sym typeface="Times New Roman"/>
                        </a:rPr>
                        <a:t>Setup Steps Before Use</a:t>
                      </a:r>
                      <a:endParaRPr sz="1200" u="none" cap="none" strike="noStrike">
                        <a:latin typeface="Times New Roman"/>
                        <a:ea typeface="Times New Roman"/>
                        <a:cs typeface="Times New Roman"/>
                        <a:sym typeface="Times New Roman"/>
                      </a:endParaRPr>
                    </a:p>
                    <a:p>
                      <a:pPr indent="0" lvl="0" marL="457200" marR="0" rtl="0" algn="l">
                        <a:lnSpc>
                          <a:spcPct val="100000"/>
                        </a:lnSpc>
                        <a:spcBef>
                          <a:spcPts val="0"/>
                        </a:spcBef>
                        <a:spcAft>
                          <a:spcPts val="0"/>
                        </a:spcAft>
                        <a:buClr>
                          <a:srgbClr val="000000"/>
                        </a:buClr>
                        <a:buSzPts val="1000"/>
                        <a:buFont typeface="Arial"/>
                        <a:buNone/>
                      </a:pPr>
                      <a:r>
                        <a:rPr i="1" lang="en" sz="1000" u="none" cap="none" strike="noStrike">
                          <a:latin typeface="Times New Roman"/>
                          <a:ea typeface="Times New Roman"/>
                          <a:cs typeface="Times New Roman"/>
                          <a:sym typeface="Times New Roman"/>
                        </a:rPr>
                        <a:t>Attaches universally</a:t>
                      </a:r>
                      <a:endParaRPr i="1" sz="1000" u="none" cap="none" strike="noStrike">
                        <a:latin typeface="Times New Roman"/>
                        <a:ea typeface="Times New Roman"/>
                        <a:cs typeface="Times New Roman"/>
                        <a:sym typeface="Times New Roman"/>
                      </a:endParaRPr>
                    </a:p>
                    <a:p>
                      <a:pPr indent="0" lvl="0" marL="457200" marR="0" rtl="0" algn="l">
                        <a:lnSpc>
                          <a:spcPct val="100000"/>
                        </a:lnSpc>
                        <a:spcBef>
                          <a:spcPts val="0"/>
                        </a:spcBef>
                        <a:spcAft>
                          <a:spcPts val="0"/>
                        </a:spcAft>
                        <a:buClr>
                          <a:srgbClr val="000000"/>
                        </a:buClr>
                        <a:buSzPts val="1000"/>
                        <a:buFont typeface="Arial"/>
                        <a:buNone/>
                      </a:pPr>
                      <a:r>
                        <a:rPr i="1" lang="en" sz="1000" u="none" cap="none" strike="noStrike">
                          <a:latin typeface="Times New Roman"/>
                          <a:ea typeface="Times New Roman"/>
                          <a:cs typeface="Times New Roman"/>
                          <a:sym typeface="Times New Roman"/>
                        </a:rPr>
                        <a:t>Ease of use</a:t>
                      </a:r>
                      <a:endParaRPr i="1" sz="1000" u="none" cap="none" strike="noStrike">
                        <a:latin typeface="Times New Roman"/>
                        <a:ea typeface="Times New Roman"/>
                        <a:cs typeface="Times New Roman"/>
                        <a:sym typeface="Times New Roman"/>
                      </a:endParaRPr>
                    </a:p>
                    <a:p>
                      <a:pPr indent="0" lvl="0" marL="457200" marR="0" rtl="0" algn="l">
                        <a:lnSpc>
                          <a:spcPct val="100000"/>
                        </a:lnSpc>
                        <a:spcBef>
                          <a:spcPts val="0"/>
                        </a:spcBef>
                        <a:spcAft>
                          <a:spcPts val="0"/>
                        </a:spcAft>
                        <a:buClr>
                          <a:srgbClr val="000000"/>
                        </a:buClr>
                        <a:buSzPts val="1000"/>
                        <a:buFont typeface="Arial"/>
                        <a:buNone/>
                      </a:pPr>
                      <a:r>
                        <a:rPr i="1" lang="en" sz="1000" u="none" cap="none" strike="noStrike">
                          <a:latin typeface="Times New Roman"/>
                          <a:ea typeface="Times New Roman"/>
                          <a:cs typeface="Times New Roman"/>
                          <a:sym typeface="Times New Roman"/>
                        </a:rPr>
                        <a:t>Ease of setup</a:t>
                      </a:r>
                      <a:endParaRPr i="1" sz="1000" u="none" cap="none" strike="noStrike">
                        <a:latin typeface="Times New Roman"/>
                        <a:ea typeface="Times New Roman"/>
                        <a:cs typeface="Times New Roman"/>
                        <a:sym typeface="Times New Roman"/>
                      </a:endParaRPr>
                    </a:p>
                  </a:txBody>
                  <a:tcPr marT="63500" marB="63500" marR="63500" marL="63500"/>
                </a:tc>
                <a:tc>
                  <a:txBody>
                    <a:bodyPr/>
                    <a:lstStyle/>
                    <a:p>
                      <a:pPr indent="0" lvl="0" marL="0" marR="0" rtl="0" algn="ctr">
                        <a:lnSpc>
                          <a:spcPct val="100000"/>
                        </a:lnSpc>
                        <a:spcBef>
                          <a:spcPts val="0"/>
                        </a:spcBef>
                        <a:spcAft>
                          <a:spcPts val="0"/>
                        </a:spcAft>
                        <a:buClr>
                          <a:srgbClr val="000000"/>
                        </a:buClr>
                        <a:buSzPts val="1200"/>
                        <a:buFont typeface="Arial"/>
                        <a:buNone/>
                      </a:pPr>
                      <a:r>
                        <a:t/>
                      </a:r>
                      <a:endParaRPr sz="1200" u="none" cap="none" strike="noStrike">
                        <a:latin typeface="Times New Roman"/>
                        <a:ea typeface="Times New Roman"/>
                        <a:cs typeface="Times New Roman"/>
                        <a:sym typeface="Times New Roman"/>
                      </a:endParaRPr>
                    </a:p>
                  </a:txBody>
                  <a:tcPr marT="63500" marB="63500" marR="63500" marL="63500"/>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Times New Roman"/>
                          <a:ea typeface="Times New Roman"/>
                          <a:cs typeface="Times New Roman"/>
                          <a:sym typeface="Times New Roman"/>
                        </a:rPr>
                        <a:t>▼</a:t>
                      </a:r>
                      <a:endParaRPr sz="1200" u="none" cap="none" strike="noStrike">
                        <a:latin typeface="Times New Roman"/>
                        <a:ea typeface="Times New Roman"/>
                        <a:cs typeface="Times New Roman"/>
                        <a:sym typeface="Times New Roman"/>
                      </a:endParaRPr>
                    </a:p>
                  </a:txBody>
                  <a:tcPr marT="63500" marB="63500" marR="63500" marL="63500"/>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Times New Roman"/>
                          <a:ea typeface="Times New Roman"/>
                          <a:cs typeface="Times New Roman"/>
                          <a:sym typeface="Times New Roman"/>
                        </a:rPr>
                        <a:t>3</a:t>
                      </a:r>
                      <a:endParaRPr sz="1200" u="none" cap="none" strike="noStrike">
                        <a:latin typeface="Times New Roman"/>
                        <a:ea typeface="Times New Roman"/>
                        <a:cs typeface="Times New Roman"/>
                        <a:sym typeface="Times New Roman"/>
                      </a:endParaRPr>
                    </a:p>
                  </a:txBody>
                  <a:tcPr marT="63500" marB="63500" marR="63500" marL="63500"/>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Times New Roman"/>
                          <a:ea typeface="Times New Roman"/>
                          <a:cs typeface="Times New Roman"/>
                          <a:sym typeface="Times New Roman"/>
                        </a:rPr>
                        <a:t>6</a:t>
                      </a:r>
                      <a:endParaRPr sz="1200" u="none" cap="none" strike="noStrike">
                        <a:latin typeface="Times New Roman"/>
                        <a:ea typeface="Times New Roman"/>
                        <a:cs typeface="Times New Roman"/>
                        <a:sym typeface="Times New Roman"/>
                      </a:endParaRPr>
                    </a:p>
                  </a:txBody>
                  <a:tcPr marT="63500" marB="63500" marR="63500" marL="63500"/>
                </a:tc>
              </a:tr>
              <a:tr h="12700">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latin typeface="Times New Roman"/>
                          <a:ea typeface="Times New Roman"/>
                          <a:cs typeface="Times New Roman"/>
                          <a:sym typeface="Times New Roman"/>
                        </a:rPr>
                        <a:t>Steps to Attach to Bike</a:t>
                      </a:r>
                      <a:endParaRPr sz="1200" u="none" cap="none" strike="noStrike">
                        <a:latin typeface="Times New Roman"/>
                        <a:ea typeface="Times New Roman"/>
                        <a:cs typeface="Times New Roman"/>
                        <a:sym typeface="Times New Roman"/>
                      </a:endParaRPr>
                    </a:p>
                    <a:p>
                      <a:pPr indent="0" lvl="0" marL="457200" marR="0" rtl="0" algn="l">
                        <a:lnSpc>
                          <a:spcPct val="100000"/>
                        </a:lnSpc>
                        <a:spcBef>
                          <a:spcPts val="0"/>
                        </a:spcBef>
                        <a:spcAft>
                          <a:spcPts val="0"/>
                        </a:spcAft>
                        <a:buClr>
                          <a:srgbClr val="000000"/>
                        </a:buClr>
                        <a:buSzPts val="1000"/>
                        <a:buFont typeface="Arial"/>
                        <a:buNone/>
                      </a:pPr>
                      <a:r>
                        <a:rPr i="1" lang="en" sz="1000" u="none" cap="none" strike="noStrike">
                          <a:latin typeface="Times New Roman"/>
                          <a:ea typeface="Times New Roman"/>
                          <a:cs typeface="Times New Roman"/>
                          <a:sym typeface="Times New Roman"/>
                        </a:rPr>
                        <a:t>Attaches universally</a:t>
                      </a:r>
                      <a:endParaRPr i="1" sz="1000" u="none" cap="none" strike="noStrike">
                        <a:latin typeface="Times New Roman"/>
                        <a:ea typeface="Times New Roman"/>
                        <a:cs typeface="Times New Roman"/>
                        <a:sym typeface="Times New Roman"/>
                      </a:endParaRPr>
                    </a:p>
                    <a:p>
                      <a:pPr indent="0" lvl="0" marL="457200" marR="0" rtl="0" algn="l">
                        <a:lnSpc>
                          <a:spcPct val="100000"/>
                        </a:lnSpc>
                        <a:spcBef>
                          <a:spcPts val="0"/>
                        </a:spcBef>
                        <a:spcAft>
                          <a:spcPts val="0"/>
                        </a:spcAft>
                        <a:buClr>
                          <a:srgbClr val="000000"/>
                        </a:buClr>
                        <a:buSzPts val="1000"/>
                        <a:buFont typeface="Arial"/>
                        <a:buNone/>
                      </a:pPr>
                      <a:r>
                        <a:rPr i="1" lang="en" sz="1000" u="none" cap="none" strike="noStrike">
                          <a:latin typeface="Times New Roman"/>
                          <a:ea typeface="Times New Roman"/>
                          <a:cs typeface="Times New Roman"/>
                          <a:sym typeface="Times New Roman"/>
                        </a:rPr>
                        <a:t>Ease of use</a:t>
                      </a:r>
                      <a:endParaRPr i="1" sz="1000" u="none" cap="none" strike="noStrike">
                        <a:latin typeface="Times New Roman"/>
                        <a:ea typeface="Times New Roman"/>
                        <a:cs typeface="Times New Roman"/>
                        <a:sym typeface="Times New Roman"/>
                      </a:endParaRPr>
                    </a:p>
                    <a:p>
                      <a:pPr indent="0" lvl="0" marL="457200" marR="0" rtl="0" algn="l">
                        <a:lnSpc>
                          <a:spcPct val="100000"/>
                        </a:lnSpc>
                        <a:spcBef>
                          <a:spcPts val="0"/>
                        </a:spcBef>
                        <a:spcAft>
                          <a:spcPts val="0"/>
                        </a:spcAft>
                        <a:buClr>
                          <a:srgbClr val="000000"/>
                        </a:buClr>
                        <a:buSzPts val="1000"/>
                        <a:buFont typeface="Arial"/>
                        <a:buNone/>
                      </a:pPr>
                      <a:r>
                        <a:rPr i="1" lang="en" sz="1000" u="none" cap="none" strike="noStrike">
                          <a:latin typeface="Times New Roman"/>
                          <a:ea typeface="Times New Roman"/>
                          <a:cs typeface="Times New Roman"/>
                          <a:sym typeface="Times New Roman"/>
                        </a:rPr>
                        <a:t>Ease of setup</a:t>
                      </a:r>
                      <a:endParaRPr sz="1000" u="none" cap="none" strike="noStrike">
                        <a:latin typeface="Times New Roman"/>
                        <a:ea typeface="Times New Roman"/>
                        <a:cs typeface="Times New Roman"/>
                        <a:sym typeface="Times New Roman"/>
                      </a:endParaRPr>
                    </a:p>
                  </a:txBody>
                  <a:tcPr marT="63500" marB="63500" marR="63500" marL="63500"/>
                </a:tc>
                <a:tc>
                  <a:txBody>
                    <a:bodyPr/>
                    <a:lstStyle/>
                    <a:p>
                      <a:pPr indent="0" lvl="0" marL="0" marR="0" rtl="0" algn="ctr">
                        <a:lnSpc>
                          <a:spcPct val="100000"/>
                        </a:lnSpc>
                        <a:spcBef>
                          <a:spcPts val="0"/>
                        </a:spcBef>
                        <a:spcAft>
                          <a:spcPts val="0"/>
                        </a:spcAft>
                        <a:buClr>
                          <a:srgbClr val="000000"/>
                        </a:buClr>
                        <a:buSzPts val="1200"/>
                        <a:buFont typeface="Arial"/>
                        <a:buNone/>
                      </a:pPr>
                      <a:r>
                        <a:t/>
                      </a:r>
                      <a:endParaRPr sz="1200" u="none" cap="none" strike="noStrike">
                        <a:latin typeface="Times New Roman"/>
                        <a:ea typeface="Times New Roman"/>
                        <a:cs typeface="Times New Roman"/>
                        <a:sym typeface="Times New Roman"/>
                      </a:endParaRPr>
                    </a:p>
                  </a:txBody>
                  <a:tcPr marT="63500" marB="63500" marR="63500" marL="63500"/>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Times New Roman"/>
                          <a:ea typeface="Times New Roman"/>
                          <a:cs typeface="Times New Roman"/>
                          <a:sym typeface="Times New Roman"/>
                        </a:rPr>
                        <a:t>▼</a:t>
                      </a:r>
                      <a:endParaRPr sz="1200" u="none" cap="none" strike="noStrike">
                        <a:latin typeface="Times New Roman"/>
                        <a:ea typeface="Times New Roman"/>
                        <a:cs typeface="Times New Roman"/>
                        <a:sym typeface="Times New Roman"/>
                      </a:endParaRPr>
                    </a:p>
                  </a:txBody>
                  <a:tcPr marT="63500" marB="63500" marR="63500" marL="63500"/>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Times New Roman"/>
                          <a:ea typeface="Times New Roman"/>
                          <a:cs typeface="Times New Roman"/>
                          <a:sym typeface="Times New Roman"/>
                        </a:rPr>
                        <a:t>10</a:t>
                      </a:r>
                      <a:endParaRPr sz="1200" u="none" cap="none" strike="noStrike">
                        <a:latin typeface="Times New Roman"/>
                        <a:ea typeface="Times New Roman"/>
                        <a:cs typeface="Times New Roman"/>
                        <a:sym typeface="Times New Roman"/>
                      </a:endParaRPr>
                    </a:p>
                  </a:txBody>
                  <a:tcPr marT="63500" marB="63500" marR="63500" marL="63500"/>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Times New Roman"/>
                          <a:ea typeface="Times New Roman"/>
                          <a:cs typeface="Times New Roman"/>
                          <a:sym typeface="Times New Roman"/>
                        </a:rPr>
                        <a:t>20</a:t>
                      </a:r>
                      <a:endParaRPr sz="1200" u="none" cap="none" strike="noStrike">
                        <a:latin typeface="Times New Roman"/>
                        <a:ea typeface="Times New Roman"/>
                        <a:cs typeface="Times New Roman"/>
                        <a:sym typeface="Times New Roman"/>
                      </a:endParaRPr>
                    </a:p>
                  </a:txBody>
                  <a:tcPr marT="63500" marB="63500" marR="63500" marL="63500"/>
                </a:tc>
              </a:tr>
            </a:tbl>
          </a:graphicData>
        </a:graphic>
      </p:graphicFrame>
      <p:sp>
        <p:nvSpPr>
          <p:cNvPr id="79" name="Google Shape;79;gba8d29d8b3_0_5"/>
          <p:cNvSpPr txBox="1"/>
          <p:nvPr/>
        </p:nvSpPr>
        <p:spPr>
          <a:xfrm>
            <a:off x="-125" y="277075"/>
            <a:ext cx="9144000" cy="5727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700"/>
              <a:buFont typeface="Arial"/>
              <a:buNone/>
            </a:pPr>
            <a:r>
              <a:rPr b="0" i="0" lang="en" sz="2700" u="none" cap="none" strike="noStrike">
                <a:solidFill>
                  <a:srgbClr val="000000"/>
                </a:solidFill>
                <a:latin typeface="Calibri"/>
                <a:ea typeface="Calibri"/>
                <a:cs typeface="Calibri"/>
                <a:sym typeface="Calibri"/>
              </a:rPr>
              <a:t>ENGINEERING SPECIFICATIONS &amp; FUNCTIONAL REQUIREMENTS</a:t>
            </a:r>
            <a:endParaRPr b="0" i="0" sz="2700" u="none" cap="none" strike="noStrike">
              <a:solidFill>
                <a:srgbClr val="000000"/>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ga79ffe57d7_0_5"/>
          <p:cNvSpPr txBox="1"/>
          <p:nvPr>
            <p:ph type="title"/>
          </p:nvPr>
        </p:nvSpPr>
        <p:spPr>
          <a:xfrm>
            <a:off x="311700" y="2237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PROJECT TASK DIVISION</a:t>
            </a:r>
            <a:endParaRPr/>
          </a:p>
        </p:txBody>
      </p:sp>
      <p:pic>
        <p:nvPicPr>
          <p:cNvPr id="85" name="Google Shape;85;ga79ffe57d7_0_5"/>
          <p:cNvPicPr preferRelativeResize="0"/>
          <p:nvPr/>
        </p:nvPicPr>
        <p:blipFill rotWithShape="1">
          <a:blip r:embed="rId3">
            <a:alphaModFix/>
          </a:blip>
          <a:srcRect b="0" l="0" r="0" t="0"/>
          <a:stretch/>
        </p:blipFill>
        <p:spPr>
          <a:xfrm>
            <a:off x="2318463" y="890300"/>
            <a:ext cx="4507066" cy="4042274"/>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ga79ffe57d7_0_25"/>
          <p:cNvSpPr txBox="1"/>
          <p:nvPr>
            <p:ph type="title"/>
          </p:nvPr>
        </p:nvSpPr>
        <p:spPr>
          <a:xfrm>
            <a:off x="191325" y="291450"/>
            <a:ext cx="4911900" cy="1297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GANTT CHART</a:t>
            </a:r>
            <a:endParaRPr/>
          </a:p>
        </p:txBody>
      </p:sp>
      <p:pic>
        <p:nvPicPr>
          <p:cNvPr id="91" name="Google Shape;91;ga79ffe57d7_0_25"/>
          <p:cNvPicPr preferRelativeResize="0"/>
          <p:nvPr/>
        </p:nvPicPr>
        <p:blipFill rotWithShape="1">
          <a:blip r:embed="rId3">
            <a:alphaModFix/>
          </a:blip>
          <a:srcRect b="0" l="0" r="0" t="0"/>
          <a:stretch/>
        </p:blipFill>
        <p:spPr>
          <a:xfrm>
            <a:off x="336838" y="1258825"/>
            <a:ext cx="8470324" cy="32494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ga79ffe57d7_0_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BILL OF MATERIALS</a:t>
            </a:r>
            <a:endParaRPr/>
          </a:p>
        </p:txBody>
      </p:sp>
      <p:graphicFrame>
        <p:nvGraphicFramePr>
          <p:cNvPr id="97" name="Google Shape;97;ga79ffe57d7_0_0"/>
          <p:cNvGraphicFramePr/>
          <p:nvPr/>
        </p:nvGraphicFramePr>
        <p:xfrm>
          <a:off x="250975" y="1131500"/>
          <a:ext cx="3000000" cy="3000000"/>
        </p:xfrm>
        <a:graphic>
          <a:graphicData uri="http://schemas.openxmlformats.org/drawingml/2006/table">
            <a:tbl>
              <a:tblPr>
                <a:noFill/>
                <a:tableStyleId>{5A8EF67A-0E4A-49A6-880E-3EDAF77BBDF1}</a:tableStyleId>
              </a:tblPr>
              <a:tblGrid>
                <a:gridCol w="1238925"/>
                <a:gridCol w="2589625"/>
                <a:gridCol w="652050"/>
                <a:gridCol w="884950"/>
                <a:gridCol w="3567725"/>
              </a:tblGrid>
              <a:tr h="200025">
                <a:tc>
                  <a:txBody>
                    <a:bodyPr/>
                    <a:lstStyle/>
                    <a:p>
                      <a:pPr indent="0" lvl="0" marL="0" marR="0" rtl="0" algn="l">
                        <a:lnSpc>
                          <a:spcPct val="115000"/>
                        </a:lnSpc>
                        <a:spcBef>
                          <a:spcPts val="0"/>
                        </a:spcBef>
                        <a:spcAft>
                          <a:spcPts val="0"/>
                        </a:spcAft>
                        <a:buClr>
                          <a:srgbClr val="000000"/>
                        </a:buClr>
                        <a:buSzPts val="1000"/>
                        <a:buFont typeface="Arial"/>
                        <a:buNone/>
                      </a:pPr>
                      <a:r>
                        <a:rPr b="1" lang="en" sz="1000" u="none" cap="none" strike="noStrike"/>
                        <a:t>Part Number</a:t>
                      </a:r>
                      <a:endParaRPr b="1" sz="1000" u="none" cap="none" strike="noStrike"/>
                    </a:p>
                  </a:txBody>
                  <a:tcPr marT="19050" marB="19050" marR="28575" marL="28575"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extLst>
                      <a:ext uri="http://customooxmlschemas.google.com/">
                        <go:slidesCustomData xmlns:go="http://customooxmlschemas.google.com/" cellId="97:0:0"/>
                      </a:ext>
                    </a:extLst>
                  </a:tcPr>
                </a:tc>
                <a:tc>
                  <a:txBody>
                    <a:bodyPr/>
                    <a:lstStyle/>
                    <a:p>
                      <a:pPr indent="0" lvl="0" marL="0" marR="0" rtl="0" algn="l">
                        <a:lnSpc>
                          <a:spcPct val="115000"/>
                        </a:lnSpc>
                        <a:spcBef>
                          <a:spcPts val="0"/>
                        </a:spcBef>
                        <a:spcAft>
                          <a:spcPts val="0"/>
                        </a:spcAft>
                        <a:buClr>
                          <a:srgbClr val="000000"/>
                        </a:buClr>
                        <a:buSzPts val="1000"/>
                        <a:buFont typeface="Arial"/>
                        <a:buNone/>
                      </a:pPr>
                      <a:r>
                        <a:rPr b="1" lang="en" sz="1000" u="none" cap="none" strike="noStrike"/>
                        <a:t>Product Name</a:t>
                      </a:r>
                      <a:endParaRPr b="1" sz="1000" u="none" cap="none" strike="noStrike"/>
                    </a:p>
                  </a:txBody>
                  <a:tcPr marT="19050" marB="19050" marR="28575" marL="28575"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extLst>
                      <a:ext uri="http://customooxmlschemas.google.com/">
                        <go:slidesCustomData xmlns:go="http://customooxmlschemas.google.com/" cellId="97:0:1"/>
                      </a:ext>
                    </a:extLst>
                  </a:tcPr>
                </a:tc>
                <a:tc>
                  <a:txBody>
                    <a:bodyPr/>
                    <a:lstStyle/>
                    <a:p>
                      <a:pPr indent="0" lvl="0" marL="0" marR="0" rtl="0" algn="ctr">
                        <a:lnSpc>
                          <a:spcPct val="115000"/>
                        </a:lnSpc>
                        <a:spcBef>
                          <a:spcPts val="0"/>
                        </a:spcBef>
                        <a:spcAft>
                          <a:spcPts val="0"/>
                        </a:spcAft>
                        <a:buClr>
                          <a:srgbClr val="000000"/>
                        </a:buClr>
                        <a:buSzPts val="1000"/>
                        <a:buFont typeface="Arial"/>
                        <a:buNone/>
                      </a:pPr>
                      <a:r>
                        <a:rPr b="1" lang="en" sz="1000" u="none" cap="none" strike="noStrike"/>
                        <a:t>Quantity</a:t>
                      </a:r>
                      <a:endParaRPr b="1" sz="1000" u="none" cap="none" strike="noStrike"/>
                    </a:p>
                  </a:txBody>
                  <a:tcPr marT="19050" marB="19050" marR="28575" marL="28575"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extLst>
                      <a:ext uri="http://customooxmlschemas.google.com/">
                        <go:slidesCustomData xmlns:go="http://customooxmlschemas.google.com/" cellId="97:0:2"/>
                      </a:ext>
                    </a:extLst>
                  </a:tcPr>
                </a:tc>
                <a:tc>
                  <a:txBody>
                    <a:bodyPr/>
                    <a:lstStyle/>
                    <a:p>
                      <a:pPr indent="0" lvl="0" marL="0" marR="0" rtl="0" algn="ctr">
                        <a:lnSpc>
                          <a:spcPct val="115000"/>
                        </a:lnSpc>
                        <a:spcBef>
                          <a:spcPts val="0"/>
                        </a:spcBef>
                        <a:spcAft>
                          <a:spcPts val="0"/>
                        </a:spcAft>
                        <a:buClr>
                          <a:srgbClr val="000000"/>
                        </a:buClr>
                        <a:buSzPts val="1000"/>
                        <a:buFont typeface="Arial"/>
                        <a:buNone/>
                      </a:pPr>
                      <a:r>
                        <a:rPr b="1" lang="en" sz="1000" u="none" cap="none" strike="noStrike"/>
                        <a:t>Actual Cost</a:t>
                      </a:r>
                      <a:endParaRPr b="1" sz="1000" u="none" cap="none" strike="noStrike"/>
                    </a:p>
                  </a:txBody>
                  <a:tcPr marT="19050" marB="19050" marR="28575" marL="28575"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extLst>
                      <a:ext uri="http://customooxmlschemas.google.com/">
                        <go:slidesCustomData xmlns:go="http://customooxmlschemas.google.com/" cellId="97:0:3"/>
                      </a:ext>
                    </a:extLst>
                  </a:tcPr>
                </a:tc>
                <a:tc>
                  <a:txBody>
                    <a:bodyPr/>
                    <a:lstStyle/>
                    <a:p>
                      <a:pPr indent="0" lvl="0" marL="0" marR="0" rtl="0" algn="l">
                        <a:lnSpc>
                          <a:spcPct val="115000"/>
                        </a:lnSpc>
                        <a:spcBef>
                          <a:spcPts val="0"/>
                        </a:spcBef>
                        <a:spcAft>
                          <a:spcPts val="0"/>
                        </a:spcAft>
                        <a:buClr>
                          <a:srgbClr val="000000"/>
                        </a:buClr>
                        <a:buSzPts val="1000"/>
                        <a:buFont typeface="Arial"/>
                        <a:buNone/>
                      </a:pPr>
                      <a:r>
                        <a:rPr b="1" lang="en" sz="1000" u="none" cap="none" strike="noStrike"/>
                        <a:t>Description</a:t>
                      </a:r>
                      <a:endParaRPr b="1" sz="1000" u="none" cap="none" strike="noStrike"/>
                    </a:p>
                  </a:txBody>
                  <a:tcPr marT="19050" marB="19050" marR="28575" marL="28575"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extLst>
                      <a:ext uri="http://customooxmlschemas.google.com/">
                        <go:slidesCustomData xmlns:go="http://customooxmlschemas.google.com/" cellId="97:0:4"/>
                      </a:ext>
                    </a:extLst>
                  </a:tcPr>
                </a:tc>
              </a:tr>
              <a:tr h="200025">
                <a:tc>
                  <a:txBody>
                    <a:bodyPr/>
                    <a:lstStyle/>
                    <a:p>
                      <a:pPr indent="0" lvl="0" marL="0" marR="0" rtl="0" algn="l">
                        <a:lnSpc>
                          <a:spcPct val="115000"/>
                        </a:lnSpc>
                        <a:spcBef>
                          <a:spcPts val="0"/>
                        </a:spcBef>
                        <a:spcAft>
                          <a:spcPts val="0"/>
                        </a:spcAft>
                        <a:buClr>
                          <a:srgbClr val="000000"/>
                        </a:buClr>
                        <a:buSzPts val="1000"/>
                        <a:buFont typeface="Arial"/>
                        <a:buNone/>
                      </a:pPr>
                      <a:r>
                        <a:rPr lang="en" sz="1000" u="none" cap="none" strike="noStrike"/>
                        <a:t>ABX00027</a:t>
                      </a:r>
                      <a:endParaRPr sz="1000" u="none" cap="none" strike="noStrike"/>
                    </a:p>
                  </a:txBody>
                  <a:tcPr marT="19050" marB="19050" marR="28575" marL="28575"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extLst>
                      <a:ext uri="http://customooxmlschemas.google.com/">
                        <go:slidesCustomData xmlns:go="http://customooxmlschemas.google.com/" cellId="97:1:0"/>
                      </a:ext>
                    </a:extLst>
                  </a:tcPr>
                </a:tc>
                <a:tc>
                  <a:txBody>
                    <a:bodyPr/>
                    <a:lstStyle/>
                    <a:p>
                      <a:pPr indent="0" lvl="0" marL="0" marR="0" rtl="0" algn="l">
                        <a:lnSpc>
                          <a:spcPct val="115000"/>
                        </a:lnSpc>
                        <a:spcBef>
                          <a:spcPts val="0"/>
                        </a:spcBef>
                        <a:spcAft>
                          <a:spcPts val="0"/>
                        </a:spcAft>
                        <a:buClr>
                          <a:srgbClr val="000000"/>
                        </a:buClr>
                        <a:buSzPts val="1000"/>
                        <a:buFont typeface="Arial"/>
                        <a:buNone/>
                      </a:pPr>
                      <a:r>
                        <a:rPr lang="en" sz="1000" u="none" cap="none" strike="noStrike"/>
                        <a:t>Arduino Nano 33 IOT</a:t>
                      </a:r>
                      <a:endParaRPr sz="1000" u="none" cap="none" strike="noStrike"/>
                    </a:p>
                  </a:txBody>
                  <a:tcPr marT="19050" marB="19050" marR="28575" marL="28575"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extLst>
                      <a:ext uri="http://customooxmlschemas.google.com/">
                        <go:slidesCustomData xmlns:go="http://customooxmlschemas.google.com/" cellId="97:1:1"/>
                      </a:ext>
                    </a:extLst>
                  </a:tcPr>
                </a:tc>
                <a:tc>
                  <a:txBody>
                    <a:bodyPr/>
                    <a:lstStyle/>
                    <a:p>
                      <a:pPr indent="0" lvl="0" marL="0" marR="0" rtl="0" algn="ctr">
                        <a:lnSpc>
                          <a:spcPct val="115000"/>
                        </a:lnSpc>
                        <a:spcBef>
                          <a:spcPts val="0"/>
                        </a:spcBef>
                        <a:spcAft>
                          <a:spcPts val="0"/>
                        </a:spcAft>
                        <a:buClr>
                          <a:srgbClr val="000000"/>
                        </a:buClr>
                        <a:buSzPts val="1000"/>
                        <a:buFont typeface="Arial"/>
                        <a:buNone/>
                      </a:pPr>
                      <a:r>
                        <a:rPr lang="en" sz="1000" u="none" cap="none" strike="noStrike"/>
                        <a:t>2</a:t>
                      </a:r>
                      <a:endParaRPr sz="1000" u="none" cap="none" strike="noStrike"/>
                    </a:p>
                  </a:txBody>
                  <a:tcPr marT="19050" marB="19050" marR="28575" marL="28575"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extLst>
                      <a:ext uri="http://customooxmlschemas.google.com/">
                        <go:slidesCustomData xmlns:go="http://customooxmlschemas.google.com/" cellId="97:1:2"/>
                      </a:ext>
                    </a:extLst>
                  </a:tcPr>
                </a:tc>
                <a:tc>
                  <a:txBody>
                    <a:bodyPr/>
                    <a:lstStyle/>
                    <a:p>
                      <a:pPr indent="0" lvl="0" marL="0" marR="0" rtl="0" algn="ctr">
                        <a:lnSpc>
                          <a:spcPct val="115000"/>
                        </a:lnSpc>
                        <a:spcBef>
                          <a:spcPts val="0"/>
                        </a:spcBef>
                        <a:spcAft>
                          <a:spcPts val="0"/>
                        </a:spcAft>
                        <a:buClr>
                          <a:srgbClr val="000000"/>
                        </a:buClr>
                        <a:buSzPts val="1000"/>
                        <a:buFont typeface="Arial"/>
                        <a:buNone/>
                      </a:pPr>
                      <a:r>
                        <a:rPr lang="en" sz="1000" u="none" cap="none" strike="noStrike"/>
                        <a:t>$18.40</a:t>
                      </a:r>
                      <a:endParaRPr sz="1000" u="none" cap="none" strike="noStrike"/>
                    </a:p>
                  </a:txBody>
                  <a:tcPr marT="19050" marB="19050" marR="28575" marL="28575"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extLst>
                      <a:ext uri="http://customooxmlschemas.google.com/">
                        <go:slidesCustomData xmlns:go="http://customooxmlschemas.google.com/" cellId="97:1:3"/>
                      </a:ext>
                    </a:extLst>
                  </a:tcPr>
                </a:tc>
                <a:tc>
                  <a:txBody>
                    <a:bodyPr/>
                    <a:lstStyle/>
                    <a:p>
                      <a:pPr indent="0" lvl="0" marL="0" marR="0" rtl="0" algn="l">
                        <a:lnSpc>
                          <a:spcPct val="115000"/>
                        </a:lnSpc>
                        <a:spcBef>
                          <a:spcPts val="0"/>
                        </a:spcBef>
                        <a:spcAft>
                          <a:spcPts val="0"/>
                        </a:spcAft>
                        <a:buClr>
                          <a:srgbClr val="000000"/>
                        </a:buClr>
                        <a:buSzPts val="1000"/>
                        <a:buFont typeface="Arial"/>
                        <a:buNone/>
                      </a:pPr>
                      <a:r>
                        <a:rPr lang="en" sz="1000" u="none" cap="none" strike="noStrike"/>
                        <a:t>Microcontrollers with Bluetooth</a:t>
                      </a:r>
                      <a:endParaRPr sz="1000" u="none" cap="none" strike="noStrike"/>
                    </a:p>
                  </a:txBody>
                  <a:tcPr marT="19050" marB="19050" marR="28575" marL="28575"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extLst>
                      <a:ext uri="http://customooxmlschemas.google.com/">
                        <go:slidesCustomData xmlns:go="http://customooxmlschemas.google.com/" cellId="97:1:4"/>
                      </a:ext>
                    </a:extLst>
                  </a:tcPr>
                </a:tc>
              </a:tr>
              <a:tr h="200025">
                <a:tc>
                  <a:txBody>
                    <a:bodyPr/>
                    <a:lstStyle/>
                    <a:p>
                      <a:pPr indent="0" lvl="0" marL="0" marR="0" rtl="0" algn="l">
                        <a:lnSpc>
                          <a:spcPct val="115000"/>
                        </a:lnSpc>
                        <a:spcBef>
                          <a:spcPts val="0"/>
                        </a:spcBef>
                        <a:spcAft>
                          <a:spcPts val="0"/>
                        </a:spcAft>
                        <a:buClr>
                          <a:srgbClr val="000000"/>
                        </a:buClr>
                        <a:buSzPts val="1000"/>
                        <a:buFont typeface="Arial"/>
                        <a:buNone/>
                      </a:pPr>
                      <a:r>
                        <a:rPr lang="en" sz="1000" u="none" cap="none" strike="noStrike"/>
                        <a:t>Adafruit PID: 4224</a:t>
                      </a:r>
                      <a:endParaRPr sz="1000" u="none" cap="none" strike="noStrike"/>
                    </a:p>
                  </a:txBody>
                  <a:tcPr marT="19050" marB="19050" marR="28575" marL="28575"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extLst>
                      <a:ext uri="http://customooxmlschemas.google.com/">
                        <go:slidesCustomData xmlns:go="http://customooxmlschemas.google.com/" cellId="97:2:0"/>
                      </a:ext>
                    </a:extLst>
                  </a:tcPr>
                </a:tc>
                <a:tc>
                  <a:txBody>
                    <a:bodyPr/>
                    <a:lstStyle/>
                    <a:p>
                      <a:pPr indent="0" lvl="0" marL="0" marR="0" rtl="0" algn="l">
                        <a:lnSpc>
                          <a:spcPct val="115000"/>
                        </a:lnSpc>
                        <a:spcBef>
                          <a:spcPts val="0"/>
                        </a:spcBef>
                        <a:spcAft>
                          <a:spcPts val="0"/>
                        </a:spcAft>
                        <a:buClr>
                          <a:srgbClr val="000000"/>
                        </a:buClr>
                        <a:buSzPts val="1000"/>
                        <a:buFont typeface="Arial"/>
                        <a:buNone/>
                      </a:pPr>
                      <a:r>
                        <a:rPr lang="en" sz="1000" u="none" cap="none" strike="noStrike"/>
                        <a:t>Adafruit eInk Breakout Friend with 32KB SRAM</a:t>
                      </a:r>
                      <a:endParaRPr sz="1000" u="none" cap="none" strike="noStrike"/>
                    </a:p>
                  </a:txBody>
                  <a:tcPr marT="19050" marB="19050" marR="28575" marL="28575"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extLst>
                      <a:ext uri="http://customooxmlschemas.google.com/">
                        <go:slidesCustomData xmlns:go="http://customooxmlschemas.google.com/" cellId="97:2:1"/>
                      </a:ext>
                    </a:extLst>
                  </a:tcPr>
                </a:tc>
                <a:tc>
                  <a:txBody>
                    <a:bodyPr/>
                    <a:lstStyle/>
                    <a:p>
                      <a:pPr indent="0" lvl="0" marL="0" marR="0" rtl="0" algn="ctr">
                        <a:lnSpc>
                          <a:spcPct val="115000"/>
                        </a:lnSpc>
                        <a:spcBef>
                          <a:spcPts val="0"/>
                        </a:spcBef>
                        <a:spcAft>
                          <a:spcPts val="0"/>
                        </a:spcAft>
                        <a:buClr>
                          <a:srgbClr val="000000"/>
                        </a:buClr>
                        <a:buSzPts val="1000"/>
                        <a:buFont typeface="Arial"/>
                        <a:buNone/>
                      </a:pPr>
                      <a:r>
                        <a:rPr lang="en" sz="1000" u="none" cap="none" strike="noStrike"/>
                        <a:t>1</a:t>
                      </a:r>
                      <a:endParaRPr sz="1000" u="none" cap="none" strike="noStrike"/>
                    </a:p>
                  </a:txBody>
                  <a:tcPr marT="19050" marB="19050" marR="28575" marL="28575"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extLst>
                      <a:ext uri="http://customooxmlschemas.google.com/">
                        <go:slidesCustomData xmlns:go="http://customooxmlschemas.google.com/" cellId="97:2:2"/>
                      </a:ext>
                    </a:extLst>
                  </a:tcPr>
                </a:tc>
                <a:tc>
                  <a:txBody>
                    <a:bodyPr/>
                    <a:lstStyle/>
                    <a:p>
                      <a:pPr indent="0" lvl="0" marL="0" marR="0" rtl="0" algn="ctr">
                        <a:lnSpc>
                          <a:spcPct val="115000"/>
                        </a:lnSpc>
                        <a:spcBef>
                          <a:spcPts val="0"/>
                        </a:spcBef>
                        <a:spcAft>
                          <a:spcPts val="0"/>
                        </a:spcAft>
                        <a:buClr>
                          <a:srgbClr val="000000"/>
                        </a:buClr>
                        <a:buSzPts val="1000"/>
                        <a:buFont typeface="Arial"/>
                        <a:buNone/>
                      </a:pPr>
                      <a:r>
                        <a:rPr lang="en" sz="1000" u="none" cap="none" strike="noStrike"/>
                        <a:t>$8.50</a:t>
                      </a:r>
                      <a:endParaRPr sz="1000" u="none" cap="none" strike="noStrike"/>
                    </a:p>
                  </a:txBody>
                  <a:tcPr marT="19050" marB="19050" marR="28575" marL="28575"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extLst>
                      <a:ext uri="http://customooxmlschemas.google.com/">
                        <go:slidesCustomData xmlns:go="http://customooxmlschemas.google.com/" cellId="97:2:3"/>
                      </a:ext>
                    </a:extLst>
                  </a:tcPr>
                </a:tc>
                <a:tc>
                  <a:txBody>
                    <a:bodyPr/>
                    <a:lstStyle/>
                    <a:p>
                      <a:pPr indent="0" lvl="0" marL="0" marR="0" rtl="0" algn="l">
                        <a:lnSpc>
                          <a:spcPct val="115000"/>
                        </a:lnSpc>
                        <a:spcBef>
                          <a:spcPts val="0"/>
                        </a:spcBef>
                        <a:spcAft>
                          <a:spcPts val="0"/>
                        </a:spcAft>
                        <a:buClr>
                          <a:srgbClr val="000000"/>
                        </a:buClr>
                        <a:buSzPts val="1000"/>
                        <a:buFont typeface="Arial"/>
                        <a:buNone/>
                      </a:pPr>
                      <a:r>
                        <a:rPr lang="en" sz="1000" u="none" cap="none" strike="noStrike"/>
                        <a:t>Memory buffer for eInk display</a:t>
                      </a:r>
                      <a:endParaRPr sz="1000" u="none" cap="none" strike="noStrike"/>
                    </a:p>
                  </a:txBody>
                  <a:tcPr marT="19050" marB="19050" marR="28575" marL="28575"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extLst>
                      <a:ext uri="http://customooxmlschemas.google.com/">
                        <go:slidesCustomData xmlns:go="http://customooxmlschemas.google.com/" cellId="97:2:4"/>
                      </a:ext>
                    </a:extLst>
                  </a:tcPr>
                </a:tc>
              </a:tr>
              <a:tr h="200025">
                <a:tc>
                  <a:txBody>
                    <a:bodyPr/>
                    <a:lstStyle/>
                    <a:p>
                      <a:pPr indent="0" lvl="0" marL="0" marR="0" rtl="0" algn="l">
                        <a:lnSpc>
                          <a:spcPct val="115000"/>
                        </a:lnSpc>
                        <a:spcBef>
                          <a:spcPts val="0"/>
                        </a:spcBef>
                        <a:spcAft>
                          <a:spcPts val="0"/>
                        </a:spcAft>
                        <a:buClr>
                          <a:srgbClr val="000000"/>
                        </a:buClr>
                        <a:buSzPts val="1000"/>
                        <a:buFont typeface="Arial"/>
                        <a:buNone/>
                      </a:pPr>
                      <a:r>
                        <a:rPr lang="en" sz="1000" u="none" cap="none" strike="noStrike"/>
                        <a:t>Adafruit PID: 4262</a:t>
                      </a:r>
                      <a:endParaRPr sz="1000" u="none" cap="none" strike="noStrike"/>
                    </a:p>
                  </a:txBody>
                  <a:tcPr marT="19050" marB="19050" marR="28575" marL="28575"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extLst>
                      <a:ext uri="http://customooxmlschemas.google.com/">
                        <go:slidesCustomData xmlns:go="http://customooxmlschemas.google.com/" cellId="97:3:0"/>
                      </a:ext>
                    </a:extLst>
                  </a:tcPr>
                </a:tc>
                <a:tc>
                  <a:txBody>
                    <a:bodyPr/>
                    <a:lstStyle/>
                    <a:p>
                      <a:pPr indent="0" lvl="0" marL="0" marR="0" rtl="0" algn="l">
                        <a:lnSpc>
                          <a:spcPct val="115000"/>
                        </a:lnSpc>
                        <a:spcBef>
                          <a:spcPts val="0"/>
                        </a:spcBef>
                        <a:spcAft>
                          <a:spcPts val="0"/>
                        </a:spcAft>
                        <a:buClr>
                          <a:srgbClr val="000000"/>
                        </a:buClr>
                        <a:buSzPts val="1000"/>
                        <a:buFont typeface="Arial"/>
                        <a:buNone/>
                      </a:pPr>
                      <a:r>
                        <a:rPr lang="en" sz="1000" u="none" cap="none" strike="noStrike"/>
                        <a:t>2.9" Flexible Monochrome eInk</a:t>
                      </a:r>
                      <a:endParaRPr sz="1000" u="none" cap="none" strike="noStrike"/>
                    </a:p>
                  </a:txBody>
                  <a:tcPr marT="19050" marB="19050" marR="28575" marL="28575"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extLst>
                      <a:ext uri="http://customooxmlschemas.google.com/">
                        <go:slidesCustomData xmlns:go="http://customooxmlschemas.google.com/" cellId="97:3:1"/>
                      </a:ext>
                    </a:extLst>
                  </a:tcPr>
                </a:tc>
                <a:tc>
                  <a:txBody>
                    <a:bodyPr/>
                    <a:lstStyle/>
                    <a:p>
                      <a:pPr indent="0" lvl="0" marL="0" marR="0" rtl="0" algn="ctr">
                        <a:lnSpc>
                          <a:spcPct val="115000"/>
                        </a:lnSpc>
                        <a:spcBef>
                          <a:spcPts val="0"/>
                        </a:spcBef>
                        <a:spcAft>
                          <a:spcPts val="0"/>
                        </a:spcAft>
                        <a:buClr>
                          <a:srgbClr val="000000"/>
                        </a:buClr>
                        <a:buSzPts val="1000"/>
                        <a:buFont typeface="Arial"/>
                        <a:buNone/>
                      </a:pPr>
                      <a:r>
                        <a:rPr lang="en" sz="1000" u="none" cap="none" strike="noStrike"/>
                        <a:t>1</a:t>
                      </a:r>
                      <a:endParaRPr sz="1000" u="none" cap="none" strike="noStrike"/>
                    </a:p>
                  </a:txBody>
                  <a:tcPr marT="19050" marB="19050" marR="28575" marL="28575"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extLst>
                      <a:ext uri="http://customooxmlschemas.google.com/">
                        <go:slidesCustomData xmlns:go="http://customooxmlschemas.google.com/" cellId="97:3:2"/>
                      </a:ext>
                    </a:extLst>
                  </a:tcPr>
                </a:tc>
                <a:tc>
                  <a:txBody>
                    <a:bodyPr/>
                    <a:lstStyle/>
                    <a:p>
                      <a:pPr indent="0" lvl="0" marL="0" marR="0" rtl="0" algn="ctr">
                        <a:lnSpc>
                          <a:spcPct val="115000"/>
                        </a:lnSpc>
                        <a:spcBef>
                          <a:spcPts val="0"/>
                        </a:spcBef>
                        <a:spcAft>
                          <a:spcPts val="0"/>
                        </a:spcAft>
                        <a:buClr>
                          <a:srgbClr val="000000"/>
                        </a:buClr>
                        <a:buSzPts val="1000"/>
                        <a:buFont typeface="Arial"/>
                        <a:buNone/>
                      </a:pPr>
                      <a:r>
                        <a:rPr lang="en" sz="1000" u="none" cap="none" strike="noStrike"/>
                        <a:t>$26.95</a:t>
                      </a:r>
                      <a:endParaRPr sz="1000" u="none" cap="none" strike="noStrike"/>
                    </a:p>
                  </a:txBody>
                  <a:tcPr marT="19050" marB="19050" marR="28575" marL="28575"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extLst>
                      <a:ext uri="http://customooxmlschemas.google.com/">
                        <go:slidesCustomData xmlns:go="http://customooxmlschemas.google.com/" cellId="97:3:3"/>
                      </a:ext>
                    </a:extLst>
                  </a:tcPr>
                </a:tc>
                <a:tc>
                  <a:txBody>
                    <a:bodyPr/>
                    <a:lstStyle/>
                    <a:p>
                      <a:pPr indent="0" lvl="0" marL="0" marR="0" rtl="0" algn="l">
                        <a:lnSpc>
                          <a:spcPct val="115000"/>
                        </a:lnSpc>
                        <a:spcBef>
                          <a:spcPts val="0"/>
                        </a:spcBef>
                        <a:spcAft>
                          <a:spcPts val="0"/>
                        </a:spcAft>
                        <a:buClr>
                          <a:srgbClr val="000000"/>
                        </a:buClr>
                        <a:buSzPts val="1000"/>
                        <a:buFont typeface="Arial"/>
                        <a:buNone/>
                      </a:pPr>
                      <a:r>
                        <a:rPr lang="en" sz="1000" u="none" cap="none" strike="noStrike"/>
                        <a:t>Low power eInk display</a:t>
                      </a:r>
                      <a:endParaRPr sz="1000" u="none" cap="none" strike="noStrike"/>
                    </a:p>
                  </a:txBody>
                  <a:tcPr marT="19050" marB="19050" marR="28575" marL="28575"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extLst>
                      <a:ext uri="http://customooxmlschemas.google.com/">
                        <go:slidesCustomData xmlns:go="http://customooxmlschemas.google.com/" cellId="97:3:4"/>
                      </a:ext>
                    </a:extLst>
                  </a:tcPr>
                </a:tc>
              </a:tr>
              <a:tr h="200025">
                <a:tc>
                  <a:txBody>
                    <a:bodyPr/>
                    <a:lstStyle/>
                    <a:p>
                      <a:pPr indent="0" lvl="0" marL="0" marR="0" rtl="0" algn="l">
                        <a:lnSpc>
                          <a:spcPct val="115000"/>
                        </a:lnSpc>
                        <a:spcBef>
                          <a:spcPts val="0"/>
                        </a:spcBef>
                        <a:spcAft>
                          <a:spcPts val="0"/>
                        </a:spcAft>
                        <a:buClr>
                          <a:srgbClr val="000000"/>
                        </a:buClr>
                        <a:buSzPts val="1000"/>
                        <a:buFont typeface="Arial"/>
                        <a:buNone/>
                      </a:pPr>
                      <a:r>
                        <a:rPr lang="en" sz="1000" u="none" cap="none" strike="noStrike"/>
                        <a:t>C000160</a:t>
                      </a:r>
                      <a:endParaRPr sz="1000" u="none" cap="none" strike="noStrike"/>
                    </a:p>
                  </a:txBody>
                  <a:tcPr marT="19050" marB="19050" marR="28575" marL="28575"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extLst>
                      <a:ext uri="http://customooxmlschemas.google.com/">
                        <go:slidesCustomData xmlns:go="http://customooxmlschemas.google.com/" cellId="97:4:0"/>
                      </a:ext>
                    </a:extLst>
                  </a:tcPr>
                </a:tc>
                <a:tc>
                  <a:txBody>
                    <a:bodyPr/>
                    <a:lstStyle/>
                    <a:p>
                      <a:pPr indent="0" lvl="0" marL="0" marR="0" rtl="0" algn="l">
                        <a:lnSpc>
                          <a:spcPct val="115000"/>
                        </a:lnSpc>
                        <a:spcBef>
                          <a:spcPts val="0"/>
                        </a:spcBef>
                        <a:spcAft>
                          <a:spcPts val="0"/>
                        </a:spcAft>
                        <a:buClr>
                          <a:srgbClr val="000000"/>
                        </a:buClr>
                        <a:buSzPts val="1000"/>
                        <a:buFont typeface="Arial"/>
                        <a:buNone/>
                      </a:pPr>
                      <a:r>
                        <a:rPr lang="en" sz="1000" u="none" cap="none" strike="noStrike"/>
                        <a:t>Grove - Infrared Reflective Sensor V1.2</a:t>
                      </a:r>
                      <a:endParaRPr sz="1000" u="none" cap="none" strike="noStrike"/>
                    </a:p>
                  </a:txBody>
                  <a:tcPr marT="19050" marB="19050" marR="28575" marL="28575"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extLst>
                      <a:ext uri="http://customooxmlschemas.google.com/">
                        <go:slidesCustomData xmlns:go="http://customooxmlschemas.google.com/" cellId="97:4:1"/>
                      </a:ext>
                    </a:extLst>
                  </a:tcPr>
                </a:tc>
                <a:tc>
                  <a:txBody>
                    <a:bodyPr/>
                    <a:lstStyle/>
                    <a:p>
                      <a:pPr indent="0" lvl="0" marL="0" marR="0" rtl="0" algn="ctr">
                        <a:lnSpc>
                          <a:spcPct val="115000"/>
                        </a:lnSpc>
                        <a:spcBef>
                          <a:spcPts val="0"/>
                        </a:spcBef>
                        <a:spcAft>
                          <a:spcPts val="0"/>
                        </a:spcAft>
                        <a:buClr>
                          <a:srgbClr val="000000"/>
                        </a:buClr>
                        <a:buSzPts val="1000"/>
                        <a:buFont typeface="Arial"/>
                        <a:buNone/>
                      </a:pPr>
                      <a:r>
                        <a:rPr lang="en" sz="1000" u="none" cap="none" strike="noStrike"/>
                        <a:t>2</a:t>
                      </a:r>
                      <a:endParaRPr sz="1000" u="none" cap="none" strike="noStrike"/>
                    </a:p>
                  </a:txBody>
                  <a:tcPr marT="19050" marB="19050" marR="28575" marL="28575"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extLst>
                      <a:ext uri="http://customooxmlschemas.google.com/">
                        <go:slidesCustomData xmlns:go="http://customooxmlschemas.google.com/" cellId="97:4:2"/>
                      </a:ext>
                    </a:extLst>
                  </a:tcPr>
                </a:tc>
                <a:tc>
                  <a:txBody>
                    <a:bodyPr/>
                    <a:lstStyle/>
                    <a:p>
                      <a:pPr indent="0" lvl="0" marL="0" marR="0" rtl="0" algn="ctr">
                        <a:lnSpc>
                          <a:spcPct val="115000"/>
                        </a:lnSpc>
                        <a:spcBef>
                          <a:spcPts val="0"/>
                        </a:spcBef>
                        <a:spcAft>
                          <a:spcPts val="0"/>
                        </a:spcAft>
                        <a:buClr>
                          <a:srgbClr val="000000"/>
                        </a:buClr>
                        <a:buSzPts val="1000"/>
                        <a:buFont typeface="Arial"/>
                        <a:buNone/>
                      </a:pPr>
                      <a:r>
                        <a:rPr lang="en" sz="1000" u="none" cap="none" strike="noStrike"/>
                        <a:t>$5.90</a:t>
                      </a:r>
                      <a:endParaRPr sz="1000" u="none" cap="none" strike="noStrike"/>
                    </a:p>
                  </a:txBody>
                  <a:tcPr marT="19050" marB="19050" marR="28575" marL="28575"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extLst>
                      <a:ext uri="http://customooxmlschemas.google.com/">
                        <go:slidesCustomData xmlns:go="http://customooxmlschemas.google.com/" cellId="97:4:3"/>
                      </a:ext>
                    </a:extLst>
                  </a:tcPr>
                </a:tc>
                <a:tc>
                  <a:txBody>
                    <a:bodyPr/>
                    <a:lstStyle/>
                    <a:p>
                      <a:pPr indent="0" lvl="0" marL="0" marR="0" rtl="0" algn="l">
                        <a:lnSpc>
                          <a:spcPct val="115000"/>
                        </a:lnSpc>
                        <a:spcBef>
                          <a:spcPts val="0"/>
                        </a:spcBef>
                        <a:spcAft>
                          <a:spcPts val="0"/>
                        </a:spcAft>
                        <a:buClr>
                          <a:srgbClr val="000000"/>
                        </a:buClr>
                        <a:buSzPts val="1000"/>
                        <a:buFont typeface="Arial"/>
                        <a:buNone/>
                      </a:pPr>
                      <a:r>
                        <a:rPr lang="en" sz="1000" u="none" cap="none" strike="noStrike"/>
                        <a:t>Measures angular frequency</a:t>
                      </a:r>
                      <a:endParaRPr sz="1000" u="none" cap="none" strike="noStrike"/>
                    </a:p>
                  </a:txBody>
                  <a:tcPr marT="19050" marB="19050" marR="28575" marL="28575"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extLst>
                      <a:ext uri="http://customooxmlschemas.google.com/">
                        <go:slidesCustomData xmlns:go="http://customooxmlschemas.google.com/" cellId="97:4:4"/>
                      </a:ext>
                    </a:extLst>
                  </a:tcPr>
                </a:tc>
              </a:tr>
              <a:tr h="200025">
                <a:tc>
                  <a:txBody>
                    <a:bodyPr/>
                    <a:lstStyle/>
                    <a:p>
                      <a:pPr indent="0" lvl="0" marL="0" marR="0" rtl="0" algn="l">
                        <a:lnSpc>
                          <a:spcPct val="115000"/>
                        </a:lnSpc>
                        <a:spcBef>
                          <a:spcPts val="0"/>
                        </a:spcBef>
                        <a:spcAft>
                          <a:spcPts val="0"/>
                        </a:spcAft>
                        <a:buClr>
                          <a:srgbClr val="000000"/>
                        </a:buClr>
                        <a:buSzPts val="1000"/>
                        <a:buFont typeface="Arial"/>
                        <a:buNone/>
                      </a:pPr>
                      <a:r>
                        <a:rPr lang="en" sz="1000" u="none" cap="none" strike="noStrike"/>
                        <a:t>CEA-06-125UT-350</a:t>
                      </a:r>
                      <a:endParaRPr sz="1000" u="none" cap="none" strike="noStrike"/>
                    </a:p>
                  </a:txBody>
                  <a:tcPr marT="19050" marB="19050" marR="28575" marL="28575"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extLst>
                      <a:ext uri="http://customooxmlschemas.google.com/">
                        <go:slidesCustomData xmlns:go="http://customooxmlschemas.google.com/" cellId="97:5:0"/>
                      </a:ext>
                    </a:extLst>
                  </a:tcPr>
                </a:tc>
                <a:tc>
                  <a:txBody>
                    <a:bodyPr/>
                    <a:lstStyle/>
                    <a:p>
                      <a:pPr indent="0" lvl="0" marL="0" marR="0" rtl="0" algn="l">
                        <a:lnSpc>
                          <a:spcPct val="115000"/>
                        </a:lnSpc>
                        <a:spcBef>
                          <a:spcPts val="0"/>
                        </a:spcBef>
                        <a:spcAft>
                          <a:spcPts val="0"/>
                        </a:spcAft>
                        <a:buClr>
                          <a:srgbClr val="000000"/>
                        </a:buClr>
                        <a:buSzPts val="1000"/>
                        <a:buFont typeface="Arial"/>
                        <a:buNone/>
                      </a:pPr>
                      <a:r>
                        <a:rPr lang="en" sz="1000" u="none" cap="none" strike="noStrike"/>
                        <a:t>Micro Measurements Strain Gages</a:t>
                      </a:r>
                      <a:endParaRPr sz="1000" u="none" cap="none" strike="noStrike"/>
                    </a:p>
                  </a:txBody>
                  <a:tcPr marT="19050" marB="19050" marR="28575" marL="28575"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extLst>
                      <a:ext uri="http://customooxmlschemas.google.com/">
                        <go:slidesCustomData xmlns:go="http://customooxmlschemas.google.com/" cellId="97:5:1"/>
                      </a:ext>
                    </a:extLst>
                  </a:tcPr>
                </a:tc>
                <a:tc>
                  <a:txBody>
                    <a:bodyPr/>
                    <a:lstStyle/>
                    <a:p>
                      <a:pPr indent="0" lvl="0" marL="0" marR="0" rtl="0" algn="ctr">
                        <a:lnSpc>
                          <a:spcPct val="115000"/>
                        </a:lnSpc>
                        <a:spcBef>
                          <a:spcPts val="0"/>
                        </a:spcBef>
                        <a:spcAft>
                          <a:spcPts val="0"/>
                        </a:spcAft>
                        <a:buClr>
                          <a:srgbClr val="000000"/>
                        </a:buClr>
                        <a:buSzPts val="1000"/>
                        <a:buFont typeface="Arial"/>
                        <a:buNone/>
                      </a:pPr>
                      <a:r>
                        <a:rPr lang="en" sz="1000" u="none" cap="none" strike="noStrike"/>
                        <a:t>1</a:t>
                      </a:r>
                      <a:endParaRPr sz="1000" u="none" cap="none" strike="noStrike"/>
                    </a:p>
                  </a:txBody>
                  <a:tcPr marT="19050" marB="19050" marR="28575" marL="28575"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extLst>
                      <a:ext uri="http://customooxmlschemas.google.com/">
                        <go:slidesCustomData xmlns:go="http://customooxmlschemas.google.com/" cellId="97:5:2"/>
                      </a:ext>
                    </a:extLst>
                  </a:tcPr>
                </a:tc>
                <a:tc>
                  <a:txBody>
                    <a:bodyPr/>
                    <a:lstStyle/>
                    <a:p>
                      <a:pPr indent="0" lvl="0" marL="0" marR="0" rtl="0" algn="ctr">
                        <a:lnSpc>
                          <a:spcPct val="115000"/>
                        </a:lnSpc>
                        <a:spcBef>
                          <a:spcPts val="0"/>
                        </a:spcBef>
                        <a:spcAft>
                          <a:spcPts val="0"/>
                        </a:spcAft>
                        <a:buClr>
                          <a:srgbClr val="000000"/>
                        </a:buClr>
                        <a:buSzPts val="1000"/>
                        <a:buFont typeface="Arial"/>
                        <a:buNone/>
                      </a:pPr>
                      <a:r>
                        <a:rPr lang="en" sz="1000" u="none" cap="none" strike="noStrike"/>
                        <a:t>$29.99</a:t>
                      </a:r>
                      <a:endParaRPr sz="1000" u="none" cap="none" strike="noStrike"/>
                    </a:p>
                  </a:txBody>
                  <a:tcPr marT="19050" marB="19050" marR="28575" marL="28575"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extLst>
                      <a:ext uri="http://customooxmlschemas.google.com/">
                        <go:slidesCustomData xmlns:go="http://customooxmlschemas.google.com/" cellId="97:5:3"/>
                      </a:ext>
                    </a:extLst>
                  </a:tcPr>
                </a:tc>
                <a:tc>
                  <a:txBody>
                    <a:bodyPr/>
                    <a:lstStyle/>
                    <a:p>
                      <a:pPr indent="0" lvl="0" marL="0" marR="0" rtl="0" algn="l">
                        <a:lnSpc>
                          <a:spcPct val="115000"/>
                        </a:lnSpc>
                        <a:spcBef>
                          <a:spcPts val="0"/>
                        </a:spcBef>
                        <a:spcAft>
                          <a:spcPts val="0"/>
                        </a:spcAft>
                        <a:buClr>
                          <a:srgbClr val="000000"/>
                        </a:buClr>
                        <a:buSzPts val="1000"/>
                        <a:buFont typeface="Arial"/>
                        <a:buNone/>
                      </a:pPr>
                      <a:r>
                        <a:rPr lang="en" sz="1000" u="none" cap="none" strike="noStrike"/>
                        <a:t>Measures sheer force</a:t>
                      </a:r>
                      <a:endParaRPr sz="1000" u="none" cap="none" strike="noStrike"/>
                    </a:p>
                  </a:txBody>
                  <a:tcPr marT="19050" marB="19050" marR="28575" marL="28575"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extLst>
                      <a:ext uri="http://customooxmlschemas.google.com/">
                        <go:slidesCustomData xmlns:go="http://customooxmlschemas.google.com/" cellId="97:5:4"/>
                      </a:ext>
                    </a:extLst>
                  </a:tcPr>
                </a:tc>
              </a:tr>
              <a:tr h="333375">
                <a:tc>
                  <a:txBody>
                    <a:bodyPr/>
                    <a:lstStyle/>
                    <a:p>
                      <a:pPr indent="0" lvl="0" marL="0" marR="0" rtl="0" algn="l">
                        <a:lnSpc>
                          <a:spcPct val="115000"/>
                        </a:lnSpc>
                        <a:spcBef>
                          <a:spcPts val="0"/>
                        </a:spcBef>
                        <a:spcAft>
                          <a:spcPts val="0"/>
                        </a:spcAft>
                        <a:buClr>
                          <a:srgbClr val="000000"/>
                        </a:buClr>
                        <a:buSzPts val="1000"/>
                        <a:buFont typeface="Arial"/>
                        <a:buNone/>
                      </a:pPr>
                      <a:r>
                        <a:rPr lang="en" sz="1000" u="none" cap="none" strike="noStrike"/>
                        <a:t>176SF1D-L394</a:t>
                      </a:r>
                      <a:endParaRPr sz="1000" u="none" cap="none" strike="noStrike"/>
                    </a:p>
                  </a:txBody>
                  <a:tcPr marT="19050" marB="19050" marR="28575" marL="28575"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extLst>
                      <a:ext uri="http://customooxmlschemas.google.com/">
                        <go:slidesCustomData xmlns:go="http://customooxmlschemas.google.com/" cellId="97:6:0"/>
                      </a:ext>
                    </a:extLst>
                  </a:tcPr>
                </a:tc>
                <a:tc>
                  <a:txBody>
                    <a:bodyPr/>
                    <a:lstStyle/>
                    <a:p>
                      <a:pPr indent="0" lvl="0" marL="0" marR="0" rtl="0" algn="l">
                        <a:lnSpc>
                          <a:spcPct val="115000"/>
                        </a:lnSpc>
                        <a:spcBef>
                          <a:spcPts val="0"/>
                        </a:spcBef>
                        <a:spcAft>
                          <a:spcPts val="0"/>
                        </a:spcAft>
                        <a:buClr>
                          <a:srgbClr val="000000"/>
                        </a:buClr>
                        <a:buSzPts val="1000"/>
                        <a:buFont typeface="Arial"/>
                        <a:buNone/>
                      </a:pPr>
                      <a:r>
                        <a:rPr lang="en" sz="1000" u="none" cap="none" strike="noStrike"/>
                        <a:t>Honeywell Precision Continuous 10K Potentiometer</a:t>
                      </a:r>
                      <a:endParaRPr sz="1000" u="none" cap="none" strike="noStrike"/>
                    </a:p>
                  </a:txBody>
                  <a:tcPr marT="19050" marB="19050" marR="28575" marL="28575"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extLst>
                      <a:ext uri="http://customooxmlschemas.google.com/">
                        <go:slidesCustomData xmlns:go="http://customooxmlschemas.google.com/" cellId="97:6:1"/>
                      </a:ext>
                    </a:extLst>
                  </a:tcPr>
                </a:tc>
                <a:tc>
                  <a:txBody>
                    <a:bodyPr/>
                    <a:lstStyle/>
                    <a:p>
                      <a:pPr indent="0" lvl="0" marL="0" marR="0" rtl="0" algn="ctr">
                        <a:lnSpc>
                          <a:spcPct val="115000"/>
                        </a:lnSpc>
                        <a:spcBef>
                          <a:spcPts val="0"/>
                        </a:spcBef>
                        <a:spcAft>
                          <a:spcPts val="0"/>
                        </a:spcAft>
                        <a:buClr>
                          <a:srgbClr val="000000"/>
                        </a:buClr>
                        <a:buSzPts val="1000"/>
                        <a:buFont typeface="Arial"/>
                        <a:buNone/>
                      </a:pPr>
                      <a:r>
                        <a:rPr lang="en" sz="1000" u="none" cap="none" strike="noStrike"/>
                        <a:t>1</a:t>
                      </a:r>
                      <a:endParaRPr sz="1000" u="none" cap="none" strike="noStrike"/>
                    </a:p>
                  </a:txBody>
                  <a:tcPr marT="19050" marB="19050" marR="28575" marL="28575"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extLst>
                      <a:ext uri="http://customooxmlschemas.google.com/">
                        <go:slidesCustomData xmlns:go="http://customooxmlschemas.google.com/" cellId="97:6:2"/>
                      </a:ext>
                    </a:extLst>
                  </a:tcPr>
                </a:tc>
                <a:tc>
                  <a:txBody>
                    <a:bodyPr/>
                    <a:lstStyle/>
                    <a:p>
                      <a:pPr indent="0" lvl="0" marL="0" marR="0" rtl="0" algn="ctr">
                        <a:lnSpc>
                          <a:spcPct val="115000"/>
                        </a:lnSpc>
                        <a:spcBef>
                          <a:spcPts val="0"/>
                        </a:spcBef>
                        <a:spcAft>
                          <a:spcPts val="0"/>
                        </a:spcAft>
                        <a:buClr>
                          <a:srgbClr val="000000"/>
                        </a:buClr>
                        <a:buSzPts val="1000"/>
                        <a:buFont typeface="Arial"/>
                        <a:buNone/>
                      </a:pPr>
                      <a:r>
                        <a:rPr lang="en" sz="1000" u="none" cap="none" strike="noStrike"/>
                        <a:t>$22.95</a:t>
                      </a:r>
                      <a:endParaRPr sz="1000" u="none" cap="none" strike="noStrike"/>
                    </a:p>
                  </a:txBody>
                  <a:tcPr marT="19050" marB="19050" marR="28575" marL="28575"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extLst>
                      <a:ext uri="http://customooxmlschemas.google.com/">
                        <go:slidesCustomData xmlns:go="http://customooxmlschemas.google.com/" cellId="97:6:3"/>
                      </a:ext>
                    </a:extLst>
                  </a:tcPr>
                </a:tc>
                <a:tc>
                  <a:txBody>
                    <a:bodyPr/>
                    <a:lstStyle/>
                    <a:p>
                      <a:pPr indent="0" lvl="0" marL="0" marR="0" rtl="0" algn="l">
                        <a:lnSpc>
                          <a:spcPct val="115000"/>
                        </a:lnSpc>
                        <a:spcBef>
                          <a:spcPts val="0"/>
                        </a:spcBef>
                        <a:spcAft>
                          <a:spcPts val="0"/>
                        </a:spcAft>
                        <a:buClr>
                          <a:srgbClr val="000000"/>
                        </a:buClr>
                        <a:buSzPts val="1000"/>
                        <a:buFont typeface="Arial"/>
                        <a:buNone/>
                      </a:pPr>
                      <a:r>
                        <a:rPr lang="en" sz="1000" u="none" cap="none" strike="noStrike"/>
                        <a:t>Measures wind angle</a:t>
                      </a:r>
                      <a:endParaRPr sz="1000" u="none" cap="none" strike="noStrike"/>
                    </a:p>
                  </a:txBody>
                  <a:tcPr marT="19050" marB="19050" marR="28575" marL="28575"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extLst>
                      <a:ext uri="http://customooxmlschemas.google.com/">
                        <go:slidesCustomData xmlns:go="http://customooxmlschemas.google.com/" cellId="97:6:4"/>
                      </a:ext>
                    </a:extLst>
                  </a:tcPr>
                </a:tc>
              </a:tr>
              <a:tr h="200025">
                <a:tc>
                  <a:txBody>
                    <a:bodyPr/>
                    <a:lstStyle/>
                    <a:p>
                      <a:pPr indent="0" lvl="0" marL="0" marR="0" rtl="0" algn="l">
                        <a:lnSpc>
                          <a:spcPct val="115000"/>
                        </a:lnSpc>
                        <a:spcBef>
                          <a:spcPts val="0"/>
                        </a:spcBef>
                        <a:spcAft>
                          <a:spcPts val="0"/>
                        </a:spcAft>
                        <a:buClr>
                          <a:srgbClr val="000000"/>
                        </a:buClr>
                        <a:buSzPts val="1000"/>
                        <a:buFont typeface="Arial"/>
                        <a:buNone/>
                      </a:pPr>
                      <a:r>
                        <a:rPr lang="en" sz="1000" u="none" cap="none" strike="noStrike"/>
                        <a:t>PA1010D</a:t>
                      </a:r>
                      <a:endParaRPr sz="1000" u="none" cap="none" strike="noStrike"/>
                    </a:p>
                  </a:txBody>
                  <a:tcPr marT="19050" marB="19050" marR="28575" marL="28575"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extLst>
                      <a:ext uri="http://customooxmlschemas.google.com/">
                        <go:slidesCustomData xmlns:go="http://customooxmlschemas.google.com/" cellId="97:7:0"/>
                      </a:ext>
                    </a:extLst>
                  </a:tcPr>
                </a:tc>
                <a:tc>
                  <a:txBody>
                    <a:bodyPr/>
                    <a:lstStyle/>
                    <a:p>
                      <a:pPr indent="0" lvl="0" marL="0" marR="0" rtl="0" algn="l">
                        <a:lnSpc>
                          <a:spcPct val="115000"/>
                        </a:lnSpc>
                        <a:spcBef>
                          <a:spcPts val="0"/>
                        </a:spcBef>
                        <a:spcAft>
                          <a:spcPts val="0"/>
                        </a:spcAft>
                        <a:buClr>
                          <a:srgbClr val="000000"/>
                        </a:buClr>
                        <a:buSzPts val="1000"/>
                        <a:buFont typeface="Arial"/>
                        <a:buNone/>
                      </a:pPr>
                      <a:r>
                        <a:rPr lang="en" sz="1000" u="none" cap="none" strike="noStrike"/>
                        <a:t>Adafruit Mini GPS</a:t>
                      </a:r>
                      <a:endParaRPr sz="1000" u="none" cap="none" strike="noStrike"/>
                    </a:p>
                  </a:txBody>
                  <a:tcPr marT="19050" marB="19050" marR="28575" marL="28575"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extLst>
                      <a:ext uri="http://customooxmlschemas.google.com/">
                        <go:slidesCustomData xmlns:go="http://customooxmlschemas.google.com/" cellId="97:7:1"/>
                      </a:ext>
                    </a:extLst>
                  </a:tcPr>
                </a:tc>
                <a:tc>
                  <a:txBody>
                    <a:bodyPr/>
                    <a:lstStyle/>
                    <a:p>
                      <a:pPr indent="0" lvl="0" marL="0" marR="0" rtl="0" algn="ctr">
                        <a:lnSpc>
                          <a:spcPct val="115000"/>
                        </a:lnSpc>
                        <a:spcBef>
                          <a:spcPts val="0"/>
                        </a:spcBef>
                        <a:spcAft>
                          <a:spcPts val="0"/>
                        </a:spcAft>
                        <a:buClr>
                          <a:srgbClr val="000000"/>
                        </a:buClr>
                        <a:buSzPts val="1000"/>
                        <a:buFont typeface="Arial"/>
                        <a:buNone/>
                      </a:pPr>
                      <a:r>
                        <a:rPr lang="en" sz="1000" u="none" cap="none" strike="noStrike"/>
                        <a:t>1</a:t>
                      </a:r>
                      <a:endParaRPr sz="1000" u="none" cap="none" strike="noStrike"/>
                    </a:p>
                  </a:txBody>
                  <a:tcPr marT="19050" marB="19050" marR="28575" marL="28575"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extLst>
                      <a:ext uri="http://customooxmlschemas.google.com/">
                        <go:slidesCustomData xmlns:go="http://customooxmlschemas.google.com/" cellId="97:7:2"/>
                      </a:ext>
                    </a:extLst>
                  </a:tcPr>
                </a:tc>
                <a:tc>
                  <a:txBody>
                    <a:bodyPr/>
                    <a:lstStyle/>
                    <a:p>
                      <a:pPr indent="0" lvl="0" marL="0" marR="0" rtl="0" algn="ctr">
                        <a:lnSpc>
                          <a:spcPct val="115000"/>
                        </a:lnSpc>
                        <a:spcBef>
                          <a:spcPts val="0"/>
                        </a:spcBef>
                        <a:spcAft>
                          <a:spcPts val="0"/>
                        </a:spcAft>
                        <a:buClr>
                          <a:srgbClr val="000000"/>
                        </a:buClr>
                        <a:buSzPts val="1000"/>
                        <a:buFont typeface="Arial"/>
                        <a:buNone/>
                      </a:pPr>
                      <a:r>
                        <a:rPr lang="en" sz="1000" u="none" cap="none" strike="noStrike"/>
                        <a:t>$29.95</a:t>
                      </a:r>
                      <a:endParaRPr sz="1000" u="none" cap="none" strike="noStrike"/>
                    </a:p>
                  </a:txBody>
                  <a:tcPr marT="19050" marB="19050" marR="28575" marL="28575"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extLst>
                      <a:ext uri="http://customooxmlschemas.google.com/">
                        <go:slidesCustomData xmlns:go="http://customooxmlschemas.google.com/" cellId="97:7:3"/>
                      </a:ext>
                    </a:extLst>
                  </a:tcPr>
                </a:tc>
                <a:tc>
                  <a:txBody>
                    <a:bodyPr/>
                    <a:lstStyle/>
                    <a:p>
                      <a:pPr indent="0" lvl="0" marL="0" marR="0" rtl="0" algn="l">
                        <a:lnSpc>
                          <a:spcPct val="115000"/>
                        </a:lnSpc>
                        <a:spcBef>
                          <a:spcPts val="0"/>
                        </a:spcBef>
                        <a:spcAft>
                          <a:spcPts val="0"/>
                        </a:spcAft>
                        <a:buClr>
                          <a:srgbClr val="000000"/>
                        </a:buClr>
                        <a:buSzPts val="1000"/>
                        <a:buFont typeface="Arial"/>
                        <a:buNone/>
                      </a:pPr>
                      <a:r>
                        <a:rPr lang="en" sz="1000" u="none" cap="none" strike="noStrike"/>
                        <a:t>10Hz GPS module</a:t>
                      </a:r>
                      <a:endParaRPr sz="1000" u="none" cap="none" strike="noStrike"/>
                    </a:p>
                  </a:txBody>
                  <a:tcPr marT="19050" marB="19050" marR="28575" marL="28575"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extLst>
                      <a:ext uri="http://customooxmlschemas.google.com/">
                        <go:slidesCustomData xmlns:go="http://customooxmlschemas.google.com/" cellId="97:7:4"/>
                      </a:ext>
                    </a:extLst>
                  </a:tcPr>
                </a:tc>
              </a:tr>
              <a:tr h="200025">
                <a:tc>
                  <a:txBody>
                    <a:bodyPr/>
                    <a:lstStyle/>
                    <a:p>
                      <a:pPr indent="0" lvl="0" marL="0" marR="0" rtl="0" algn="l">
                        <a:lnSpc>
                          <a:spcPct val="115000"/>
                        </a:lnSpc>
                        <a:spcBef>
                          <a:spcPts val="0"/>
                        </a:spcBef>
                        <a:spcAft>
                          <a:spcPts val="0"/>
                        </a:spcAft>
                        <a:buClr>
                          <a:srgbClr val="000000"/>
                        </a:buClr>
                        <a:buSzPts val="1000"/>
                        <a:buFont typeface="Arial"/>
                        <a:buNone/>
                      </a:pPr>
                      <a:r>
                        <a:rPr lang="en" sz="1000" u="none" cap="none" strike="noStrike"/>
                        <a:t>LP785060</a:t>
                      </a:r>
                      <a:endParaRPr sz="1000" u="none" cap="none" strike="noStrike"/>
                    </a:p>
                  </a:txBody>
                  <a:tcPr marT="19050" marB="19050" marR="28575" marL="28575"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extLst>
                      <a:ext uri="http://customooxmlschemas.google.com/">
                        <go:slidesCustomData xmlns:go="http://customooxmlschemas.google.com/" cellId="97:8:0"/>
                      </a:ext>
                    </a:extLst>
                  </a:tcPr>
                </a:tc>
                <a:tc>
                  <a:txBody>
                    <a:bodyPr/>
                    <a:lstStyle/>
                    <a:p>
                      <a:pPr indent="0" lvl="0" marL="0" marR="0" rtl="0" algn="l">
                        <a:lnSpc>
                          <a:spcPct val="115000"/>
                        </a:lnSpc>
                        <a:spcBef>
                          <a:spcPts val="0"/>
                        </a:spcBef>
                        <a:spcAft>
                          <a:spcPts val="0"/>
                        </a:spcAft>
                        <a:buClr>
                          <a:srgbClr val="000000"/>
                        </a:buClr>
                        <a:buSzPts val="1000"/>
                        <a:buFont typeface="Arial"/>
                        <a:buNone/>
                      </a:pPr>
                      <a:r>
                        <a:rPr lang="en" sz="1000" u="none" cap="none" strike="noStrike"/>
                        <a:t>Lithium Ion Polymer Battery - 3.7v 2500mAh</a:t>
                      </a:r>
                      <a:endParaRPr sz="1000" u="none" cap="none" strike="noStrike"/>
                    </a:p>
                  </a:txBody>
                  <a:tcPr marT="19050" marB="19050" marR="28575" marL="28575"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extLst>
                      <a:ext uri="http://customooxmlschemas.google.com/">
                        <go:slidesCustomData xmlns:go="http://customooxmlschemas.google.com/" cellId="97:8:1"/>
                      </a:ext>
                    </a:extLst>
                  </a:tcPr>
                </a:tc>
                <a:tc>
                  <a:txBody>
                    <a:bodyPr/>
                    <a:lstStyle/>
                    <a:p>
                      <a:pPr indent="0" lvl="0" marL="0" marR="0" rtl="0" algn="ctr">
                        <a:lnSpc>
                          <a:spcPct val="115000"/>
                        </a:lnSpc>
                        <a:spcBef>
                          <a:spcPts val="0"/>
                        </a:spcBef>
                        <a:spcAft>
                          <a:spcPts val="0"/>
                        </a:spcAft>
                        <a:buClr>
                          <a:srgbClr val="000000"/>
                        </a:buClr>
                        <a:buSzPts val="1000"/>
                        <a:buFont typeface="Arial"/>
                        <a:buNone/>
                      </a:pPr>
                      <a:r>
                        <a:rPr lang="en" sz="1000" u="none" cap="none" strike="noStrike"/>
                        <a:t>1</a:t>
                      </a:r>
                      <a:endParaRPr sz="1000" u="none" cap="none" strike="noStrike"/>
                    </a:p>
                  </a:txBody>
                  <a:tcPr marT="19050" marB="19050" marR="28575" marL="28575"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extLst>
                      <a:ext uri="http://customooxmlschemas.google.com/">
                        <go:slidesCustomData xmlns:go="http://customooxmlschemas.google.com/" cellId="97:8:2"/>
                      </a:ext>
                    </a:extLst>
                  </a:tcPr>
                </a:tc>
                <a:tc>
                  <a:txBody>
                    <a:bodyPr/>
                    <a:lstStyle/>
                    <a:p>
                      <a:pPr indent="0" lvl="0" marL="0" marR="0" rtl="0" algn="ctr">
                        <a:lnSpc>
                          <a:spcPct val="115000"/>
                        </a:lnSpc>
                        <a:spcBef>
                          <a:spcPts val="0"/>
                        </a:spcBef>
                        <a:spcAft>
                          <a:spcPts val="0"/>
                        </a:spcAft>
                        <a:buClr>
                          <a:srgbClr val="000000"/>
                        </a:buClr>
                        <a:buSzPts val="1000"/>
                        <a:buFont typeface="Arial"/>
                        <a:buNone/>
                      </a:pPr>
                      <a:r>
                        <a:rPr lang="en" sz="1000" u="none" cap="none" strike="noStrike"/>
                        <a:t>$14.95</a:t>
                      </a:r>
                      <a:endParaRPr sz="1000" u="none" cap="none" strike="noStrike"/>
                    </a:p>
                  </a:txBody>
                  <a:tcPr marT="19050" marB="19050" marR="28575" marL="28575"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extLst>
                      <a:ext uri="http://customooxmlschemas.google.com/">
                        <go:slidesCustomData xmlns:go="http://customooxmlschemas.google.com/" cellId="97:8:3"/>
                      </a:ext>
                    </a:extLst>
                  </a:tcPr>
                </a:tc>
                <a:tc>
                  <a:txBody>
                    <a:bodyPr/>
                    <a:lstStyle/>
                    <a:p>
                      <a:pPr indent="0" lvl="0" marL="0" marR="0" rtl="0" algn="l">
                        <a:lnSpc>
                          <a:spcPct val="115000"/>
                        </a:lnSpc>
                        <a:spcBef>
                          <a:spcPts val="0"/>
                        </a:spcBef>
                        <a:spcAft>
                          <a:spcPts val="0"/>
                        </a:spcAft>
                        <a:buClr>
                          <a:srgbClr val="000000"/>
                        </a:buClr>
                        <a:buSzPts val="1000"/>
                        <a:buFont typeface="Arial"/>
                        <a:buNone/>
                      </a:pPr>
                      <a:r>
                        <a:rPr lang="en" sz="1000" u="none" cap="none" strike="noStrike"/>
                        <a:t>Power for Microcontrollers</a:t>
                      </a:r>
                      <a:endParaRPr sz="1000" u="none" cap="none" strike="noStrike"/>
                    </a:p>
                  </a:txBody>
                  <a:tcPr marT="19050" marB="19050" marR="28575" marL="28575"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extLst>
                      <a:ext uri="http://customooxmlschemas.google.com/">
                        <go:slidesCustomData xmlns:go="http://customooxmlschemas.google.com/" cellId="97:8:4"/>
                      </a:ext>
                    </a:extLst>
                  </a:tcPr>
                </a:tc>
              </a:tr>
              <a:tr h="251450">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19050" marB="19050" marR="28575" marL="28575"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extLst>
                      <a:ext uri="http://customooxmlschemas.google.com/">
                        <go:slidesCustomData xmlns:go="http://customooxmlschemas.google.com/" cellId="97:9:0"/>
                      </a:ext>
                    </a:extLst>
                  </a:tcPr>
                </a:tc>
                <a:tc>
                  <a:txBody>
                    <a:bodyPr/>
                    <a:lstStyle/>
                    <a:p>
                      <a:pPr indent="0" lvl="0" marL="0" marR="0" rtl="0" algn="l">
                        <a:lnSpc>
                          <a:spcPct val="115000"/>
                        </a:lnSpc>
                        <a:spcBef>
                          <a:spcPts val="0"/>
                        </a:spcBef>
                        <a:spcAft>
                          <a:spcPts val="0"/>
                        </a:spcAft>
                        <a:buClr>
                          <a:srgbClr val="000000"/>
                        </a:buClr>
                        <a:buSzPts val="1000"/>
                        <a:buFont typeface="Arial"/>
                        <a:buNone/>
                      </a:pPr>
                      <a:r>
                        <a:rPr lang="en" sz="1000" u="none" cap="none" strike="noStrike"/>
                        <a:t>Metal Crank Arm</a:t>
                      </a:r>
                      <a:endParaRPr sz="1000" u="none" cap="none" strike="noStrike"/>
                    </a:p>
                  </a:txBody>
                  <a:tcPr marT="19050" marB="19050" marR="28575" marL="28575"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FFFFFF"/>
                    </a:solidFill>
                    <a:extLst>
                      <a:ext uri="http://customooxmlschemas.google.com/">
                        <go:slidesCustomData xmlns:go="http://customooxmlschemas.google.com/" cellId="97:9:1"/>
                      </a:ext>
                    </a:extLst>
                  </a:tcPr>
                </a:tc>
                <a:tc>
                  <a:txBody>
                    <a:bodyPr/>
                    <a:lstStyle/>
                    <a:p>
                      <a:pPr indent="0" lvl="0" marL="0" marR="0" rtl="0" algn="ctr">
                        <a:lnSpc>
                          <a:spcPct val="115000"/>
                        </a:lnSpc>
                        <a:spcBef>
                          <a:spcPts val="0"/>
                        </a:spcBef>
                        <a:spcAft>
                          <a:spcPts val="0"/>
                        </a:spcAft>
                        <a:buClr>
                          <a:srgbClr val="000000"/>
                        </a:buClr>
                        <a:buSzPts val="1000"/>
                        <a:buFont typeface="Arial"/>
                        <a:buNone/>
                      </a:pPr>
                      <a:r>
                        <a:rPr lang="en" sz="1000" u="none" cap="none" strike="noStrike"/>
                        <a:t>1</a:t>
                      </a:r>
                      <a:endParaRPr sz="1000" u="none" cap="none" strike="noStrike"/>
                    </a:p>
                  </a:txBody>
                  <a:tcPr marT="19050" marB="19050" marR="28575" marL="28575"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FFFFFF"/>
                    </a:solidFill>
                    <a:extLst>
                      <a:ext uri="http://customooxmlschemas.google.com/">
                        <go:slidesCustomData xmlns:go="http://customooxmlschemas.google.com/" cellId="97:9:2"/>
                      </a:ext>
                    </a:extLst>
                  </a:tcPr>
                </a:tc>
                <a:tc>
                  <a:txBody>
                    <a:bodyPr/>
                    <a:lstStyle/>
                    <a:p>
                      <a:pPr indent="0" lvl="0" marL="0" marR="0" rtl="0" algn="ctr">
                        <a:lnSpc>
                          <a:spcPct val="115000"/>
                        </a:lnSpc>
                        <a:spcBef>
                          <a:spcPts val="0"/>
                        </a:spcBef>
                        <a:spcAft>
                          <a:spcPts val="0"/>
                        </a:spcAft>
                        <a:buClr>
                          <a:srgbClr val="000000"/>
                        </a:buClr>
                        <a:buSzPts val="1000"/>
                        <a:buFont typeface="Arial"/>
                        <a:buNone/>
                      </a:pPr>
                      <a:r>
                        <a:rPr lang="en" sz="1000" u="none" cap="none" strike="noStrike"/>
                        <a:t>$13.63</a:t>
                      </a:r>
                      <a:endParaRPr sz="1000" u="none" cap="none" strike="noStrike"/>
                    </a:p>
                  </a:txBody>
                  <a:tcPr marT="19050" marB="19050" marR="28575" marL="28575"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FFFFFF"/>
                    </a:solidFill>
                    <a:extLst>
                      <a:ext uri="http://customooxmlschemas.google.com/">
                        <go:slidesCustomData xmlns:go="http://customooxmlschemas.google.com/" cellId="97:9:3"/>
                      </a:ext>
                    </a:extLst>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19050" marB="19050" marR="28575" marL="28575"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FFFFFF"/>
                    </a:solidFill>
                    <a:extLst>
                      <a:ext uri="http://customooxmlschemas.google.com/">
                        <go:slidesCustomData xmlns:go="http://customooxmlschemas.google.com/" cellId="97:9:4"/>
                      </a:ext>
                    </a:extLst>
                  </a:tcPr>
                </a:tc>
              </a:tr>
              <a:tr h="200025">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19050" marB="19050" marR="28575" marL="28575"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extLst>
                      <a:ext uri="http://customooxmlschemas.google.com/">
                        <go:slidesCustomData xmlns:go="http://customooxmlschemas.google.com/" cellId="97:10:0"/>
                      </a:ext>
                    </a:extLst>
                  </a:tcPr>
                </a:tc>
                <a:tc>
                  <a:txBody>
                    <a:bodyPr/>
                    <a:lstStyle/>
                    <a:p>
                      <a:pPr indent="0" lvl="0" marL="0" marR="0" rtl="0" algn="l">
                        <a:lnSpc>
                          <a:spcPct val="115000"/>
                        </a:lnSpc>
                        <a:spcBef>
                          <a:spcPts val="0"/>
                        </a:spcBef>
                        <a:spcAft>
                          <a:spcPts val="0"/>
                        </a:spcAft>
                        <a:buClr>
                          <a:srgbClr val="000000"/>
                        </a:buClr>
                        <a:buSzPts val="1000"/>
                        <a:buFont typeface="Arial"/>
                        <a:buNone/>
                      </a:pPr>
                      <a:r>
                        <a:rPr lang="en" sz="1000" u="none" cap="none" strike="noStrike"/>
                        <a:t>Misc</a:t>
                      </a:r>
                      <a:endParaRPr sz="1000" u="none" cap="none" strike="noStrike"/>
                    </a:p>
                  </a:txBody>
                  <a:tcPr marT="19050" marB="19050" marR="28575" marL="28575"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FFFFFF"/>
                    </a:solidFill>
                    <a:extLst>
                      <a:ext uri="http://customooxmlschemas.google.com/">
                        <go:slidesCustomData xmlns:go="http://customooxmlschemas.google.com/" cellId="97:10:1"/>
                      </a:ext>
                    </a:extLst>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19050" marB="19050" marR="28575" marL="28575"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FFFFFF"/>
                    </a:solidFill>
                    <a:extLst>
                      <a:ext uri="http://customooxmlschemas.google.com/">
                        <go:slidesCustomData xmlns:go="http://customooxmlschemas.google.com/" cellId="97:10:2"/>
                      </a:ext>
                    </a:extLst>
                  </a:tcPr>
                </a:tc>
                <a:tc>
                  <a:txBody>
                    <a:bodyPr/>
                    <a:lstStyle/>
                    <a:p>
                      <a:pPr indent="0" lvl="0" marL="0" marR="0" rtl="0" algn="ctr">
                        <a:lnSpc>
                          <a:spcPct val="115000"/>
                        </a:lnSpc>
                        <a:spcBef>
                          <a:spcPts val="0"/>
                        </a:spcBef>
                        <a:spcAft>
                          <a:spcPts val="0"/>
                        </a:spcAft>
                        <a:buClr>
                          <a:srgbClr val="000000"/>
                        </a:buClr>
                        <a:buSzPts val="1000"/>
                        <a:buFont typeface="Arial"/>
                        <a:buNone/>
                      </a:pPr>
                      <a:r>
                        <a:rPr lang="en" sz="1000" u="none" cap="none" strike="noStrike"/>
                        <a:t>$87.69</a:t>
                      </a:r>
                      <a:endParaRPr sz="1000" u="none" cap="none" strike="noStrike"/>
                    </a:p>
                  </a:txBody>
                  <a:tcPr marT="19050" marB="19050" marR="28575" marL="28575"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FFFFFF"/>
                    </a:solidFill>
                    <a:extLst>
                      <a:ext uri="http://customooxmlschemas.google.com/">
                        <go:slidesCustomData xmlns:go="http://customooxmlschemas.google.com/" cellId="97:10:3"/>
                      </a:ext>
                    </a:extLst>
                  </a:tcPr>
                </a:tc>
                <a:tc>
                  <a:txBody>
                    <a:bodyPr/>
                    <a:lstStyle/>
                    <a:p>
                      <a:pPr indent="0" lvl="0" marL="0" marR="0" rtl="0" algn="l">
                        <a:lnSpc>
                          <a:spcPct val="115000"/>
                        </a:lnSpc>
                        <a:spcBef>
                          <a:spcPts val="0"/>
                        </a:spcBef>
                        <a:spcAft>
                          <a:spcPts val="0"/>
                        </a:spcAft>
                        <a:buClr>
                          <a:srgbClr val="000000"/>
                        </a:buClr>
                        <a:buSzPts val="1000"/>
                        <a:buFont typeface="Arial"/>
                        <a:buNone/>
                      </a:pPr>
                      <a:r>
                        <a:rPr lang="en" sz="1000" u="none" cap="none" strike="noStrike"/>
                        <a:t>Jumpers, Headers, Solder, additional strain gages, glue, catalyst, etc.</a:t>
                      </a:r>
                      <a:endParaRPr sz="1000" u="none" cap="none" strike="noStrike"/>
                    </a:p>
                  </a:txBody>
                  <a:tcPr marT="19050" marB="19050" marR="28575" marL="28575"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FFFFFF"/>
                    </a:solidFill>
                    <a:extLst>
                      <a:ext uri="http://customooxmlschemas.google.com/">
                        <go:slidesCustomData xmlns:go="http://customooxmlschemas.google.com/" cellId="97:10:4"/>
                      </a:ext>
                    </a:extLst>
                  </a:tcPr>
                </a:tc>
              </a:tr>
              <a:tr h="251450">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19050" marB="19050" marR="28575" marL="28575"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extLst>
                      <a:ext uri="http://customooxmlschemas.google.com/">
                        <go:slidesCustomData xmlns:go="http://customooxmlschemas.google.com/" cellId="97:11:0"/>
                      </a:ext>
                    </a:extLst>
                  </a:tcPr>
                </a:tc>
                <a:tc>
                  <a:txBody>
                    <a:bodyPr/>
                    <a:lstStyle/>
                    <a:p>
                      <a:pPr indent="0" lvl="0" marL="0" marR="0" rtl="0" algn="l">
                        <a:lnSpc>
                          <a:spcPct val="115000"/>
                        </a:lnSpc>
                        <a:spcBef>
                          <a:spcPts val="0"/>
                        </a:spcBef>
                        <a:spcAft>
                          <a:spcPts val="0"/>
                        </a:spcAft>
                        <a:buClr>
                          <a:srgbClr val="000000"/>
                        </a:buClr>
                        <a:buSzPts val="1000"/>
                        <a:buFont typeface="Arial"/>
                        <a:buNone/>
                      </a:pPr>
                      <a:r>
                        <a:rPr lang="en" sz="1000" u="none" cap="none" strike="noStrike"/>
                        <a:t>Shipping</a:t>
                      </a:r>
                      <a:endParaRPr sz="1000" u="none" cap="none" strike="noStrike"/>
                    </a:p>
                  </a:txBody>
                  <a:tcPr marT="19050" marB="19050" marR="28575" marL="28575"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extLst>
                      <a:ext uri="http://customooxmlschemas.google.com/">
                        <go:slidesCustomData xmlns:go="http://customooxmlschemas.google.com/" cellId="97:11:1"/>
                      </a:ext>
                    </a:extLst>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19050" marB="19050" marR="28575" marL="28575"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extLst>
                      <a:ext uri="http://customooxmlschemas.google.com/">
                        <go:slidesCustomData xmlns:go="http://customooxmlschemas.google.com/" cellId="97:11:2"/>
                      </a:ext>
                    </a:extLst>
                  </a:tcPr>
                </a:tc>
                <a:tc>
                  <a:txBody>
                    <a:bodyPr/>
                    <a:lstStyle/>
                    <a:p>
                      <a:pPr indent="0" lvl="0" marL="0" marR="0" rtl="0" algn="ctr">
                        <a:lnSpc>
                          <a:spcPct val="115000"/>
                        </a:lnSpc>
                        <a:spcBef>
                          <a:spcPts val="0"/>
                        </a:spcBef>
                        <a:spcAft>
                          <a:spcPts val="0"/>
                        </a:spcAft>
                        <a:buClr>
                          <a:srgbClr val="000000"/>
                        </a:buClr>
                        <a:buSzPts val="1000"/>
                        <a:buFont typeface="Arial"/>
                        <a:buNone/>
                      </a:pPr>
                      <a:r>
                        <a:rPr lang="en" sz="1000" u="none" cap="none" strike="noStrike"/>
                        <a:t>$35.99</a:t>
                      </a:r>
                      <a:endParaRPr sz="1000" u="none" cap="none" strike="noStrike"/>
                    </a:p>
                  </a:txBody>
                  <a:tcPr marT="19050" marB="19050" marR="28575" marL="28575"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extLst>
                      <a:ext uri="http://customooxmlschemas.google.com/">
                        <go:slidesCustomData xmlns:go="http://customooxmlschemas.google.com/" cellId="97:11:3"/>
                      </a:ext>
                    </a:extLst>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19050" marB="19050" marR="28575" marL="28575"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extLst>
                      <a:ext uri="http://customooxmlschemas.google.com/">
                        <go:slidesCustomData xmlns:go="http://customooxmlschemas.google.com/" cellId="97:11:4"/>
                      </a:ext>
                    </a:extLst>
                  </a:tcPr>
                </a:tc>
              </a:tr>
              <a:tr h="251450">
                <a:tc>
                  <a:txBody>
                    <a:bodyPr/>
                    <a:lstStyle/>
                    <a:p>
                      <a:pPr indent="0" lvl="0" marL="0" marR="0" rtl="0" algn="l">
                        <a:lnSpc>
                          <a:spcPct val="115000"/>
                        </a:lnSpc>
                        <a:spcBef>
                          <a:spcPts val="0"/>
                        </a:spcBef>
                        <a:spcAft>
                          <a:spcPts val="0"/>
                        </a:spcAft>
                        <a:buClr>
                          <a:srgbClr val="000000"/>
                        </a:buClr>
                        <a:buSzPts val="1000"/>
                        <a:buFont typeface="Arial"/>
                        <a:buNone/>
                      </a:pPr>
                      <a:r>
                        <a:rPr b="1" lang="en" sz="1000" u="none" cap="none" strike="noStrike"/>
                        <a:t>TOTAL</a:t>
                      </a:r>
                      <a:endParaRPr b="1" sz="1000" u="none" cap="none" strike="noStrike"/>
                    </a:p>
                  </a:txBody>
                  <a:tcPr marT="19050" marB="19050" marR="28575" marL="28575"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extLst>
                      <a:ext uri="http://customooxmlschemas.google.com/">
                        <go:slidesCustomData xmlns:go="http://customooxmlschemas.google.com/" cellId="97:12:0"/>
                      </a:ext>
                    </a:extLst>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19050" marB="19050" marR="28575" marL="28575"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extLst>
                      <a:ext uri="http://customooxmlschemas.google.com/">
                        <go:slidesCustomData xmlns:go="http://customooxmlschemas.google.com/" cellId="97:12:1"/>
                      </a:ext>
                    </a:extLst>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19050" marB="19050" marR="28575" marL="28575"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extLst>
                      <a:ext uri="http://customooxmlschemas.google.com/">
                        <go:slidesCustomData xmlns:go="http://customooxmlschemas.google.com/" cellId="97:12:2"/>
                      </a:ext>
                    </a:extLst>
                  </a:tcPr>
                </a:tc>
                <a:tc>
                  <a:txBody>
                    <a:bodyPr/>
                    <a:lstStyle/>
                    <a:p>
                      <a:pPr indent="0" lvl="0" marL="0" marR="0" rtl="0" algn="ctr">
                        <a:lnSpc>
                          <a:spcPct val="115000"/>
                        </a:lnSpc>
                        <a:spcBef>
                          <a:spcPts val="0"/>
                        </a:spcBef>
                        <a:spcAft>
                          <a:spcPts val="0"/>
                        </a:spcAft>
                        <a:buClr>
                          <a:srgbClr val="000000"/>
                        </a:buClr>
                        <a:buSzPts val="1000"/>
                        <a:buFont typeface="Arial"/>
                        <a:buNone/>
                      </a:pPr>
                      <a:r>
                        <a:rPr lang="en" sz="1000" u="none" cap="none" strike="noStrike"/>
                        <a:t>$294.90</a:t>
                      </a:r>
                      <a:endParaRPr sz="1000" u="none" cap="none" strike="noStrike"/>
                    </a:p>
                  </a:txBody>
                  <a:tcPr marT="19050" marB="19050" marR="28575" marL="28575"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extLst>
                      <a:ext uri="http://customooxmlschemas.google.com/">
                        <go:slidesCustomData xmlns:go="http://customooxmlschemas.google.com/" cellId="97:12:3"/>
                      </a:ext>
                    </a:extLst>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19050" marB="19050" marR="28575" marL="28575"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extLst>
                      <a:ext uri="http://customooxmlschemas.google.com/">
                        <go:slidesCustomData xmlns:go="http://customooxmlschemas.google.com/" cellId="97:12:4"/>
                      </a:ext>
                    </a:extLst>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ga715356b46_0_10"/>
          <p:cNvSpPr txBox="1"/>
          <p:nvPr>
            <p:ph type="title"/>
          </p:nvPr>
        </p:nvSpPr>
        <p:spPr>
          <a:xfrm>
            <a:off x="339700" y="27707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latin typeface="Calibri"/>
                <a:ea typeface="Calibri"/>
                <a:cs typeface="Calibri"/>
                <a:sym typeface="Calibri"/>
              </a:rPr>
              <a:t>BLOCK DIAGRAM</a:t>
            </a:r>
            <a:endParaRPr>
              <a:latin typeface="Calibri"/>
              <a:ea typeface="Calibri"/>
              <a:cs typeface="Calibri"/>
              <a:sym typeface="Calibri"/>
            </a:endParaRPr>
          </a:p>
        </p:txBody>
      </p:sp>
      <p:pic>
        <p:nvPicPr>
          <p:cNvPr id="103" name="Google Shape;103;ga715356b46_0_10"/>
          <p:cNvPicPr preferRelativeResize="0"/>
          <p:nvPr/>
        </p:nvPicPr>
        <p:blipFill rotWithShape="1">
          <a:blip r:embed="rId3">
            <a:alphaModFix/>
          </a:blip>
          <a:srcRect b="0" l="0" r="0" t="0"/>
          <a:stretch/>
        </p:blipFill>
        <p:spPr>
          <a:xfrm>
            <a:off x="1751072" y="1017725"/>
            <a:ext cx="5641851" cy="3911151"/>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gba8d29d8b3_0_15"/>
          <p:cNvSpPr txBox="1"/>
          <p:nvPr/>
        </p:nvSpPr>
        <p:spPr>
          <a:xfrm>
            <a:off x="2371050" y="448475"/>
            <a:ext cx="4401900" cy="400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lang="en"/>
              <a:t>Companion Mobile Application Demonstration</a:t>
            </a:r>
            <a:endParaRPr b="0" i="0" sz="1400" u="none" cap="none" strike="noStrike">
              <a:solidFill>
                <a:srgbClr val="000000"/>
              </a:solidFill>
              <a:latin typeface="Arial"/>
              <a:ea typeface="Arial"/>
              <a:cs typeface="Arial"/>
              <a:sym typeface="Arial"/>
            </a:endParaRPr>
          </a:p>
        </p:txBody>
      </p:sp>
      <p:pic>
        <p:nvPicPr>
          <p:cNvPr id="109" name="Google Shape;109;gba8d29d8b3_0_15" title="CST Android Demo 2">
            <a:hlinkClick r:id="rId3"/>
          </p:cNvPr>
          <p:cNvPicPr preferRelativeResize="0"/>
          <p:nvPr/>
        </p:nvPicPr>
        <p:blipFill>
          <a:blip r:embed="rId4">
            <a:alphaModFix/>
          </a:blip>
          <a:stretch>
            <a:fillRect/>
          </a:stretch>
        </p:blipFill>
        <p:spPr>
          <a:xfrm>
            <a:off x="2286000" y="857250"/>
            <a:ext cx="4572000" cy="34290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9"/>
                                        </p:tgtEl>
                                        <p:attrNameLst>
                                          <p:attrName>style.visibility</p:attrName>
                                        </p:attrNameLst>
                                      </p:cBhvr>
                                      <p:to>
                                        <p:strVal val="visible"/>
                                      </p:to>
                                    </p:set>
                                    <p:animEffect filter="fade" transition="in">
                                      <p:cBhvr>
                                        <p:cTn dur="1000"/>
                                        <p:tgtEl>
                                          <p:spTgt spid="10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gba8d29d8b3_0_24"/>
          <p:cNvSpPr txBox="1"/>
          <p:nvPr/>
        </p:nvSpPr>
        <p:spPr>
          <a:xfrm>
            <a:off x="2371050" y="457050"/>
            <a:ext cx="4401900" cy="400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Hardware Demonstration</a:t>
            </a:r>
            <a:endParaRPr b="0" i="0" sz="1400" u="none" cap="none" strike="noStrike">
              <a:solidFill>
                <a:srgbClr val="000000"/>
              </a:solidFill>
              <a:latin typeface="Arial"/>
              <a:ea typeface="Arial"/>
              <a:cs typeface="Arial"/>
              <a:sym typeface="Arial"/>
            </a:endParaRPr>
          </a:p>
        </p:txBody>
      </p:sp>
      <p:pic>
        <p:nvPicPr>
          <p:cNvPr id="115" name="Google Shape;115;gba8d29d8b3_0_24" title="March 2, 2021">
            <a:hlinkClick r:id="rId3"/>
          </p:cNvPr>
          <p:cNvPicPr preferRelativeResize="0"/>
          <p:nvPr/>
        </p:nvPicPr>
        <p:blipFill>
          <a:blip r:embed="rId4">
            <a:alphaModFix/>
          </a:blip>
          <a:stretch>
            <a:fillRect/>
          </a:stretch>
        </p:blipFill>
        <p:spPr>
          <a:xfrm>
            <a:off x="2286000" y="1192275"/>
            <a:ext cx="4572000" cy="34290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5"/>
                                        </p:tgtEl>
                                        <p:attrNameLst>
                                          <p:attrName>style.visibility</p:attrName>
                                        </p:attrNameLst>
                                      </p:cBhvr>
                                      <p:to>
                                        <p:strVal val="visible"/>
                                      </p:to>
                                    </p:set>
                                    <p:animEffect filter="fade" transition="in">
                                      <p:cBhvr>
                                        <p:cTn dur="1000"/>
                                        <p:tgtEl>
                                          <p:spTgt spid="11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8"/>
          <p:cNvSpPr txBox="1"/>
          <p:nvPr>
            <p:ph type="title"/>
          </p:nvPr>
        </p:nvSpPr>
        <p:spPr>
          <a:xfrm>
            <a:off x="311700" y="29587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latin typeface="Calibri"/>
                <a:ea typeface="Calibri"/>
                <a:cs typeface="Calibri"/>
                <a:sym typeface="Calibri"/>
              </a:rPr>
              <a:t>QUESTIONS?</a:t>
            </a:r>
            <a:endParaRPr>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