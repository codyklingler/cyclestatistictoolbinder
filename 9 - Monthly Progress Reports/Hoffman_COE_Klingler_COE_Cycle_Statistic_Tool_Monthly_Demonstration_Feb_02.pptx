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http://customooxmlschemas.google.com/">
      <go:slidesCustomData xmlns:go="http://customooxmlschemas.google.com/" r:id="rId20" roundtripDataSignature="AMtx7mirEE6hyltknHWXar77ic71yEQ5c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AAAC6C-4B21-44F0-BAA2-5586A30B040A}">
  <a:tblStyle styleId="{A8AAAC6C-4B21-44F0-BAA2-5586A30B040A}" styleName="Table_0">
    <a:wholeTbl>
      <a:tcTxStyle>
        <a:font>
          <a:latin typeface="Arial"/>
          <a:ea typeface="Arial"/>
          <a:cs typeface="Arial"/>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5EE0FAF6-2CEC-4343-86C5-C92C91FE5FB4}"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 name="Google Shape;58;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Cycle Statistic Tool is a data recording device which will be attached to the frame of a bicycle. In this position, several electronic components may be used to record statistics about a user’s cycling trip. The Cycle Statistic Tool will transmit data to a companion application that is installed on a user’s smartphone. This application will utilize the collected information to provide records of a user’s cycling sessions in the form of graphs and charts that enable the user to improve their cycling skills.</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 name="Google Shape;64;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figure depicts a general layout of the components of the Cycle Statistic Tool. The primary microcontroller and display will be attached to the main frame of the bicycle within the line of sight of the user. The anemometer and wind angle fin will be mounted in an unrestricted location at the front of the cycle. The secondary microcontroller is mounted on the pedal shaft to inhibit any physical tethering between the pedals and the frame, which would interfere with pedaling. </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a8d29d8b3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ba8d29d8b3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a8d29d8b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a8d29d8b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a79ffe57d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a79ffe57d7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completed tasks for the Cycle Statistic Tool are shown. The expected and actual time for each task is displayed. Currently, these tasks consist of research and design of the product. We will continue to research components and bluetooth as the project continues. </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a79ffe57d7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a79ffe57d7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100"/>
              <a:buNone/>
            </a:pPr>
            <a:r>
              <a:rPr lang="en" sz="900">
                <a:solidFill>
                  <a:schemeClr val="dk1"/>
                </a:solidFill>
              </a:rPr>
              <a:t>The uncompleted tasks for the project are shown. The list of tasks that are to be completed represent the task division that will be finished over the course of the next four months. The majority of these tasks consist of further research and development, ordering parts, building the Cycle Statistic Tool, Developing the companion application, and testing and debugging. I will now pass the presentation over to Cody to discuss the work breakdown structure, network diagram, and Gantt chart.</a:t>
            </a:r>
            <a:endParaRPr sz="900">
              <a:solidFill>
                <a:schemeClr val="dk1"/>
              </a:solidFill>
            </a:endParaRPr>
          </a:p>
          <a:p>
            <a:pPr indent="0" lvl="0" marL="0" rtl="0" algn="l">
              <a:lnSpc>
                <a:spcPct val="115000"/>
              </a:lnSpc>
              <a:spcBef>
                <a:spcPts val="0"/>
              </a:spcBef>
              <a:spcAft>
                <a:spcPts val="0"/>
              </a:spcAft>
              <a:buClr>
                <a:schemeClr val="dk1"/>
              </a:buClr>
              <a:buSzPts val="1100"/>
              <a:buFont typeface="Arial"/>
              <a:buNone/>
            </a:pPr>
            <a:r>
              <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a79ffe57d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a79ffe57d7_0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This Gantt Chart was created from the network diagram that you saw from before. It is used to create timeline for when each task should be completed to stay on course with our deadline. In this chart the critical path is highlighted in red.</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a79ffe57d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ga79ffe57d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bill of materials for the final design are displayed. For each component purchased, we have listed the part number, product name, quantity, cost per unit, description, and any applicable standards. Some parts have still not been finalized, such as the stabilizer and motor for the anemometer. This is because we already have some parts that could be used for the project, first they need to be tested for efficacy.</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a715356b4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ga715356b46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900">
                <a:solidFill>
                  <a:schemeClr val="dk1"/>
                </a:solidFill>
              </a:rPr>
              <a:t>The block diagram of the cycle statistic tool represent the two microcontrollers used in our design and the system of components connected to each. The primary microcontroller will be used as the primary board to connect all sensors and for operation of the device. The secondary microcontroller will be attached to the pedal shaft to wirelessly relay data from this position to the primary board. The block diagram depicts each component connected to the respective microcontroller and the component’s method of transmission. The block diagram is a necessary prelude to the more detailed design schematics of the product.</a:t>
            </a:r>
            <a:endParaRPr sz="900">
              <a:solidFill>
                <a:schemeClr val="dk1"/>
              </a:solidFill>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ba8d29d8b3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ba8d29d8b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ba8d29d8b3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ba8d29d8b3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Now id like to open up our presentation for any questions the audience may have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1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1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 name="Shape 17"/>
        <p:cNvGrpSpPr/>
        <p:nvPr/>
      </p:nvGrpSpPr>
      <p:grpSpPr>
        <a:xfrm>
          <a:off x="0" y="0"/>
          <a:ext cx="0" cy="0"/>
          <a:chOff x="0" y="0"/>
          <a:chExt cx="0" cy="0"/>
        </a:xfrm>
      </p:grpSpPr>
      <p:sp>
        <p:nvSpPr>
          <p:cNvPr id="18" name="Google Shape;1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 name="Shape 19"/>
        <p:cNvGrpSpPr/>
        <p:nvPr/>
      </p:nvGrpSpPr>
      <p:grpSpPr>
        <a:xfrm>
          <a:off x="0" y="0"/>
          <a:ext cx="0" cy="0"/>
          <a:chOff x="0" y="0"/>
          <a:chExt cx="0" cy="0"/>
        </a:xfrm>
      </p:grpSpPr>
      <p:sp>
        <p:nvSpPr>
          <p:cNvPr id="20" name="Google Shape;20;p13"/>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1" name="Google Shape;21;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2" name="Shape 22"/>
        <p:cNvGrpSpPr/>
        <p:nvPr/>
      </p:nvGrpSpPr>
      <p:grpSpPr>
        <a:xfrm>
          <a:off x="0" y="0"/>
          <a:ext cx="0" cy="0"/>
          <a:chOff x="0" y="0"/>
          <a:chExt cx="0" cy="0"/>
        </a:xfrm>
      </p:grpSpPr>
      <p:sp>
        <p:nvSpPr>
          <p:cNvPr id="23" name="Google Shape;23;p1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4" name="Google Shape;24;p14"/>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5" name="Google Shape;25;p14"/>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6" name="Google Shape;26;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7" name="Shape 27"/>
        <p:cNvGrpSpPr/>
        <p:nvPr/>
      </p:nvGrpSpPr>
      <p:grpSpPr>
        <a:xfrm>
          <a:off x="0" y="0"/>
          <a:ext cx="0" cy="0"/>
          <a:chOff x="0" y="0"/>
          <a:chExt cx="0" cy="0"/>
        </a:xfrm>
      </p:grpSpPr>
      <p:sp>
        <p:nvSpPr>
          <p:cNvPr id="28" name="Google Shape;28;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0" name="Shape 30"/>
        <p:cNvGrpSpPr/>
        <p:nvPr/>
      </p:nvGrpSpPr>
      <p:grpSpPr>
        <a:xfrm>
          <a:off x="0" y="0"/>
          <a:ext cx="0" cy="0"/>
          <a:chOff x="0" y="0"/>
          <a:chExt cx="0" cy="0"/>
        </a:xfrm>
      </p:grpSpPr>
      <p:sp>
        <p:nvSpPr>
          <p:cNvPr id="31" name="Google Shape;31;p16"/>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2" name="Google Shape;32;p16"/>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3" name="Google Shape;3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4" name="Shape 34"/>
        <p:cNvGrpSpPr/>
        <p:nvPr/>
      </p:nvGrpSpPr>
      <p:grpSpPr>
        <a:xfrm>
          <a:off x="0" y="0"/>
          <a:ext cx="0" cy="0"/>
          <a:chOff x="0" y="0"/>
          <a:chExt cx="0" cy="0"/>
        </a:xfrm>
      </p:grpSpPr>
      <p:sp>
        <p:nvSpPr>
          <p:cNvPr id="35" name="Google Shape;35;p1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6" name="Google Shape;3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 name="Shape 37"/>
        <p:cNvGrpSpPr/>
        <p:nvPr/>
      </p:nvGrpSpPr>
      <p:grpSpPr>
        <a:xfrm>
          <a:off x="0" y="0"/>
          <a:ext cx="0" cy="0"/>
          <a:chOff x="0" y="0"/>
          <a:chExt cx="0" cy="0"/>
        </a:xfrm>
      </p:grpSpPr>
      <p:sp>
        <p:nvSpPr>
          <p:cNvPr id="38" name="Google Shape;38;p18"/>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18"/>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0" name="Google Shape;40;p18"/>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1" name="Google Shape;41;p18"/>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2" name="Google Shape;4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9"/>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5" name="Google Shape;4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20"/>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20"/>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9" name="Google Shape;49;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altcodeunicode.com/cubed-alt-cod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hyperlink" Target="http://www.youtube.com/watch?v=oSQTDCV-lng" TargetMode="External"/><Relationship Id="rId4" Type="http://schemas.openxmlformats.org/officeDocument/2006/relationships/image" Target="../media/image6.jpg"/><Relationship Id="rId5" Type="http://schemas.openxmlformats.org/officeDocument/2006/relationships/hyperlink" Target="http://www.youtube.com/watch?v=FxcIVOBsCE8" TargetMode="External"/><Relationship Id="rId6"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youtube.com/watch?v=DjUEWUpqT9Y" TargetMode="External"/><Relationship Id="rId4" Type="http://schemas.openxmlformats.org/officeDocument/2006/relationships/image" Target="../media/image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p>
            <a:pPr indent="0" lvl="0" marL="0" rtl="0" algn="ctr">
              <a:lnSpc>
                <a:spcPct val="100000"/>
              </a:lnSpc>
              <a:spcBef>
                <a:spcPts val="0"/>
              </a:spcBef>
              <a:spcAft>
                <a:spcPts val="0"/>
              </a:spcAft>
              <a:buSzPts val="5200"/>
              <a:buNone/>
            </a:pPr>
            <a:r>
              <a:rPr lang="en">
                <a:latin typeface="Calibri"/>
                <a:ea typeface="Calibri"/>
                <a:cs typeface="Calibri"/>
                <a:sym typeface="Calibri"/>
              </a:rPr>
              <a:t>Cycle Statistic Tool</a:t>
            </a:r>
            <a:endParaRPr>
              <a:latin typeface="Calibri"/>
              <a:ea typeface="Calibri"/>
              <a:cs typeface="Calibri"/>
              <a:sym typeface="Calibri"/>
            </a:endParaRPr>
          </a:p>
        </p:txBody>
      </p:sp>
      <p:sp>
        <p:nvSpPr>
          <p:cNvPr id="55" name="Google Shape;55;p1"/>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a:latin typeface="Calibri"/>
                <a:ea typeface="Calibri"/>
                <a:cs typeface="Calibri"/>
                <a:sym typeface="Calibri"/>
              </a:rPr>
              <a:t>Cody Klingler &amp; Jacob Hoffman</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3"/>
          <p:cNvSpPr txBox="1"/>
          <p:nvPr>
            <p:ph type="title"/>
          </p:nvPr>
        </p:nvSpPr>
        <p:spPr>
          <a:xfrm>
            <a:off x="346700" y="277050"/>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ENGINEERING SOLUTION</a:t>
            </a:r>
            <a:endParaRPr>
              <a:latin typeface="Calibri"/>
              <a:ea typeface="Calibri"/>
              <a:cs typeface="Calibri"/>
              <a:sym typeface="Calibri"/>
            </a:endParaRPr>
          </a:p>
        </p:txBody>
      </p:sp>
      <p:sp>
        <p:nvSpPr>
          <p:cNvPr id="61" name="Google Shape;61;p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lang="en">
                <a:latin typeface="Calibri"/>
                <a:ea typeface="Calibri"/>
                <a:cs typeface="Calibri"/>
                <a:sym typeface="Calibri"/>
              </a:rPr>
              <a:t>Sensors and components may be used to create a device designed to provide a large collection of cycling data.</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Attaching sensors and components directly to the bicycle allows for more specific cycling data to be measured.</a:t>
            </a:r>
            <a:endParaRPr>
              <a:latin typeface="Calibri"/>
              <a:ea typeface="Calibri"/>
              <a:cs typeface="Calibri"/>
              <a:sym typeface="Calibri"/>
            </a:endParaRPr>
          </a:p>
          <a:p>
            <a:pPr indent="0" lvl="0" marL="0" rtl="0" algn="l">
              <a:lnSpc>
                <a:spcPct val="115000"/>
              </a:lnSpc>
              <a:spcBef>
                <a:spcPts val="1600"/>
              </a:spcBef>
              <a:spcAft>
                <a:spcPts val="0"/>
              </a:spcAft>
              <a:buSzPts val="1800"/>
              <a:buNone/>
            </a:pPr>
            <a:r>
              <a:rPr lang="en">
                <a:latin typeface="Calibri"/>
                <a:ea typeface="Calibri"/>
                <a:cs typeface="Calibri"/>
                <a:sym typeface="Calibri"/>
              </a:rPr>
              <a:t>Transmitting cycling data to a companion application will provide record of each cycling session for use in improving a user’s cycling skills.</a:t>
            </a:r>
            <a:endParaRPr>
              <a:latin typeface="Calibri"/>
              <a:ea typeface="Calibri"/>
              <a:cs typeface="Calibri"/>
              <a:sym typeface="Calibri"/>
            </a:endParaRPr>
          </a:p>
          <a:p>
            <a:pPr indent="0" lvl="0" marL="0" rtl="0" algn="l">
              <a:lnSpc>
                <a:spcPct val="115000"/>
              </a:lnSpc>
              <a:spcBef>
                <a:spcPts val="1600"/>
              </a:spcBef>
              <a:spcAft>
                <a:spcPts val="1600"/>
              </a:spcAft>
              <a:buSzPts val="1800"/>
              <a:buNone/>
            </a:pPr>
            <a:r>
              <a:t/>
            </a:r>
            <a:endParaRPr>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pic>
        <p:nvPicPr>
          <p:cNvPr id="66" name="Google Shape;66;p5"/>
          <p:cNvPicPr preferRelativeResize="0"/>
          <p:nvPr/>
        </p:nvPicPr>
        <p:blipFill rotWithShape="1">
          <a:blip r:embed="rId3">
            <a:alphaModFix/>
          </a:blip>
          <a:srcRect b="0" l="0" r="0" t="0"/>
          <a:stretch/>
        </p:blipFill>
        <p:spPr>
          <a:xfrm>
            <a:off x="350813" y="68250"/>
            <a:ext cx="8442375" cy="5006999"/>
          </a:xfrm>
          <a:prstGeom prst="rect">
            <a:avLst/>
          </a:prstGeom>
          <a:noFill/>
          <a:ln>
            <a:noFill/>
          </a:ln>
        </p:spPr>
      </p:pic>
      <p:sp>
        <p:nvSpPr>
          <p:cNvPr id="67" name="Google Shape;67;p5"/>
          <p:cNvSpPr txBox="1"/>
          <p:nvPr>
            <p:ph idx="4294967295" type="title"/>
          </p:nvPr>
        </p:nvSpPr>
        <p:spPr>
          <a:xfrm>
            <a:off x="592675" y="276950"/>
            <a:ext cx="1666500" cy="535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FINAL DESIGN</a:t>
            </a:r>
            <a:endParaRPr>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gba8d29d8b3_0_10"/>
          <p:cNvSpPr txBox="1"/>
          <p:nvPr/>
        </p:nvSpPr>
        <p:spPr>
          <a:xfrm>
            <a:off x="-125" y="277075"/>
            <a:ext cx="914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rgbClr val="000000"/>
                </a:solidFill>
                <a:latin typeface="Calibri"/>
                <a:ea typeface="Calibri"/>
                <a:cs typeface="Calibri"/>
                <a:sym typeface="Calibri"/>
              </a:rPr>
              <a:t>ENGINEERING SPECIFICATIONS &amp; FUNCTIONAL REQUIREME</a:t>
            </a:r>
            <a:r>
              <a:rPr lang="en" sz="2700">
                <a:latin typeface="Calibri"/>
                <a:ea typeface="Calibri"/>
                <a:cs typeface="Calibri"/>
                <a:sym typeface="Calibri"/>
              </a:rPr>
              <a:t>N</a:t>
            </a:r>
            <a:r>
              <a:rPr lang="en" sz="2700">
                <a:solidFill>
                  <a:srgbClr val="000000"/>
                </a:solidFill>
                <a:latin typeface="Calibri"/>
                <a:ea typeface="Calibri"/>
                <a:cs typeface="Calibri"/>
                <a:sym typeface="Calibri"/>
              </a:rPr>
              <a:t>TS</a:t>
            </a:r>
            <a:endParaRPr sz="2700">
              <a:solidFill>
                <a:srgbClr val="000000"/>
              </a:solidFill>
              <a:latin typeface="Calibri"/>
              <a:ea typeface="Calibri"/>
              <a:cs typeface="Calibri"/>
              <a:sym typeface="Calibri"/>
            </a:endParaRPr>
          </a:p>
        </p:txBody>
      </p:sp>
      <p:graphicFrame>
        <p:nvGraphicFramePr>
          <p:cNvPr id="73" name="Google Shape;73;gba8d29d8b3_0_10"/>
          <p:cNvGraphicFramePr/>
          <p:nvPr/>
        </p:nvGraphicFramePr>
        <p:xfrm>
          <a:off x="1709738" y="933175"/>
          <a:ext cx="3000000" cy="3000000"/>
        </p:xfrm>
        <a:graphic>
          <a:graphicData uri="http://schemas.openxmlformats.org/drawingml/2006/table">
            <a:tbl>
              <a:tblPr>
                <a:noFill/>
                <a:tableStyleId>{A8AAAC6C-4B21-44F0-BAA2-5586A30B040A}</a:tableStyleId>
              </a:tblPr>
              <a:tblGrid>
                <a:gridCol w="3019425"/>
                <a:gridCol w="447675"/>
                <a:gridCol w="800100"/>
                <a:gridCol w="600075"/>
                <a:gridCol w="857250"/>
              </a:tblGrid>
              <a:tr h="127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Engineering Specification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Unit</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Direction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Target</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Threshold</a:t>
                      </a:r>
                      <a:endParaRPr b="1" sz="1300">
                        <a:latin typeface="Times New Roman"/>
                        <a:ea typeface="Times New Roman"/>
                        <a:cs typeface="Times New Roman"/>
                        <a:sym typeface="Times New Roman"/>
                      </a:endParaRPr>
                    </a:p>
                  </a:txBody>
                  <a:tcPr marT="63500" marB="63500" marR="63500" marL="63500"/>
                </a:tc>
              </a:tr>
              <a:tr h="31435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Size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Ease of use</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m</a:t>
                      </a:r>
                      <a:r>
                        <a:rPr lang="en" sz="1200">
                          <a:solidFill>
                            <a:srgbClr val="660099"/>
                          </a:solidFill>
                          <a:uFill>
                            <a:noFill/>
                          </a:uFill>
                          <a:latin typeface="Times New Roman"/>
                          <a:ea typeface="Times New Roman"/>
                          <a:cs typeface="Times New Roman"/>
                          <a:sym typeface="Times New Roman"/>
                          <a:hlinkClick r:id="rId3">
                            <a:extLst>
                              <a:ext uri="{A12FA001-AC4F-418D-AE19-62706E023703}">
                                <ahyp:hlinkClr val="tx"/>
                              </a:ext>
                            </a:extLst>
                          </a:hlinkClick>
                        </a:rPr>
                        <a:t>³</a:t>
                      </a:r>
                      <a:endParaRPr sz="9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Overall Accuracy of Sensors</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Accuracy of measurements</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Price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Battery life</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90</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80</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Accuracy of Power Metric</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Accuracy of measurements</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Price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Battery life</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90</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75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Accuracy of Speed Metric</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Accuracy of measurements</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Price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Battery life</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95</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85</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Cost of Materials</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Accuracy of Measurements</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Price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Battery life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Durability</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500</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700</a:t>
                      </a:r>
                      <a:endParaRPr sz="1200">
                        <a:latin typeface="Times New Roman"/>
                        <a:ea typeface="Times New Roman"/>
                        <a:cs typeface="Times New Roman"/>
                        <a:sym typeface="Times New Roman"/>
                      </a:endParaRPr>
                    </a:p>
                  </a:txBody>
                  <a:tcPr marT="63500" marB="63500" marR="63500" marL="63500"/>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graphicFrame>
        <p:nvGraphicFramePr>
          <p:cNvPr id="78" name="Google Shape;78;gba8d29d8b3_0_5"/>
          <p:cNvGraphicFramePr/>
          <p:nvPr/>
        </p:nvGraphicFramePr>
        <p:xfrm>
          <a:off x="1709600" y="933200"/>
          <a:ext cx="3000000" cy="3000000"/>
        </p:xfrm>
        <a:graphic>
          <a:graphicData uri="http://schemas.openxmlformats.org/drawingml/2006/table">
            <a:tbl>
              <a:tblPr>
                <a:noFill/>
                <a:tableStyleId>{A8AAAC6C-4B21-44F0-BAA2-5586A30B040A}</a:tableStyleId>
              </a:tblPr>
              <a:tblGrid>
                <a:gridCol w="3019425"/>
                <a:gridCol w="447675"/>
                <a:gridCol w="800100"/>
                <a:gridCol w="600075"/>
                <a:gridCol w="857250"/>
              </a:tblGrid>
              <a:tr h="12700">
                <a:tc>
                  <a:txBody>
                    <a:bodyPr/>
                    <a:lstStyle/>
                    <a:p>
                      <a:pPr indent="0" lvl="0" marL="0" rtl="0" algn="l">
                        <a:spcBef>
                          <a:spcPts val="0"/>
                        </a:spcBef>
                        <a:spcAft>
                          <a:spcPts val="0"/>
                        </a:spcAft>
                        <a:buNone/>
                      </a:pPr>
                      <a:r>
                        <a:rPr b="1" lang="en" sz="1300">
                          <a:latin typeface="Times New Roman"/>
                          <a:ea typeface="Times New Roman"/>
                          <a:cs typeface="Times New Roman"/>
                          <a:sym typeface="Times New Roman"/>
                        </a:rPr>
                        <a:t>Engineering Specification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Unit</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Direction</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Target</a:t>
                      </a:r>
                      <a:endParaRPr b="1" sz="13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b="1" lang="en" sz="1300">
                          <a:latin typeface="Times New Roman"/>
                          <a:ea typeface="Times New Roman"/>
                          <a:cs typeface="Times New Roman"/>
                          <a:sym typeface="Times New Roman"/>
                        </a:rPr>
                        <a:t>Threshold</a:t>
                      </a:r>
                      <a:endParaRPr b="1" sz="13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Battery Life</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Price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Battery life</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hr</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12</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Lifespan</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Weatherproof</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Durability</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mo</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24</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12</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Time to View Metrics in App</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Statistic utilities in app</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s</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Setup Steps Before Use</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Attaches universally</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Ease of use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Ease of setup</a:t>
                      </a:r>
                      <a:endParaRPr i="1"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6</a:t>
                      </a:r>
                      <a:endParaRPr sz="1200">
                        <a:latin typeface="Times New Roman"/>
                        <a:ea typeface="Times New Roman"/>
                        <a:cs typeface="Times New Roman"/>
                        <a:sym typeface="Times New Roman"/>
                      </a:endParaRPr>
                    </a:p>
                  </a:txBody>
                  <a:tcPr marT="63500" marB="63500" marR="63500" marL="63500"/>
                </a:tc>
              </a:tr>
              <a:tr h="12700">
                <a:tc>
                  <a:txBody>
                    <a:bodyPr/>
                    <a:lstStyle/>
                    <a:p>
                      <a:pPr indent="0" lvl="0" marL="0" rtl="0" algn="l">
                        <a:spcBef>
                          <a:spcPts val="0"/>
                        </a:spcBef>
                        <a:spcAft>
                          <a:spcPts val="0"/>
                        </a:spcAft>
                        <a:buNone/>
                      </a:pPr>
                      <a:r>
                        <a:rPr lang="en" sz="1200">
                          <a:latin typeface="Times New Roman"/>
                          <a:ea typeface="Times New Roman"/>
                          <a:cs typeface="Times New Roman"/>
                          <a:sym typeface="Times New Roman"/>
                        </a:rPr>
                        <a:t>Steps to Attach to Bike</a:t>
                      </a:r>
                      <a:endParaRPr sz="12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Attaches universally</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Ease of use</a:t>
                      </a:r>
                      <a:endParaRPr i="1" sz="1000">
                        <a:latin typeface="Times New Roman"/>
                        <a:ea typeface="Times New Roman"/>
                        <a:cs typeface="Times New Roman"/>
                        <a:sym typeface="Times New Roman"/>
                      </a:endParaRPr>
                    </a:p>
                    <a:p>
                      <a:pPr indent="0" lvl="0" marL="457200" rtl="0" algn="l">
                        <a:spcBef>
                          <a:spcPts val="0"/>
                        </a:spcBef>
                        <a:spcAft>
                          <a:spcPts val="0"/>
                        </a:spcAft>
                        <a:buNone/>
                      </a:pPr>
                      <a:r>
                        <a:rPr i="1" lang="en" sz="1000">
                          <a:latin typeface="Times New Roman"/>
                          <a:ea typeface="Times New Roman"/>
                          <a:cs typeface="Times New Roman"/>
                          <a:sym typeface="Times New Roman"/>
                        </a:rPr>
                        <a:t>Ease of setup</a:t>
                      </a:r>
                      <a:endParaRPr sz="10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10</a:t>
                      </a:r>
                      <a:endParaRPr sz="1200">
                        <a:latin typeface="Times New Roman"/>
                        <a:ea typeface="Times New Roman"/>
                        <a:cs typeface="Times New Roman"/>
                        <a:sym typeface="Times New Roman"/>
                      </a:endParaRPr>
                    </a:p>
                  </a:txBody>
                  <a:tcPr marT="63500" marB="63500" marR="63500" marL="63500"/>
                </a:tc>
                <a:tc>
                  <a:txBody>
                    <a:bodyPr/>
                    <a:lstStyle/>
                    <a:p>
                      <a:pPr indent="0" lvl="0" marL="0" rtl="0" algn="ctr">
                        <a:spcBef>
                          <a:spcPts val="0"/>
                        </a:spcBef>
                        <a:spcAft>
                          <a:spcPts val="0"/>
                        </a:spcAft>
                        <a:buNone/>
                      </a:pPr>
                      <a:r>
                        <a:rPr lang="en" sz="1200">
                          <a:latin typeface="Times New Roman"/>
                          <a:ea typeface="Times New Roman"/>
                          <a:cs typeface="Times New Roman"/>
                          <a:sym typeface="Times New Roman"/>
                        </a:rPr>
                        <a:t>20</a:t>
                      </a:r>
                      <a:endParaRPr sz="1200">
                        <a:latin typeface="Times New Roman"/>
                        <a:ea typeface="Times New Roman"/>
                        <a:cs typeface="Times New Roman"/>
                        <a:sym typeface="Times New Roman"/>
                      </a:endParaRPr>
                    </a:p>
                  </a:txBody>
                  <a:tcPr marT="63500" marB="63500" marR="63500" marL="63500"/>
                </a:tc>
              </a:tr>
            </a:tbl>
          </a:graphicData>
        </a:graphic>
      </p:graphicFrame>
      <p:sp>
        <p:nvSpPr>
          <p:cNvPr id="79" name="Google Shape;79;gba8d29d8b3_0_5"/>
          <p:cNvSpPr txBox="1"/>
          <p:nvPr/>
        </p:nvSpPr>
        <p:spPr>
          <a:xfrm>
            <a:off x="-125" y="277075"/>
            <a:ext cx="9144000" cy="572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700">
                <a:solidFill>
                  <a:srgbClr val="000000"/>
                </a:solidFill>
                <a:latin typeface="Calibri"/>
                <a:ea typeface="Calibri"/>
                <a:cs typeface="Calibri"/>
                <a:sym typeface="Calibri"/>
              </a:rPr>
              <a:t>ENGINEERING SPECIFICATIONS &amp; FUNCTIONAL REQUIREME</a:t>
            </a:r>
            <a:r>
              <a:rPr lang="en" sz="2700">
                <a:latin typeface="Calibri"/>
                <a:ea typeface="Calibri"/>
                <a:cs typeface="Calibri"/>
                <a:sym typeface="Calibri"/>
              </a:rPr>
              <a:t>N</a:t>
            </a:r>
            <a:r>
              <a:rPr lang="en" sz="2700">
                <a:solidFill>
                  <a:srgbClr val="000000"/>
                </a:solidFill>
                <a:latin typeface="Calibri"/>
                <a:ea typeface="Calibri"/>
                <a:cs typeface="Calibri"/>
                <a:sym typeface="Calibri"/>
              </a:rPr>
              <a:t>TS</a:t>
            </a:r>
            <a:endParaRPr sz="2700">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a79ffe57d7_0_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PROGRESSION - COMPLETED TASKS</a:t>
            </a:r>
            <a:endParaRPr/>
          </a:p>
        </p:txBody>
      </p:sp>
      <p:pic>
        <p:nvPicPr>
          <p:cNvPr id="85" name="Google Shape;85;ga79ffe57d7_0_5"/>
          <p:cNvPicPr preferRelativeResize="0"/>
          <p:nvPr/>
        </p:nvPicPr>
        <p:blipFill>
          <a:blip r:embed="rId3">
            <a:alphaModFix/>
          </a:blip>
          <a:stretch>
            <a:fillRect/>
          </a:stretch>
        </p:blipFill>
        <p:spPr>
          <a:xfrm>
            <a:off x="152400" y="1739900"/>
            <a:ext cx="8839200" cy="1663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a79ffe57d7_0_10"/>
          <p:cNvSpPr txBox="1"/>
          <p:nvPr>
            <p:ph type="title"/>
          </p:nvPr>
        </p:nvSpPr>
        <p:spPr>
          <a:xfrm>
            <a:off x="124500" y="452350"/>
            <a:ext cx="88950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PROJECT PROGRESSION - UNCOMPLETED TASKS</a:t>
            </a:r>
            <a:endParaRPr/>
          </a:p>
        </p:txBody>
      </p:sp>
      <p:pic>
        <p:nvPicPr>
          <p:cNvPr id="91" name="Google Shape;91;ga79ffe57d7_0_10"/>
          <p:cNvPicPr preferRelativeResize="0"/>
          <p:nvPr/>
        </p:nvPicPr>
        <p:blipFill>
          <a:blip r:embed="rId3">
            <a:alphaModFix/>
          </a:blip>
          <a:stretch>
            <a:fillRect/>
          </a:stretch>
        </p:blipFill>
        <p:spPr>
          <a:xfrm>
            <a:off x="520000" y="1025050"/>
            <a:ext cx="8104005" cy="381364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ga79ffe57d7_0_25"/>
          <p:cNvSpPr txBox="1"/>
          <p:nvPr>
            <p:ph type="title"/>
          </p:nvPr>
        </p:nvSpPr>
        <p:spPr>
          <a:xfrm>
            <a:off x="198025" y="197550"/>
            <a:ext cx="1898700" cy="1297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GANTT CHART</a:t>
            </a:r>
            <a:endParaRPr/>
          </a:p>
        </p:txBody>
      </p:sp>
      <p:pic>
        <p:nvPicPr>
          <p:cNvPr id="97" name="Google Shape;97;ga79ffe57d7_0_25"/>
          <p:cNvPicPr preferRelativeResize="0"/>
          <p:nvPr/>
        </p:nvPicPr>
        <p:blipFill>
          <a:blip r:embed="rId3">
            <a:alphaModFix/>
          </a:blip>
          <a:stretch>
            <a:fillRect/>
          </a:stretch>
        </p:blipFill>
        <p:spPr>
          <a:xfrm>
            <a:off x="1962225" y="411325"/>
            <a:ext cx="6742476" cy="409043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ga79ffe57d7_0_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BILL OF MATERIALS</a:t>
            </a:r>
            <a:endParaRPr/>
          </a:p>
        </p:txBody>
      </p:sp>
      <p:graphicFrame>
        <p:nvGraphicFramePr>
          <p:cNvPr id="103" name="Google Shape;103;ga79ffe57d7_0_0"/>
          <p:cNvGraphicFramePr/>
          <p:nvPr/>
        </p:nvGraphicFramePr>
        <p:xfrm>
          <a:off x="173400" y="1417325"/>
          <a:ext cx="3000000" cy="3000000"/>
        </p:xfrm>
        <a:graphic>
          <a:graphicData uri="http://schemas.openxmlformats.org/drawingml/2006/table">
            <a:tbl>
              <a:tblPr>
                <a:noFill/>
                <a:tableStyleId>{5EE0FAF6-2CEC-4343-86C5-C92C91FE5FB4}</a:tableStyleId>
              </a:tblPr>
              <a:tblGrid>
                <a:gridCol w="1242725"/>
                <a:gridCol w="3022150"/>
                <a:gridCol w="611750"/>
                <a:gridCol w="928950"/>
                <a:gridCol w="1871575"/>
                <a:gridCol w="1182475"/>
              </a:tblGrid>
              <a:tr h="200025">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Part Number</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Product Name</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u="none" cap="none" strike="noStrike"/>
                        <a:t>Quantity</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b="1" lang="en" sz="1000"/>
                        <a:t>Actual Cost</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Description</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4"/>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b="1" lang="en" sz="1000" u="none" cap="none" strike="noStrike"/>
                        <a:t>Standards</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0: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ABX00027</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Arduino Nano 33 IOT</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$18.40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Microcontrollers with Bluetooth</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4"/>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IEEE 802.11b/g/n</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PID: 4224</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eInk Breakout Friend with 32KB SRAM</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$8.50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Memory buffer for eInk display</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2: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PID: 4262</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2.9" Flexible Monochrome eInk</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$26.95</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Low power eInk display</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3: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C000160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Grove - Infrared Reflective Sensor V1.2</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$5.90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angular frequency</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4: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CEA-06-125UT-350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5: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Micro Measurements Strain Gages</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5: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5: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a:t>
                      </a:r>
                      <a:r>
                        <a:rPr lang="en" sz="1000"/>
                        <a:t>2</a:t>
                      </a:r>
                      <a:r>
                        <a:rPr lang="en" sz="1000" u="none" cap="none" strike="noStrike"/>
                        <a:t>9.99</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5: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sheer force</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extLst>
                      <a:ext uri="http://customooxmlschemas.google.com/">
                        <go:slidesCustomData xmlns:go="http://customooxmlschemas.google.com/" cellId="103:5: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5: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176SF1D-L394</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6: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Honeywell Precision Continuous 10K Potentiometer</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6: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6: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a:t>
                      </a:r>
                      <a:r>
                        <a:rPr lang="en" sz="1000"/>
                        <a:t>2</a:t>
                      </a:r>
                      <a:r>
                        <a:rPr lang="en" sz="1000" u="none" cap="none" strike="noStrike"/>
                        <a:t>.</a:t>
                      </a:r>
                      <a:r>
                        <a:rPr lang="en" sz="1000"/>
                        <a:t>95</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6: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Measures wind angle</a:t>
                      </a:r>
                      <a:endParaRPr sz="1000" u="none" cap="none" strike="noStrike"/>
                    </a:p>
                  </a:txBody>
                  <a:tcPr marT="19050" marB="19050" marR="28575" marL="28575" anchor="b">
                    <a:lnL cap="flat" cmpd="sng" w="9525">
                      <a:solidFill>
                        <a:srgbClr val="FFFFFF">
                          <a:alpha val="0"/>
                        </a:srgbClr>
                      </a:solidFill>
                      <a:prstDash val="solid"/>
                      <a:round/>
                      <a:headEnd len="sm" w="sm" type="none"/>
                      <a:tailEnd len="sm" w="sm" type="none"/>
                    </a:lnL>
                    <a:lnR cap="flat" cmpd="sng" w="9525">
                      <a:solidFill>
                        <a:srgbClr val="FFFFFF">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FFFFFF">
                          <a:alpha val="0"/>
                        </a:srgbClr>
                      </a:solidFill>
                      <a:prstDash val="solid"/>
                      <a:round/>
                      <a:headEnd len="sm" w="sm" type="none"/>
                      <a:tailEnd len="sm" w="sm" type="none"/>
                    </a:lnB>
                    <a:extLst>
                      <a:ext uri="http://customooxmlschemas.google.com/">
                        <go:slidesCustomData xmlns:go="http://customooxmlschemas.google.com/" cellId="103:6: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19050" marB="19050" marR="28575" marL="28575" anchor="b">
                    <a:lnL cap="flat" cmpd="sng" w="9525">
                      <a:solidFill>
                        <a:srgbClr val="FFFFFF">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6: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PA1010D</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solidFill>
                      <a:srgbClr val="FFFFFF"/>
                    </a:solidFill>
                    <a:extLst>
                      <a:ext uri="http://customooxmlschemas.google.com/">
                        <go:slidesCustomData xmlns:go="http://customooxmlschemas.google.com/" cellId="103:7: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Adafruit Mini GPS</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7: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7: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$29.95</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7: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10Hz GPS module</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FFFFFF">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7:4"/>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GPS SPS PS</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7:5"/>
                      </a:ext>
                    </a:extLst>
                  </a:tcPr>
                </a:tc>
              </a:tr>
              <a:tr h="200025">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LP785060</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0"/>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Lithium Ion Polymer Battery - 3.7v 2500mAh</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1"/>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a:t>1</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2"/>
                      </a:ext>
                    </a:extLst>
                  </a:tcPr>
                </a:tc>
                <a:tc>
                  <a:txBody>
                    <a:bodyPr/>
                    <a:lstStyle/>
                    <a:p>
                      <a:pPr indent="0" lvl="0" marL="0" marR="0" rtl="0" algn="ctr">
                        <a:lnSpc>
                          <a:spcPct val="115000"/>
                        </a:lnSpc>
                        <a:spcBef>
                          <a:spcPts val="0"/>
                        </a:spcBef>
                        <a:spcAft>
                          <a:spcPts val="0"/>
                        </a:spcAft>
                        <a:buClr>
                          <a:srgbClr val="000000"/>
                        </a:buClr>
                        <a:buSzPts val="1000"/>
                        <a:buFont typeface="Arial"/>
                        <a:buNone/>
                      </a:pPr>
                      <a:r>
                        <a:rPr lang="en" sz="1000" u="none" cap="none" strike="noStrike"/>
                        <a:t>$14.95</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3"/>
                      </a:ext>
                    </a:extLst>
                  </a:tcPr>
                </a:tc>
                <a:tc>
                  <a:txBody>
                    <a:bodyPr/>
                    <a:lstStyle/>
                    <a:p>
                      <a:pPr indent="0" lvl="0" marL="0" marR="0" rtl="0" algn="l">
                        <a:lnSpc>
                          <a:spcPct val="115000"/>
                        </a:lnSpc>
                        <a:spcBef>
                          <a:spcPts val="0"/>
                        </a:spcBef>
                        <a:spcAft>
                          <a:spcPts val="0"/>
                        </a:spcAft>
                        <a:buClr>
                          <a:srgbClr val="000000"/>
                        </a:buClr>
                        <a:buSzPts val="1000"/>
                        <a:buFont typeface="Arial"/>
                        <a:buNone/>
                      </a:pPr>
                      <a:r>
                        <a:rPr lang="en" sz="1000" u="none" cap="none" strike="noStrike"/>
                        <a:t>Power for Microcontrollers</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4"/>
                      </a:ext>
                    </a:extLst>
                  </a:tcPr>
                </a:tc>
                <a:tc>
                  <a:txBody>
                    <a:bodyPr/>
                    <a:lstStyle/>
                    <a:p>
                      <a:pPr indent="0" lvl="0" marL="0" marR="0" rtl="0" algn="l">
                        <a:lnSpc>
                          <a:spcPct val="115000"/>
                        </a:lnSpc>
                        <a:spcBef>
                          <a:spcPts val="0"/>
                        </a:spcBef>
                        <a:spcAft>
                          <a:spcPts val="0"/>
                        </a:spcAft>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8:5"/>
                      </a:ext>
                    </a:extLst>
                  </a:tcPr>
                </a:tc>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0"/>
                      </a:ext>
                    </a:extLst>
                  </a:tcPr>
                </a:tc>
                <a:tc>
                  <a:txBody>
                    <a:bodyPr/>
                    <a:lstStyle/>
                    <a:p>
                      <a:pPr indent="0" lvl="0" marL="0" rtl="0" algn="l">
                        <a:spcBef>
                          <a:spcPts val="0"/>
                        </a:spcBef>
                        <a:spcAft>
                          <a:spcPts val="0"/>
                        </a:spcAft>
                        <a:buNone/>
                      </a:pPr>
                      <a:r>
                        <a:rPr lang="en" sz="1000"/>
                        <a:t>Misc </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1"/>
                      </a:ext>
                    </a:extLst>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2"/>
                      </a:ext>
                    </a:extLst>
                  </a:tcPr>
                </a:tc>
                <a:tc>
                  <a:txBody>
                    <a:bodyPr/>
                    <a:lstStyle/>
                    <a:p>
                      <a:pPr indent="0" lvl="0" marL="0" rtl="0" algn="ctr">
                        <a:spcBef>
                          <a:spcPts val="0"/>
                        </a:spcBef>
                        <a:spcAft>
                          <a:spcPts val="0"/>
                        </a:spcAft>
                        <a:buNone/>
                      </a:pPr>
                      <a:r>
                        <a:rPr lang="en" sz="1000"/>
                        <a:t>$22.09</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3"/>
                      </a:ext>
                    </a:extLst>
                  </a:tcPr>
                </a:tc>
                <a:tc>
                  <a:txBody>
                    <a:bodyPr/>
                    <a:lstStyle/>
                    <a:p>
                      <a:pPr indent="0" lvl="0" marL="0" rtl="0" algn="l">
                        <a:spcBef>
                          <a:spcPts val="0"/>
                        </a:spcBef>
                        <a:spcAft>
                          <a:spcPts val="0"/>
                        </a:spcAft>
                        <a:buClr>
                          <a:schemeClr val="dk1"/>
                        </a:buClr>
                        <a:buSzPts val="1100"/>
                        <a:buFont typeface="Arial"/>
                        <a:buNone/>
                      </a:pPr>
                      <a:r>
                        <a:rPr lang="en" sz="1000">
                          <a:solidFill>
                            <a:schemeClr val="dk1"/>
                          </a:solidFill>
                        </a:rPr>
                        <a:t>Jumpers, Headers, Solder</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4"/>
                      </a:ext>
                    </a:extLst>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9:5"/>
                      </a:ext>
                    </a:extLst>
                  </a:tcPr>
                </a:tc>
              </a:tr>
              <a:tr h="200025">
                <a:tc>
                  <a:txBody>
                    <a:bodyPr/>
                    <a:lstStyle/>
                    <a:p>
                      <a:pPr indent="0" lvl="0" marL="0" rtl="0" algn="l">
                        <a:spcBef>
                          <a:spcPts val="0"/>
                        </a:spcBef>
                        <a:spcAft>
                          <a:spcPts val="0"/>
                        </a:spcAft>
                        <a:buNone/>
                      </a:pPr>
                      <a:r>
                        <a:t/>
                      </a:r>
                      <a:endParaRPr/>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0"/>
                      </a:ext>
                    </a:extLst>
                  </a:tcPr>
                </a:tc>
                <a:tc>
                  <a:txBody>
                    <a:bodyPr/>
                    <a:lstStyle/>
                    <a:p>
                      <a:pPr indent="0" lvl="0" marL="0" rtl="0" algn="l">
                        <a:spcBef>
                          <a:spcPts val="0"/>
                        </a:spcBef>
                        <a:spcAft>
                          <a:spcPts val="0"/>
                        </a:spcAft>
                        <a:buNone/>
                      </a:pPr>
                      <a:r>
                        <a:rPr lang="en" sz="1000"/>
                        <a:t>Shipping</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1"/>
                      </a:ext>
                    </a:extLst>
                  </a:tcPr>
                </a:tc>
                <a:tc>
                  <a:txBody>
                    <a:bodyPr/>
                    <a:lstStyle/>
                    <a:p>
                      <a:pPr indent="0" lvl="0" marL="0" rtl="0" algn="ctr">
                        <a:spcBef>
                          <a:spcPts val="0"/>
                        </a:spcBef>
                        <a:spcAft>
                          <a:spcPts val="0"/>
                        </a:spcAft>
                        <a:buNone/>
                      </a:pPr>
                      <a:r>
                        <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2"/>
                      </a:ext>
                    </a:extLst>
                  </a:tcPr>
                </a:tc>
                <a:tc>
                  <a:txBody>
                    <a:bodyPr/>
                    <a:lstStyle/>
                    <a:p>
                      <a:pPr indent="0" lvl="0" marL="0" rtl="0" algn="ctr">
                        <a:spcBef>
                          <a:spcPts val="0"/>
                        </a:spcBef>
                        <a:spcAft>
                          <a:spcPts val="0"/>
                        </a:spcAft>
                        <a:buNone/>
                      </a:pPr>
                      <a:r>
                        <a:rPr lang="en" sz="1000"/>
                        <a:t>$35.99</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3"/>
                      </a:ext>
                    </a:extLst>
                  </a:tcPr>
                </a:tc>
                <a:tc>
                  <a:txBody>
                    <a:bodyPr/>
                    <a:lstStyle/>
                    <a:p>
                      <a:pPr indent="0" lvl="0" marL="0" rtl="0" algn="l">
                        <a:spcBef>
                          <a:spcPts val="0"/>
                        </a:spcBef>
                        <a:spcAft>
                          <a:spcPts val="0"/>
                        </a:spcAft>
                        <a:buNone/>
                      </a:pPr>
                      <a:r>
                        <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4"/>
                      </a:ext>
                    </a:extLst>
                  </a:tcPr>
                </a:tc>
                <a:tc>
                  <a:txBody>
                    <a:bodyPr/>
                    <a:lstStyle/>
                    <a:p>
                      <a:pPr indent="0" lvl="0" marL="0" marR="0" rtl="0" algn="l">
                        <a:lnSpc>
                          <a:spcPct val="100000"/>
                        </a:lnSpc>
                        <a:spcBef>
                          <a:spcPts val="0"/>
                        </a:spcBef>
                        <a:spcAft>
                          <a:spcPts val="0"/>
                        </a:spcAft>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0:5"/>
                      </a:ext>
                    </a:extLst>
                  </a:tcPr>
                </a:tc>
              </a:tr>
              <a:tr h="200025">
                <a:tc>
                  <a:txBody>
                    <a:bodyPr/>
                    <a:lstStyle/>
                    <a:p>
                      <a:pPr indent="0" lvl="0" marL="0" marR="0" rtl="0" algn="l">
                        <a:lnSpc>
                          <a:spcPct val="115000"/>
                        </a:lnSpc>
                        <a:spcBef>
                          <a:spcPts val="0"/>
                        </a:spcBef>
                        <a:spcAft>
                          <a:spcPts val="0"/>
                        </a:spcAft>
                        <a:buNone/>
                      </a:pPr>
                      <a:r>
                        <a:rPr b="1" lang="en" sz="1000"/>
                        <a:t>TOTAL</a:t>
                      </a:r>
                      <a:endParaRPr b="1"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0"/>
                      </a:ext>
                    </a:extLst>
                  </a:tcPr>
                </a:tc>
                <a:tc>
                  <a:txBody>
                    <a:bodyPr/>
                    <a:lstStyle/>
                    <a:p>
                      <a:pPr indent="0" lvl="0" marL="0" marR="0" rtl="0" algn="l">
                        <a:lnSpc>
                          <a:spcPct val="115000"/>
                        </a:lnSpc>
                        <a:spcBef>
                          <a:spcPts val="0"/>
                        </a:spcBef>
                        <a:spcAft>
                          <a:spcPts val="0"/>
                        </a:spcAft>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1"/>
                      </a:ext>
                    </a:extLst>
                  </a:tcPr>
                </a:tc>
                <a:tc>
                  <a:txBody>
                    <a:bodyPr/>
                    <a:lstStyle/>
                    <a:p>
                      <a:pPr indent="0" lvl="0" marL="0" marR="0" rtl="0" algn="ctr">
                        <a:lnSpc>
                          <a:spcPct val="115000"/>
                        </a:lnSpc>
                        <a:spcBef>
                          <a:spcPts val="0"/>
                        </a:spcBef>
                        <a:spcAft>
                          <a:spcPts val="0"/>
                        </a:spcAft>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2"/>
                      </a:ext>
                    </a:extLst>
                  </a:tcPr>
                </a:tc>
                <a:tc>
                  <a:txBody>
                    <a:bodyPr/>
                    <a:lstStyle/>
                    <a:p>
                      <a:pPr indent="0" lvl="0" marL="0" marR="0" rtl="0" algn="ctr">
                        <a:lnSpc>
                          <a:spcPct val="115000"/>
                        </a:lnSpc>
                        <a:spcBef>
                          <a:spcPts val="0"/>
                        </a:spcBef>
                        <a:spcAft>
                          <a:spcPts val="0"/>
                        </a:spcAft>
                        <a:buNone/>
                      </a:pPr>
                      <a:r>
                        <a:rPr lang="en" sz="1000"/>
                        <a:t>$215.67</a:t>
                      </a:r>
                      <a:endParaRPr sz="1000"/>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3"/>
                      </a:ext>
                    </a:extLst>
                  </a:tcPr>
                </a:tc>
                <a:tc>
                  <a:txBody>
                    <a:bodyPr/>
                    <a:lstStyle/>
                    <a:p>
                      <a:pPr indent="0" lvl="0" marL="0" marR="0" rtl="0" algn="l">
                        <a:lnSpc>
                          <a:spcPct val="115000"/>
                        </a:lnSpc>
                        <a:spcBef>
                          <a:spcPts val="0"/>
                        </a:spcBef>
                        <a:spcAft>
                          <a:spcPts val="0"/>
                        </a:spcAft>
                        <a:buNone/>
                      </a:pPr>
                      <a:r>
                        <a:t/>
                      </a:r>
                      <a:endParaRPr sz="10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4"/>
                      </a:ext>
                    </a:extLst>
                  </a:tcPr>
                </a:tc>
                <a:tc>
                  <a:txBody>
                    <a:bodyPr/>
                    <a:lstStyle/>
                    <a:p>
                      <a:pPr indent="0" lvl="0" marL="0" marR="0" rtl="0" algn="l">
                        <a:lnSpc>
                          <a:spcPct val="100000"/>
                        </a:lnSpc>
                        <a:spcBef>
                          <a:spcPts val="0"/>
                        </a:spcBef>
                        <a:spcAft>
                          <a:spcPts val="0"/>
                        </a:spcAft>
                        <a:buNone/>
                      </a:pPr>
                      <a:r>
                        <a:t/>
                      </a:r>
                      <a:endParaRPr sz="1400" u="none" cap="none" strike="noStrike"/>
                    </a:p>
                  </a:txBody>
                  <a:tcPr marT="19050" marB="19050" marR="28575" marL="28575" anchor="b">
                    <a:lnL cap="flat" cmpd="sng" w="9525">
                      <a:solidFill>
                        <a:srgbClr val="CCCCCC">
                          <a:alpha val="0"/>
                        </a:srgbClr>
                      </a:solidFill>
                      <a:prstDash val="solid"/>
                      <a:round/>
                      <a:headEnd len="sm" w="sm" type="none"/>
                      <a:tailEnd len="sm" w="sm" type="none"/>
                    </a:lnL>
                    <a:lnR cap="flat" cmpd="sng" w="9525">
                      <a:solidFill>
                        <a:srgbClr val="CCCCCC">
                          <a:alpha val="0"/>
                        </a:srgbClr>
                      </a:solidFill>
                      <a:prstDash val="solid"/>
                      <a:round/>
                      <a:headEnd len="sm" w="sm" type="none"/>
                      <a:tailEnd len="sm" w="sm" type="none"/>
                    </a:lnR>
                    <a:lnT cap="flat" cmpd="sng" w="9525">
                      <a:solidFill>
                        <a:srgbClr val="CCCCCC">
                          <a:alpha val="0"/>
                        </a:srgbClr>
                      </a:solidFill>
                      <a:prstDash val="solid"/>
                      <a:round/>
                      <a:headEnd len="sm" w="sm" type="none"/>
                      <a:tailEnd len="sm" w="sm" type="none"/>
                    </a:lnT>
                    <a:lnB cap="flat" cmpd="sng" w="9525">
                      <a:solidFill>
                        <a:srgbClr val="CCCCCC">
                          <a:alpha val="0"/>
                        </a:srgbClr>
                      </a:solidFill>
                      <a:prstDash val="solid"/>
                      <a:round/>
                      <a:headEnd len="sm" w="sm" type="none"/>
                      <a:tailEnd len="sm" w="sm" type="none"/>
                    </a:lnB>
                    <a:extLst>
                      <a:ext uri="http://customooxmlschemas.google.com/">
                        <go:slidesCustomData xmlns:go="http://customooxmlschemas.google.com/" cellId="103:11:5"/>
                      </a:ext>
                    </a:extLst>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a715356b46_0_10"/>
          <p:cNvSpPr txBox="1"/>
          <p:nvPr>
            <p:ph type="title"/>
          </p:nvPr>
        </p:nvSpPr>
        <p:spPr>
          <a:xfrm>
            <a:off x="339700" y="2770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BLOCK DIAGRAM</a:t>
            </a:r>
            <a:endParaRPr>
              <a:latin typeface="Calibri"/>
              <a:ea typeface="Calibri"/>
              <a:cs typeface="Calibri"/>
              <a:sym typeface="Calibri"/>
            </a:endParaRPr>
          </a:p>
        </p:txBody>
      </p:sp>
      <p:pic>
        <p:nvPicPr>
          <p:cNvPr id="109" name="Google Shape;109;ga715356b46_0_10"/>
          <p:cNvPicPr preferRelativeResize="0"/>
          <p:nvPr/>
        </p:nvPicPr>
        <p:blipFill rotWithShape="1">
          <a:blip r:embed="rId3">
            <a:alphaModFix/>
          </a:blip>
          <a:srcRect b="0" l="0" r="0" t="0"/>
          <a:stretch/>
        </p:blipFill>
        <p:spPr>
          <a:xfrm>
            <a:off x="1751072" y="1017725"/>
            <a:ext cx="5641851" cy="391115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gba8d29d8b3_0_15"/>
          <p:cNvSpPr txBox="1"/>
          <p:nvPr/>
        </p:nvSpPr>
        <p:spPr>
          <a:xfrm>
            <a:off x="112800" y="937900"/>
            <a:ext cx="4401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AndroidOS Simulator Example</a:t>
            </a:r>
            <a:endParaRPr/>
          </a:p>
        </p:txBody>
      </p:sp>
      <p:pic>
        <p:nvPicPr>
          <p:cNvPr id="115" name="Google Shape;115;gba8d29d8b3_0_15" title="Cycle Statistic Tool Monthly Demonstration Feb 02 AndroidOS Simulator Example">
            <a:hlinkClick r:id="rId3"/>
          </p:cNvPr>
          <p:cNvPicPr preferRelativeResize="0"/>
          <p:nvPr/>
        </p:nvPicPr>
        <p:blipFill>
          <a:blip r:embed="rId4">
            <a:alphaModFix/>
          </a:blip>
          <a:stretch>
            <a:fillRect/>
          </a:stretch>
        </p:blipFill>
        <p:spPr>
          <a:xfrm>
            <a:off x="152400" y="1445925"/>
            <a:ext cx="4322700" cy="3242025"/>
          </a:xfrm>
          <a:prstGeom prst="rect">
            <a:avLst/>
          </a:prstGeom>
          <a:noFill/>
          <a:ln>
            <a:noFill/>
          </a:ln>
        </p:spPr>
      </p:pic>
      <p:pic>
        <p:nvPicPr>
          <p:cNvPr id="116" name="Google Shape;116;gba8d29d8b3_0_15" title="Cycle Statistic Tool Monthly Demonstration Feb 02 iOS Simulator Example">
            <a:hlinkClick r:id="rId5"/>
          </p:cNvPr>
          <p:cNvPicPr preferRelativeResize="0"/>
          <p:nvPr/>
        </p:nvPicPr>
        <p:blipFill>
          <a:blip r:embed="rId6">
            <a:alphaModFix/>
          </a:blip>
          <a:stretch>
            <a:fillRect/>
          </a:stretch>
        </p:blipFill>
        <p:spPr>
          <a:xfrm>
            <a:off x="4627500" y="1445925"/>
            <a:ext cx="4322700" cy="3242025"/>
          </a:xfrm>
          <a:prstGeom prst="rect">
            <a:avLst/>
          </a:prstGeom>
          <a:noFill/>
          <a:ln>
            <a:noFill/>
          </a:ln>
        </p:spPr>
      </p:pic>
      <p:sp>
        <p:nvSpPr>
          <p:cNvPr id="117" name="Google Shape;117;gba8d29d8b3_0_15"/>
          <p:cNvSpPr txBox="1"/>
          <p:nvPr/>
        </p:nvSpPr>
        <p:spPr>
          <a:xfrm>
            <a:off x="4587900" y="937900"/>
            <a:ext cx="4401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i</a:t>
            </a:r>
            <a:r>
              <a:rPr lang="en"/>
              <a:t>OS Simulator Example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5"/>
                                        </p:tgtEl>
                                        <p:attrNameLst>
                                          <p:attrName>style.visibility</p:attrName>
                                        </p:attrNameLst>
                                      </p:cBhvr>
                                      <p:to>
                                        <p:strVal val="visible"/>
                                      </p:to>
                                    </p:set>
                                    <p:animEffect filter="fade" transition="in">
                                      <p:cBhvr>
                                        <p:cTn dur="1000"/>
                                        <p:tgtEl>
                                          <p:spTgt spid="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
                                        </p:tgtEl>
                                        <p:attrNameLst>
                                          <p:attrName>style.visibility</p:attrName>
                                        </p:attrNameLst>
                                      </p:cBhvr>
                                      <p:to>
                                        <p:strVal val="visible"/>
                                      </p:to>
                                    </p:set>
                                    <p:animEffect filter="fade" transition="in">
                                      <p:cBhvr>
                                        <p:cTn dur="1000"/>
                                        <p:tgtEl>
                                          <p:spTgt spid="1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pic>
        <p:nvPicPr>
          <p:cNvPr id="122" name="Google Shape;122;gba8d29d8b3_0_24" title="February 2, 2021">
            <a:hlinkClick r:id="rId3"/>
          </p:cNvPr>
          <p:cNvPicPr preferRelativeResize="0"/>
          <p:nvPr/>
        </p:nvPicPr>
        <p:blipFill>
          <a:blip r:embed="rId4">
            <a:alphaModFix/>
          </a:blip>
          <a:stretch>
            <a:fillRect/>
          </a:stretch>
        </p:blipFill>
        <p:spPr>
          <a:xfrm>
            <a:off x="2286000" y="857250"/>
            <a:ext cx="4572000" cy="3429000"/>
          </a:xfrm>
          <a:prstGeom prst="rect">
            <a:avLst/>
          </a:prstGeom>
          <a:noFill/>
          <a:ln>
            <a:noFill/>
          </a:ln>
        </p:spPr>
      </p:pic>
      <p:sp>
        <p:nvSpPr>
          <p:cNvPr id="123" name="Google Shape;123;gba8d29d8b3_0_24"/>
          <p:cNvSpPr txBox="1"/>
          <p:nvPr/>
        </p:nvSpPr>
        <p:spPr>
          <a:xfrm>
            <a:off x="2371050" y="457050"/>
            <a:ext cx="4401900" cy="4002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a:t>Hardware Demonstration</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
                                        </p:tgtEl>
                                        <p:attrNameLst>
                                          <p:attrName>style.visibility</p:attrName>
                                        </p:attrNameLst>
                                      </p:cBhvr>
                                      <p:to>
                                        <p:strVal val="visible"/>
                                      </p:to>
                                    </p:set>
                                    <p:animEffect filter="fade" transition="in">
                                      <p:cBhvr>
                                        <p:cTn dur="1000"/>
                                        <p:tgtEl>
                                          <p:spTgt spid="1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8"/>
          <p:cNvSpPr txBox="1"/>
          <p:nvPr>
            <p:ph type="title"/>
          </p:nvPr>
        </p:nvSpPr>
        <p:spPr>
          <a:xfrm>
            <a:off x="311700" y="295875"/>
            <a:ext cx="8520600" cy="572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latin typeface="Calibri"/>
                <a:ea typeface="Calibri"/>
                <a:cs typeface="Calibri"/>
                <a:sym typeface="Calibri"/>
              </a:rPr>
              <a:t>QUESTIONS?</a:t>
            </a:r>
            <a:endParaRPr>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