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19" roundtripDataSignature="AMtx7mjfmFZQDsIKtym42Y6oghVeZAoz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4C01A3-FDAF-4C8D-8721-927A3D686F66}">
  <a:tblStyle styleId="{034C01A3-FDAF-4C8D-8721-927A3D686F6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Currently, there are several wearable devices available for cyclists that offer general data collection about a cycling session; however, these do not offer specific statistic tracking for the</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user, only general data about the location, duration, and exercise of the cycling trip. The specialized meters that are available to cyclists currently offer very few measurements. Cyclists require a better,</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more encompassing solution for setting goals and tracking improvement.</a:t>
            </a:r>
            <a:endParaRPr sz="900">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Bicycle meter are tools that allow you measure information about a bicycle as you ride it.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To cyclists, one of the most valuable statistics is power output. Current power meters are expensive ($400) and offer little beyond measuring power.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Smart devices are limited to general information about your cycling like location, speed, and heartbeat.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Cycle Statistic Tool is a data recording device which will be attached to the frame of a bicycle. In this position, several electronic components may be used to record statistics about a user’s cycling trip. The Cycle Statistic Tool will transmit data to a companion application that is installed on a user’s smartphone. This application will utilize the collected information to provide records of a user’s cycling sessions in the form of graphs and charts that enable the user to improve their cycling skills.</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figure depicts a general layout of the components of the Cycle Statistic Tool. The primary microcontroller and display will be attached to the main frame of the bicycle within the line of sight of the user. The anemometer and wind angle fin will be mounted in an unrestricted location at the front of the cycle. The secondary microcontroller is mounted on the pedal shaft to inhibit any physical tethering between the pedals and the frame, which would interfere with pedaling. </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a715356b4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a715356b4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block diagram of the cycle statistic tool represent the two microcontrollers used in our design and the system of components connected to each. The primary microcontroller will be used as the primary board to connect all sensors and for operation of the device. The secondary microcontroller will be attached to the pedal shaft to wirelessly relay data from this position to the primary board. The block diagram depicts each component connected to the respective microcontroller and the component’s method of transmission. The block diagram is a necessary prelude to the more detailed design schematics of the product.</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a79ffe57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a79ffe57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bill of materials for the final design are displayed. For each component purchased, we have listed the part number, product name, quantity, cost per unit, description, and any applicable standards. Some parts have still not been finalized, such as the stabilizer and motor for the </a:t>
            </a:r>
            <a:r>
              <a:rPr lang="en" sz="900">
                <a:solidFill>
                  <a:schemeClr val="dk1"/>
                </a:solidFill>
              </a:rPr>
              <a:t>anemometer</a:t>
            </a:r>
            <a:r>
              <a:rPr lang="en" sz="900">
                <a:solidFill>
                  <a:schemeClr val="dk1"/>
                </a:solidFill>
              </a:rPr>
              <a:t>. This is because we already have some parts that could be used for the project, first they need to be tested for efficacy.</a:t>
            </a:r>
            <a:endParaRPr sz="9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a79ffe57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a79ffe57d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completed tasks for the Cycle Statistic Tool are shown. </a:t>
            </a:r>
            <a:r>
              <a:rPr lang="en" sz="900">
                <a:solidFill>
                  <a:schemeClr val="dk1"/>
                </a:solidFill>
              </a:rPr>
              <a:t>The expected and actual time for each task is displayed. </a:t>
            </a:r>
            <a:r>
              <a:rPr lang="en" sz="900">
                <a:solidFill>
                  <a:schemeClr val="dk1"/>
                </a:solidFill>
              </a:rPr>
              <a:t>Currently, these tasks consist of research and design of the product. We will continue to research components and bluetooth as the project continues. </a:t>
            </a:r>
            <a:endParaRPr sz="9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a79ffe57d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a79ffe57d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chemeClr val="dk1"/>
                </a:solidFill>
              </a:rPr>
              <a:t>The uncompleted tasks for the project are shown. The list of tasks that are to be completed represent the task division that will be finished over the course of the next four months. The majority of these tasks consist of further research and development, ordering parts, building the Cycle Statistic Tool, Developing the companion application, and testing and debugging. I will now pass the presentation over to Cody to discuss the work breakdown structure, network diagram, and Gantt chart.</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9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a79ffe57d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a79ffe57d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our work breakdown structure. You can see each category of task and the tasks that compose them. This was used to break down everything that needs to be completed in order to create our time schedule.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a79ffe57d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a79ffe57d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network diagram shows the general order and flow of tasks as they are to be completed. This is helpful in identifying what can be done </a:t>
            </a:r>
            <a:r>
              <a:rPr lang="en"/>
              <a:t>asynchronously</a:t>
            </a:r>
            <a:r>
              <a:rPr lang="en"/>
              <a:t> and at what time. The path in blue is the critical path which is the path that will take the longest to be completed. The critical path is estimated to take 174 hours of work.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a79ffe57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a79ffe57d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Gantt Chart was created from the network diagram that you saw from before. It is used to create timeline for when each task should be completed to stay on course with our deadline. In this chart the critical path is highlighted in red.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id like to open up our presentation for any questions the audience may have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latin typeface="Calibri"/>
                <a:ea typeface="Calibri"/>
                <a:cs typeface="Calibri"/>
                <a:sym typeface="Calibri"/>
              </a:rPr>
              <a:t>Cycle Statistic Tool</a:t>
            </a:r>
            <a:endParaRPr>
              <a:latin typeface="Calibri"/>
              <a:ea typeface="Calibri"/>
              <a:cs typeface="Calibri"/>
              <a:sym typeface="Calibri"/>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Calibri"/>
                <a:ea typeface="Calibri"/>
                <a:cs typeface="Calibri"/>
                <a:sym typeface="Calibri"/>
              </a:rPr>
              <a:t>Cody Klingler &amp; Jacob Hoffman</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277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PROBLEM</a:t>
            </a:r>
            <a:endParaRPr>
              <a:latin typeface="Calibri"/>
              <a:ea typeface="Calibri"/>
              <a:cs typeface="Calibri"/>
              <a:sym typeface="Calibri"/>
            </a:endParaRPr>
          </a:p>
        </p:txBody>
      </p:sp>
      <p:sp>
        <p:nvSpPr>
          <p:cNvPr id="61" name="Google Shape;61;p2"/>
          <p:cNvSpPr txBox="1"/>
          <p:nvPr>
            <p:ph idx="1" type="body"/>
          </p:nvPr>
        </p:nvSpPr>
        <p:spPr>
          <a:xfrm>
            <a:off x="311700" y="1181300"/>
            <a:ext cx="3900000" cy="3607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Calibri"/>
              <a:buChar char="●"/>
            </a:pPr>
            <a:r>
              <a:rPr lang="en">
                <a:latin typeface="Calibri"/>
                <a:ea typeface="Calibri"/>
                <a:cs typeface="Calibri"/>
                <a:sym typeface="Calibri"/>
              </a:rPr>
              <a:t>Available bicycle meters offer   very few measurements.</a:t>
            </a:r>
            <a:endParaRPr>
              <a:latin typeface="Calibri"/>
              <a:ea typeface="Calibri"/>
              <a:cs typeface="Calibri"/>
              <a:sym typeface="Calibri"/>
            </a:endParaRPr>
          </a:p>
          <a:p>
            <a:pPr indent="0" lvl="0" marL="3657600" rtl="0" algn="l">
              <a:lnSpc>
                <a:spcPct val="115000"/>
              </a:lnSpc>
              <a:spcBef>
                <a:spcPts val="0"/>
              </a:spcBef>
              <a:spcAft>
                <a:spcPts val="0"/>
              </a:spcAft>
              <a:buSzPts val="1800"/>
              <a:buNone/>
            </a:pPr>
            <a:r>
              <a:t/>
            </a:r>
            <a:endParaRPr>
              <a:latin typeface="Calibri"/>
              <a:ea typeface="Calibri"/>
              <a:cs typeface="Calibri"/>
              <a:sym typeface="Calibri"/>
            </a:endParaRPr>
          </a:p>
          <a:p>
            <a:pPr indent="-342900" lvl="0" marL="457200" rtl="0" algn="l">
              <a:lnSpc>
                <a:spcPct val="115000"/>
              </a:lnSpc>
              <a:spcBef>
                <a:spcPts val="0"/>
              </a:spcBef>
              <a:spcAft>
                <a:spcPts val="0"/>
              </a:spcAft>
              <a:buSzPts val="1800"/>
              <a:buFont typeface="Calibri"/>
              <a:buChar char="●"/>
            </a:pPr>
            <a:r>
              <a:rPr lang="en">
                <a:latin typeface="Calibri"/>
                <a:ea typeface="Calibri"/>
                <a:cs typeface="Calibri"/>
                <a:sym typeface="Calibri"/>
              </a:rPr>
              <a:t>Smart devices do not offer accurate live measurements beyond speed and location.</a:t>
            </a:r>
            <a:endParaRPr>
              <a:latin typeface="Calibri"/>
              <a:ea typeface="Calibri"/>
              <a:cs typeface="Calibri"/>
              <a:sym typeface="Calibri"/>
            </a:endParaRPr>
          </a:p>
          <a:p>
            <a:pPr indent="-342900" lvl="0" marL="457200" rtl="0" algn="l">
              <a:lnSpc>
                <a:spcPct val="115000"/>
              </a:lnSpc>
              <a:spcBef>
                <a:spcPts val="1600"/>
              </a:spcBef>
              <a:spcAft>
                <a:spcPts val="1600"/>
              </a:spcAft>
              <a:buSzPts val="1800"/>
              <a:buFont typeface="Calibri"/>
              <a:buChar char="●"/>
            </a:pPr>
            <a:r>
              <a:rPr lang="en">
                <a:latin typeface="Calibri"/>
                <a:ea typeface="Calibri"/>
                <a:cs typeface="Calibri"/>
                <a:sym typeface="Calibri"/>
              </a:rPr>
              <a:t>Cyclists require a better, more encompassing solution for setting goals and tracking improvement.</a:t>
            </a:r>
            <a:endParaRPr>
              <a:latin typeface="Calibri"/>
              <a:ea typeface="Calibri"/>
              <a:cs typeface="Calibri"/>
              <a:sym typeface="Calibri"/>
            </a:endParaRPr>
          </a:p>
        </p:txBody>
      </p:sp>
      <p:pic>
        <p:nvPicPr>
          <p:cNvPr id="62" name="Google Shape;62;p2"/>
          <p:cNvPicPr preferRelativeResize="0"/>
          <p:nvPr/>
        </p:nvPicPr>
        <p:blipFill rotWithShape="1">
          <a:blip r:embed="rId3">
            <a:alphaModFix/>
          </a:blip>
          <a:srcRect b="0" l="0" r="0" t="0"/>
          <a:stretch/>
        </p:blipFill>
        <p:spPr>
          <a:xfrm>
            <a:off x="4383450" y="1302550"/>
            <a:ext cx="4284650" cy="28575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346700" y="2770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SOLUTION</a:t>
            </a:r>
            <a:endParaRPr>
              <a:latin typeface="Calibri"/>
              <a:ea typeface="Calibri"/>
              <a:cs typeface="Calibri"/>
              <a:sym typeface="Calibri"/>
            </a:endParaRPr>
          </a:p>
        </p:txBody>
      </p:sp>
      <p:sp>
        <p:nvSpPr>
          <p:cNvPr id="68" name="Google Shape;68;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latin typeface="Calibri"/>
                <a:ea typeface="Calibri"/>
                <a:cs typeface="Calibri"/>
                <a:sym typeface="Calibri"/>
              </a:rPr>
              <a:t>Sensors and components may be used to create a device designed to provide a large collection of cycling data.</a:t>
            </a:r>
            <a:endParaRPr>
              <a:latin typeface="Calibri"/>
              <a:ea typeface="Calibri"/>
              <a:cs typeface="Calibri"/>
              <a:sym typeface="Calibri"/>
            </a:endParaRPr>
          </a:p>
          <a:p>
            <a:pPr indent="0" lvl="0" marL="0" rtl="0" algn="l">
              <a:lnSpc>
                <a:spcPct val="115000"/>
              </a:lnSpc>
              <a:spcBef>
                <a:spcPts val="1600"/>
              </a:spcBef>
              <a:spcAft>
                <a:spcPts val="0"/>
              </a:spcAft>
              <a:buSzPts val="1800"/>
              <a:buNone/>
            </a:pPr>
            <a:r>
              <a:rPr lang="en">
                <a:latin typeface="Calibri"/>
                <a:ea typeface="Calibri"/>
                <a:cs typeface="Calibri"/>
                <a:sym typeface="Calibri"/>
              </a:rPr>
              <a:t>Attaching sensors and components directly to the bicycle allows for more specific cycling data to be measured.</a:t>
            </a:r>
            <a:endParaRPr>
              <a:latin typeface="Calibri"/>
              <a:ea typeface="Calibri"/>
              <a:cs typeface="Calibri"/>
              <a:sym typeface="Calibri"/>
            </a:endParaRPr>
          </a:p>
          <a:p>
            <a:pPr indent="0" lvl="0" marL="0" rtl="0" algn="l">
              <a:lnSpc>
                <a:spcPct val="115000"/>
              </a:lnSpc>
              <a:spcBef>
                <a:spcPts val="1600"/>
              </a:spcBef>
              <a:spcAft>
                <a:spcPts val="0"/>
              </a:spcAft>
              <a:buSzPts val="1800"/>
              <a:buNone/>
            </a:pPr>
            <a:r>
              <a:rPr lang="en">
                <a:latin typeface="Calibri"/>
                <a:ea typeface="Calibri"/>
                <a:cs typeface="Calibri"/>
                <a:sym typeface="Calibri"/>
              </a:rPr>
              <a:t>Transmitting cycling data to a companion application will provide record of each cycling session for use in improving a user’s cycling skills.</a:t>
            </a:r>
            <a:endParaRPr>
              <a:latin typeface="Calibri"/>
              <a:ea typeface="Calibri"/>
              <a:cs typeface="Calibri"/>
              <a:sym typeface="Calibri"/>
            </a:endParaRPr>
          </a:p>
          <a:p>
            <a:pPr indent="0" lvl="0" marL="0" rtl="0" algn="l">
              <a:lnSpc>
                <a:spcPct val="115000"/>
              </a:lnSpc>
              <a:spcBef>
                <a:spcPts val="1600"/>
              </a:spcBef>
              <a:spcAft>
                <a:spcPts val="1600"/>
              </a:spcAft>
              <a:buSzPts val="1800"/>
              <a:buNone/>
            </a:pPr>
            <a:r>
              <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5"/>
          <p:cNvPicPr preferRelativeResize="0"/>
          <p:nvPr/>
        </p:nvPicPr>
        <p:blipFill rotWithShape="1">
          <a:blip r:embed="rId3">
            <a:alphaModFix/>
          </a:blip>
          <a:srcRect b="0" l="0" r="0" t="0"/>
          <a:stretch/>
        </p:blipFill>
        <p:spPr>
          <a:xfrm>
            <a:off x="350813" y="68250"/>
            <a:ext cx="8442375" cy="5006999"/>
          </a:xfrm>
          <a:prstGeom prst="rect">
            <a:avLst/>
          </a:prstGeom>
          <a:noFill/>
          <a:ln>
            <a:noFill/>
          </a:ln>
        </p:spPr>
      </p:pic>
      <p:sp>
        <p:nvSpPr>
          <p:cNvPr id="74" name="Google Shape;74;p5"/>
          <p:cNvSpPr txBox="1"/>
          <p:nvPr>
            <p:ph idx="4294967295" type="title"/>
          </p:nvPr>
        </p:nvSpPr>
        <p:spPr>
          <a:xfrm>
            <a:off x="592675" y="276950"/>
            <a:ext cx="16665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SKETCH</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a715356b46_0_10"/>
          <p:cNvSpPr txBox="1"/>
          <p:nvPr>
            <p:ph type="title"/>
          </p:nvPr>
        </p:nvSpPr>
        <p:spPr>
          <a:xfrm>
            <a:off x="339700" y="277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BLOCK DIAGRAM</a:t>
            </a:r>
            <a:endParaRPr>
              <a:latin typeface="Calibri"/>
              <a:ea typeface="Calibri"/>
              <a:cs typeface="Calibri"/>
              <a:sym typeface="Calibri"/>
            </a:endParaRPr>
          </a:p>
        </p:txBody>
      </p:sp>
      <p:pic>
        <p:nvPicPr>
          <p:cNvPr id="80" name="Google Shape;80;ga715356b46_0_10"/>
          <p:cNvPicPr preferRelativeResize="0"/>
          <p:nvPr/>
        </p:nvPicPr>
        <p:blipFill rotWithShape="1">
          <a:blip r:embed="rId3">
            <a:alphaModFix/>
          </a:blip>
          <a:srcRect b="0" l="0" r="0" t="0"/>
          <a:stretch/>
        </p:blipFill>
        <p:spPr>
          <a:xfrm>
            <a:off x="1751072" y="1017725"/>
            <a:ext cx="5641851" cy="39111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a79ffe57d7_0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BILL OF MATERIALS</a:t>
            </a:r>
            <a:endParaRPr/>
          </a:p>
        </p:txBody>
      </p:sp>
      <p:graphicFrame>
        <p:nvGraphicFramePr>
          <p:cNvPr id="86" name="Google Shape;86;ga79ffe57d7_0_0"/>
          <p:cNvGraphicFramePr/>
          <p:nvPr/>
        </p:nvGraphicFramePr>
        <p:xfrm>
          <a:off x="173400" y="1417325"/>
          <a:ext cx="3000000" cy="3000000"/>
        </p:xfrm>
        <a:graphic>
          <a:graphicData uri="http://schemas.openxmlformats.org/drawingml/2006/table">
            <a:tbl>
              <a:tblPr>
                <a:noFill/>
                <a:tableStyleId>{034C01A3-FDAF-4C8D-8721-927A3D686F66}</a:tableStyleId>
              </a:tblPr>
              <a:tblGrid>
                <a:gridCol w="1242725"/>
                <a:gridCol w="3022150"/>
                <a:gridCol w="611750"/>
                <a:gridCol w="928950"/>
                <a:gridCol w="1871575"/>
                <a:gridCol w="1182475"/>
              </a:tblGrid>
              <a:tr h="200025">
                <a:tc>
                  <a:txBody>
                    <a:bodyPr/>
                    <a:lstStyle/>
                    <a:p>
                      <a:pPr indent="0" lvl="0" marL="0" rtl="0" algn="l">
                        <a:lnSpc>
                          <a:spcPct val="115000"/>
                        </a:lnSpc>
                        <a:spcBef>
                          <a:spcPts val="0"/>
                        </a:spcBef>
                        <a:spcAft>
                          <a:spcPts val="0"/>
                        </a:spcAft>
                        <a:buNone/>
                      </a:pPr>
                      <a:r>
                        <a:rPr b="1" lang="en" sz="1000"/>
                        <a:t>Part Number</a:t>
                      </a:r>
                      <a:endParaRPr b="1"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0:0"/>
                      </a:ext>
                    </a:extLst>
                  </a:tcPr>
                </a:tc>
                <a:tc>
                  <a:txBody>
                    <a:bodyPr/>
                    <a:lstStyle/>
                    <a:p>
                      <a:pPr indent="0" lvl="0" marL="0" rtl="0" algn="l">
                        <a:lnSpc>
                          <a:spcPct val="115000"/>
                        </a:lnSpc>
                        <a:spcBef>
                          <a:spcPts val="0"/>
                        </a:spcBef>
                        <a:spcAft>
                          <a:spcPts val="0"/>
                        </a:spcAft>
                        <a:buNone/>
                      </a:pPr>
                      <a:r>
                        <a:rPr b="1" lang="en" sz="1000"/>
                        <a:t>Product Name</a:t>
                      </a:r>
                      <a:endParaRPr b="1"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0:1"/>
                      </a:ext>
                    </a:extLst>
                  </a:tcPr>
                </a:tc>
                <a:tc>
                  <a:txBody>
                    <a:bodyPr/>
                    <a:lstStyle/>
                    <a:p>
                      <a:pPr indent="0" lvl="0" marL="0" rtl="0" algn="ctr">
                        <a:lnSpc>
                          <a:spcPct val="115000"/>
                        </a:lnSpc>
                        <a:spcBef>
                          <a:spcPts val="0"/>
                        </a:spcBef>
                        <a:spcAft>
                          <a:spcPts val="0"/>
                        </a:spcAft>
                        <a:buNone/>
                      </a:pPr>
                      <a:r>
                        <a:rPr b="1" lang="en" sz="1000"/>
                        <a:t>Quantity</a:t>
                      </a:r>
                      <a:endParaRPr b="1"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0:2"/>
                      </a:ext>
                    </a:extLst>
                  </a:tcPr>
                </a:tc>
                <a:tc>
                  <a:txBody>
                    <a:bodyPr/>
                    <a:lstStyle/>
                    <a:p>
                      <a:pPr indent="0" lvl="0" marL="0" rtl="0" algn="ctr">
                        <a:lnSpc>
                          <a:spcPct val="115000"/>
                        </a:lnSpc>
                        <a:spcBef>
                          <a:spcPts val="0"/>
                        </a:spcBef>
                        <a:spcAft>
                          <a:spcPts val="0"/>
                        </a:spcAft>
                        <a:buNone/>
                      </a:pPr>
                      <a:r>
                        <a:rPr b="1" lang="en" sz="1000"/>
                        <a:t>Cost per Unit</a:t>
                      </a:r>
                      <a:endParaRPr b="1"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0:3"/>
                      </a:ext>
                    </a:extLst>
                  </a:tcPr>
                </a:tc>
                <a:tc>
                  <a:txBody>
                    <a:bodyPr/>
                    <a:lstStyle/>
                    <a:p>
                      <a:pPr indent="0" lvl="0" marL="0" rtl="0" algn="l">
                        <a:lnSpc>
                          <a:spcPct val="115000"/>
                        </a:lnSpc>
                        <a:spcBef>
                          <a:spcPts val="0"/>
                        </a:spcBef>
                        <a:spcAft>
                          <a:spcPts val="0"/>
                        </a:spcAft>
                        <a:buNone/>
                      </a:pPr>
                      <a:r>
                        <a:rPr b="1" lang="en" sz="1000"/>
                        <a:t>Description</a:t>
                      </a:r>
                      <a:endParaRPr b="1"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0:4"/>
                      </a:ext>
                    </a:extLst>
                  </a:tcPr>
                </a:tc>
                <a:tc>
                  <a:txBody>
                    <a:bodyPr/>
                    <a:lstStyle/>
                    <a:p>
                      <a:pPr indent="0" lvl="0" marL="0" rtl="0" algn="l">
                        <a:lnSpc>
                          <a:spcPct val="115000"/>
                        </a:lnSpc>
                        <a:spcBef>
                          <a:spcPts val="0"/>
                        </a:spcBef>
                        <a:spcAft>
                          <a:spcPts val="0"/>
                        </a:spcAft>
                        <a:buNone/>
                      </a:pPr>
                      <a:r>
                        <a:rPr b="1" lang="en" sz="1000"/>
                        <a:t>Standards</a:t>
                      </a:r>
                      <a:endParaRPr b="1"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0:5"/>
                      </a:ext>
                    </a:extLst>
                  </a:tcPr>
                </a:tc>
              </a:tr>
              <a:tr h="200025">
                <a:tc>
                  <a:txBody>
                    <a:bodyPr/>
                    <a:lstStyle/>
                    <a:p>
                      <a:pPr indent="0" lvl="0" marL="0" rtl="0" algn="l">
                        <a:lnSpc>
                          <a:spcPct val="115000"/>
                        </a:lnSpc>
                        <a:spcBef>
                          <a:spcPts val="0"/>
                        </a:spcBef>
                        <a:spcAft>
                          <a:spcPts val="0"/>
                        </a:spcAft>
                        <a:buNone/>
                      </a:pPr>
                      <a:r>
                        <a:rPr lang="en" sz="1000"/>
                        <a:t>ABX00027</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1:0"/>
                      </a:ext>
                    </a:extLst>
                  </a:tcPr>
                </a:tc>
                <a:tc>
                  <a:txBody>
                    <a:bodyPr/>
                    <a:lstStyle/>
                    <a:p>
                      <a:pPr indent="0" lvl="0" marL="0" rtl="0" algn="l">
                        <a:lnSpc>
                          <a:spcPct val="115000"/>
                        </a:lnSpc>
                        <a:spcBef>
                          <a:spcPts val="0"/>
                        </a:spcBef>
                        <a:spcAft>
                          <a:spcPts val="0"/>
                        </a:spcAft>
                        <a:buNone/>
                      </a:pPr>
                      <a:r>
                        <a:rPr lang="en" sz="1000"/>
                        <a:t>Arduino Nano 33 IOT</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1:1"/>
                      </a:ext>
                    </a:extLst>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1:2"/>
                      </a:ext>
                    </a:extLst>
                  </a:tcPr>
                </a:tc>
                <a:tc>
                  <a:txBody>
                    <a:bodyPr/>
                    <a:lstStyle/>
                    <a:p>
                      <a:pPr indent="0" lvl="0" marL="0" rtl="0" algn="ctr">
                        <a:lnSpc>
                          <a:spcPct val="115000"/>
                        </a:lnSpc>
                        <a:spcBef>
                          <a:spcPts val="0"/>
                        </a:spcBef>
                        <a:spcAft>
                          <a:spcPts val="0"/>
                        </a:spcAft>
                        <a:buNone/>
                      </a:pPr>
                      <a:r>
                        <a:rPr lang="en" sz="1000"/>
                        <a:t>$18.40</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1:3"/>
                      </a:ext>
                    </a:extLst>
                  </a:tcPr>
                </a:tc>
                <a:tc>
                  <a:txBody>
                    <a:bodyPr/>
                    <a:lstStyle/>
                    <a:p>
                      <a:pPr indent="0" lvl="0" marL="0" rtl="0" algn="l">
                        <a:lnSpc>
                          <a:spcPct val="115000"/>
                        </a:lnSpc>
                        <a:spcBef>
                          <a:spcPts val="0"/>
                        </a:spcBef>
                        <a:spcAft>
                          <a:spcPts val="0"/>
                        </a:spcAft>
                        <a:buNone/>
                      </a:pPr>
                      <a:r>
                        <a:rPr lang="en" sz="1000"/>
                        <a:t>Microcontrollers with Bluetooth</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1:4"/>
                      </a:ext>
                    </a:extLst>
                  </a:tcPr>
                </a:tc>
                <a:tc>
                  <a:txBody>
                    <a:bodyPr/>
                    <a:lstStyle/>
                    <a:p>
                      <a:pPr indent="0" lvl="0" marL="0" rtl="0" algn="l">
                        <a:lnSpc>
                          <a:spcPct val="115000"/>
                        </a:lnSpc>
                        <a:spcBef>
                          <a:spcPts val="0"/>
                        </a:spcBef>
                        <a:spcAft>
                          <a:spcPts val="0"/>
                        </a:spcAft>
                        <a:buNone/>
                      </a:pPr>
                      <a:r>
                        <a:rPr lang="en" sz="1000"/>
                        <a:t>IEEE 802.11b/g/n</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1:5"/>
                      </a:ext>
                    </a:extLst>
                  </a:tcPr>
                </a:tc>
              </a:tr>
              <a:tr h="200025">
                <a:tc>
                  <a:txBody>
                    <a:bodyPr/>
                    <a:lstStyle/>
                    <a:p>
                      <a:pPr indent="0" lvl="0" marL="0" rtl="0" algn="l">
                        <a:lnSpc>
                          <a:spcPct val="115000"/>
                        </a:lnSpc>
                        <a:spcBef>
                          <a:spcPts val="0"/>
                        </a:spcBef>
                        <a:spcAft>
                          <a:spcPts val="0"/>
                        </a:spcAft>
                        <a:buNone/>
                      </a:pPr>
                      <a:r>
                        <a:rPr lang="en" sz="1000"/>
                        <a:t>Adafruit PID: 4224</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2:0"/>
                      </a:ext>
                    </a:extLst>
                  </a:tcPr>
                </a:tc>
                <a:tc>
                  <a:txBody>
                    <a:bodyPr/>
                    <a:lstStyle/>
                    <a:p>
                      <a:pPr indent="0" lvl="0" marL="0" rtl="0" algn="l">
                        <a:lnSpc>
                          <a:spcPct val="115000"/>
                        </a:lnSpc>
                        <a:spcBef>
                          <a:spcPts val="0"/>
                        </a:spcBef>
                        <a:spcAft>
                          <a:spcPts val="0"/>
                        </a:spcAft>
                        <a:buNone/>
                      </a:pPr>
                      <a:r>
                        <a:rPr lang="en" sz="1000"/>
                        <a:t>Adafruit eInk Breakout Friend with 32KB SRAM</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2:1"/>
                      </a:ext>
                    </a:extLst>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2:2"/>
                      </a:ext>
                    </a:extLst>
                  </a:tcPr>
                </a:tc>
                <a:tc>
                  <a:txBody>
                    <a:bodyPr/>
                    <a:lstStyle/>
                    <a:p>
                      <a:pPr indent="0" lvl="0" marL="0" rtl="0" algn="ctr">
                        <a:lnSpc>
                          <a:spcPct val="115000"/>
                        </a:lnSpc>
                        <a:spcBef>
                          <a:spcPts val="0"/>
                        </a:spcBef>
                        <a:spcAft>
                          <a:spcPts val="0"/>
                        </a:spcAft>
                        <a:buNone/>
                      </a:pPr>
                      <a:r>
                        <a:rPr lang="en" sz="1000"/>
                        <a:t>$8.50</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2:3"/>
                      </a:ext>
                    </a:extLst>
                  </a:tcPr>
                </a:tc>
                <a:tc>
                  <a:txBody>
                    <a:bodyPr/>
                    <a:lstStyle/>
                    <a:p>
                      <a:pPr indent="0" lvl="0" marL="0" rtl="0" algn="l">
                        <a:lnSpc>
                          <a:spcPct val="115000"/>
                        </a:lnSpc>
                        <a:spcBef>
                          <a:spcPts val="0"/>
                        </a:spcBef>
                        <a:spcAft>
                          <a:spcPts val="0"/>
                        </a:spcAft>
                        <a:buNone/>
                      </a:pPr>
                      <a:r>
                        <a:rPr lang="en" sz="1000"/>
                        <a:t>Memory buffer for eInk display</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2:4"/>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2:5"/>
                      </a:ext>
                    </a:extLst>
                  </a:tcPr>
                </a:tc>
              </a:tr>
              <a:tr h="200025">
                <a:tc>
                  <a:txBody>
                    <a:bodyPr/>
                    <a:lstStyle/>
                    <a:p>
                      <a:pPr indent="0" lvl="0" marL="0" rtl="0" algn="l">
                        <a:lnSpc>
                          <a:spcPct val="115000"/>
                        </a:lnSpc>
                        <a:spcBef>
                          <a:spcPts val="0"/>
                        </a:spcBef>
                        <a:spcAft>
                          <a:spcPts val="0"/>
                        </a:spcAft>
                        <a:buNone/>
                      </a:pPr>
                      <a:r>
                        <a:rPr lang="en" sz="1000"/>
                        <a:t>Adafruit PID: 4262</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3:0"/>
                      </a:ext>
                    </a:extLst>
                  </a:tcPr>
                </a:tc>
                <a:tc>
                  <a:txBody>
                    <a:bodyPr/>
                    <a:lstStyle/>
                    <a:p>
                      <a:pPr indent="0" lvl="0" marL="0" rtl="0" algn="l">
                        <a:lnSpc>
                          <a:spcPct val="115000"/>
                        </a:lnSpc>
                        <a:spcBef>
                          <a:spcPts val="0"/>
                        </a:spcBef>
                        <a:spcAft>
                          <a:spcPts val="0"/>
                        </a:spcAft>
                        <a:buNone/>
                      </a:pPr>
                      <a:r>
                        <a:rPr lang="en" sz="1000"/>
                        <a:t>2.9" Flexible Monochrome eInk</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3:1"/>
                      </a:ext>
                    </a:extLst>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3:2"/>
                      </a:ext>
                    </a:extLst>
                  </a:tcPr>
                </a:tc>
                <a:tc>
                  <a:txBody>
                    <a:bodyPr/>
                    <a:lstStyle/>
                    <a:p>
                      <a:pPr indent="0" lvl="0" marL="0" rtl="0" algn="ctr">
                        <a:lnSpc>
                          <a:spcPct val="115000"/>
                        </a:lnSpc>
                        <a:spcBef>
                          <a:spcPts val="0"/>
                        </a:spcBef>
                        <a:spcAft>
                          <a:spcPts val="0"/>
                        </a:spcAft>
                        <a:buNone/>
                      </a:pPr>
                      <a:r>
                        <a:rPr lang="en" sz="1000"/>
                        <a:t>$26.95</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3:3"/>
                      </a:ext>
                    </a:extLst>
                  </a:tcPr>
                </a:tc>
                <a:tc>
                  <a:txBody>
                    <a:bodyPr/>
                    <a:lstStyle/>
                    <a:p>
                      <a:pPr indent="0" lvl="0" marL="0" rtl="0" algn="l">
                        <a:lnSpc>
                          <a:spcPct val="115000"/>
                        </a:lnSpc>
                        <a:spcBef>
                          <a:spcPts val="0"/>
                        </a:spcBef>
                        <a:spcAft>
                          <a:spcPts val="0"/>
                        </a:spcAft>
                        <a:buNone/>
                      </a:pPr>
                      <a:r>
                        <a:rPr lang="en" sz="1000"/>
                        <a:t>Low power eInk display</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3:4"/>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3:5"/>
                      </a:ext>
                    </a:extLst>
                  </a:tcPr>
                </a:tc>
              </a:tr>
              <a:tr h="200025">
                <a:tc>
                  <a:txBody>
                    <a:bodyPr/>
                    <a:lstStyle/>
                    <a:p>
                      <a:pPr indent="0" lvl="0" marL="0" rtl="0" algn="l">
                        <a:lnSpc>
                          <a:spcPct val="115000"/>
                        </a:lnSpc>
                        <a:spcBef>
                          <a:spcPts val="0"/>
                        </a:spcBef>
                        <a:spcAft>
                          <a:spcPts val="0"/>
                        </a:spcAft>
                        <a:buNone/>
                      </a:pPr>
                      <a:r>
                        <a:rPr lang="en" sz="1000"/>
                        <a:t>C000160</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4:0"/>
                      </a:ext>
                    </a:extLst>
                  </a:tcPr>
                </a:tc>
                <a:tc>
                  <a:txBody>
                    <a:bodyPr/>
                    <a:lstStyle/>
                    <a:p>
                      <a:pPr indent="0" lvl="0" marL="0" rtl="0" algn="l">
                        <a:lnSpc>
                          <a:spcPct val="115000"/>
                        </a:lnSpc>
                        <a:spcBef>
                          <a:spcPts val="0"/>
                        </a:spcBef>
                        <a:spcAft>
                          <a:spcPts val="0"/>
                        </a:spcAft>
                        <a:buNone/>
                      </a:pPr>
                      <a:r>
                        <a:rPr lang="en" sz="1000"/>
                        <a:t>Grove - Infrared Reflective Sensor V1.2</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4:1"/>
                      </a:ext>
                    </a:extLst>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4:2"/>
                      </a:ext>
                    </a:extLst>
                  </a:tcPr>
                </a:tc>
                <a:tc>
                  <a:txBody>
                    <a:bodyPr/>
                    <a:lstStyle/>
                    <a:p>
                      <a:pPr indent="0" lvl="0" marL="0" rtl="0" algn="ctr">
                        <a:lnSpc>
                          <a:spcPct val="115000"/>
                        </a:lnSpc>
                        <a:spcBef>
                          <a:spcPts val="0"/>
                        </a:spcBef>
                        <a:spcAft>
                          <a:spcPts val="0"/>
                        </a:spcAft>
                        <a:buNone/>
                      </a:pPr>
                      <a:r>
                        <a:rPr lang="en" sz="1000"/>
                        <a:t>$5.90</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4:3"/>
                      </a:ext>
                    </a:extLst>
                  </a:tcPr>
                </a:tc>
                <a:tc>
                  <a:txBody>
                    <a:bodyPr/>
                    <a:lstStyle/>
                    <a:p>
                      <a:pPr indent="0" lvl="0" marL="0" rtl="0" algn="l">
                        <a:lnSpc>
                          <a:spcPct val="115000"/>
                        </a:lnSpc>
                        <a:spcBef>
                          <a:spcPts val="0"/>
                        </a:spcBef>
                        <a:spcAft>
                          <a:spcPts val="0"/>
                        </a:spcAft>
                        <a:buNone/>
                      </a:pPr>
                      <a:r>
                        <a:rPr lang="en" sz="1000"/>
                        <a:t>Measures angular frequency</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4:4"/>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4:5"/>
                      </a:ext>
                    </a:extLst>
                  </a:tcPr>
                </a:tc>
              </a:tr>
              <a:tr h="200025">
                <a:tc>
                  <a:txBody>
                    <a:bodyPr/>
                    <a:lstStyle/>
                    <a:p>
                      <a:pPr indent="0" lvl="0" marL="0" rtl="0" algn="l">
                        <a:lnSpc>
                          <a:spcPct val="115000"/>
                        </a:lnSpc>
                        <a:spcBef>
                          <a:spcPts val="0"/>
                        </a:spcBef>
                        <a:spcAft>
                          <a:spcPts val="0"/>
                        </a:spcAft>
                        <a:buNone/>
                      </a:pPr>
                      <a:r>
                        <a:rPr lang="en" sz="1000"/>
                        <a:t>CEA-06-125UT-350</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5:0"/>
                      </a:ext>
                    </a:extLst>
                  </a:tcPr>
                </a:tc>
                <a:tc>
                  <a:txBody>
                    <a:bodyPr/>
                    <a:lstStyle/>
                    <a:p>
                      <a:pPr indent="0" lvl="0" marL="0" rtl="0" algn="l">
                        <a:lnSpc>
                          <a:spcPct val="115000"/>
                        </a:lnSpc>
                        <a:spcBef>
                          <a:spcPts val="0"/>
                        </a:spcBef>
                        <a:spcAft>
                          <a:spcPts val="0"/>
                        </a:spcAft>
                        <a:buNone/>
                      </a:pPr>
                      <a:r>
                        <a:rPr lang="en" sz="1000"/>
                        <a:t>Micro Measurements Strain Gages</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5:1"/>
                      </a:ext>
                    </a:extLst>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5:2"/>
                      </a:ext>
                    </a:extLst>
                  </a:tcPr>
                </a:tc>
                <a:tc>
                  <a:txBody>
                    <a:bodyPr/>
                    <a:lstStyle/>
                    <a:p>
                      <a:pPr indent="0" lvl="0" marL="0" rtl="0" algn="ctr">
                        <a:lnSpc>
                          <a:spcPct val="115000"/>
                        </a:lnSpc>
                        <a:spcBef>
                          <a:spcPts val="0"/>
                        </a:spcBef>
                        <a:spcAft>
                          <a:spcPts val="0"/>
                        </a:spcAft>
                        <a:buNone/>
                      </a:pPr>
                      <a:r>
                        <a:rPr lang="en" sz="1000"/>
                        <a:t>$19.99</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5:3"/>
                      </a:ext>
                    </a:extLst>
                  </a:tcPr>
                </a:tc>
                <a:tc>
                  <a:txBody>
                    <a:bodyPr/>
                    <a:lstStyle/>
                    <a:p>
                      <a:pPr indent="0" lvl="0" marL="0" rtl="0" algn="l">
                        <a:lnSpc>
                          <a:spcPct val="115000"/>
                        </a:lnSpc>
                        <a:spcBef>
                          <a:spcPts val="0"/>
                        </a:spcBef>
                        <a:spcAft>
                          <a:spcPts val="0"/>
                        </a:spcAft>
                        <a:buNone/>
                      </a:pPr>
                      <a:r>
                        <a:rPr lang="en" sz="1000"/>
                        <a:t>Measures sheer force</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extLst>
                      <a:ext uri="http://customooxmlschemas.google.com/">
                        <go:slidesCustomData xmlns:go="http://customooxmlschemas.google.com/" cellId="86:5:4"/>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5:5"/>
                      </a:ext>
                    </a:extLst>
                  </a:tcPr>
                </a:tc>
              </a:tr>
              <a:tr h="200025">
                <a:tc>
                  <a:txBody>
                    <a:bodyPr/>
                    <a:lstStyle/>
                    <a:p>
                      <a:pPr indent="0" lvl="0" marL="0" rtl="0" algn="l">
                        <a:lnSpc>
                          <a:spcPct val="115000"/>
                        </a:lnSpc>
                        <a:spcBef>
                          <a:spcPts val="0"/>
                        </a:spcBef>
                        <a:spcAft>
                          <a:spcPts val="0"/>
                        </a:spcAft>
                        <a:buNone/>
                      </a:pPr>
                      <a:r>
                        <a:rPr lang="en" sz="1000"/>
                        <a:t>176SF1D-L394</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6:0"/>
                      </a:ext>
                    </a:extLst>
                  </a:tcPr>
                </a:tc>
                <a:tc>
                  <a:txBody>
                    <a:bodyPr/>
                    <a:lstStyle/>
                    <a:p>
                      <a:pPr indent="0" lvl="0" marL="0" rtl="0" algn="l">
                        <a:lnSpc>
                          <a:spcPct val="115000"/>
                        </a:lnSpc>
                        <a:spcBef>
                          <a:spcPts val="0"/>
                        </a:spcBef>
                        <a:spcAft>
                          <a:spcPts val="0"/>
                        </a:spcAft>
                        <a:buNone/>
                      </a:pPr>
                      <a:r>
                        <a:rPr lang="en" sz="1000"/>
                        <a:t>Honeywell Precision Continuous 10K </a:t>
                      </a:r>
                      <a:r>
                        <a:rPr lang="en" sz="1000"/>
                        <a:t>Potentiometer</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6:1"/>
                      </a:ext>
                    </a:extLst>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6:2"/>
                      </a:ext>
                    </a:extLst>
                  </a:tcPr>
                </a:tc>
                <a:tc>
                  <a:txBody>
                    <a:bodyPr/>
                    <a:lstStyle/>
                    <a:p>
                      <a:pPr indent="0" lvl="0" marL="0" rtl="0" algn="ctr">
                        <a:lnSpc>
                          <a:spcPct val="115000"/>
                        </a:lnSpc>
                        <a:spcBef>
                          <a:spcPts val="0"/>
                        </a:spcBef>
                        <a:spcAft>
                          <a:spcPts val="0"/>
                        </a:spcAft>
                        <a:buNone/>
                      </a:pPr>
                      <a:r>
                        <a:rPr lang="en" sz="1000"/>
                        <a:t>$25.45</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6:3"/>
                      </a:ext>
                    </a:extLst>
                  </a:tcPr>
                </a:tc>
                <a:tc>
                  <a:txBody>
                    <a:bodyPr/>
                    <a:lstStyle/>
                    <a:p>
                      <a:pPr indent="0" lvl="0" marL="0" rtl="0" algn="l">
                        <a:lnSpc>
                          <a:spcPct val="115000"/>
                        </a:lnSpc>
                        <a:spcBef>
                          <a:spcPts val="0"/>
                        </a:spcBef>
                        <a:spcAft>
                          <a:spcPts val="0"/>
                        </a:spcAft>
                        <a:buNone/>
                      </a:pPr>
                      <a:r>
                        <a:rPr lang="en" sz="1000"/>
                        <a:t>Measures wind angle</a:t>
                      </a:r>
                      <a:endParaRPr sz="1000"/>
                    </a:p>
                  </a:txBody>
                  <a:tcPr marT="19050" marB="19050" marR="28575" marL="28575" anchor="b">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extLst>
                      <a:ext uri="http://customooxmlschemas.google.com/">
                        <go:slidesCustomData xmlns:go="http://customooxmlschemas.google.com/" cellId="86:6:4"/>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FFFFFF">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6:5"/>
                      </a:ext>
                    </a:extLst>
                  </a:tcPr>
                </a:tc>
              </a:tr>
              <a:tr h="200025">
                <a:tc>
                  <a:txBody>
                    <a:bodyPr/>
                    <a:lstStyle/>
                    <a:p>
                      <a:pPr indent="0" lvl="0" marL="0" rtl="0" algn="l">
                        <a:lnSpc>
                          <a:spcPct val="115000"/>
                        </a:lnSpc>
                        <a:spcBef>
                          <a:spcPts val="0"/>
                        </a:spcBef>
                        <a:spcAft>
                          <a:spcPts val="0"/>
                        </a:spcAft>
                        <a:buNone/>
                      </a:pPr>
                      <a:r>
                        <a:rPr lang="en" sz="1000"/>
                        <a:t>PA1010D</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FFFFFF"/>
                    </a:solidFill>
                    <a:extLst>
                      <a:ext uri="http://customooxmlschemas.google.com/">
                        <go:slidesCustomData xmlns:go="http://customooxmlschemas.google.com/" cellId="86:7:0"/>
                      </a:ext>
                    </a:extLst>
                  </a:tcPr>
                </a:tc>
                <a:tc>
                  <a:txBody>
                    <a:bodyPr/>
                    <a:lstStyle/>
                    <a:p>
                      <a:pPr indent="0" lvl="0" marL="0" rtl="0" algn="l">
                        <a:lnSpc>
                          <a:spcPct val="115000"/>
                        </a:lnSpc>
                        <a:spcBef>
                          <a:spcPts val="0"/>
                        </a:spcBef>
                        <a:spcAft>
                          <a:spcPts val="0"/>
                        </a:spcAft>
                        <a:buNone/>
                      </a:pPr>
                      <a:r>
                        <a:rPr lang="en" sz="1000"/>
                        <a:t>Adafruit Mini GPS</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7:1"/>
                      </a:ext>
                    </a:extLst>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7:2"/>
                      </a:ext>
                    </a:extLst>
                  </a:tcPr>
                </a:tc>
                <a:tc>
                  <a:txBody>
                    <a:bodyPr/>
                    <a:lstStyle/>
                    <a:p>
                      <a:pPr indent="0" lvl="0" marL="0" rtl="0" algn="ctr">
                        <a:lnSpc>
                          <a:spcPct val="115000"/>
                        </a:lnSpc>
                        <a:spcBef>
                          <a:spcPts val="0"/>
                        </a:spcBef>
                        <a:spcAft>
                          <a:spcPts val="0"/>
                        </a:spcAft>
                        <a:buNone/>
                      </a:pPr>
                      <a:r>
                        <a:rPr lang="en" sz="1000"/>
                        <a:t>$29.95</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7:3"/>
                      </a:ext>
                    </a:extLst>
                  </a:tcPr>
                </a:tc>
                <a:tc>
                  <a:txBody>
                    <a:bodyPr/>
                    <a:lstStyle/>
                    <a:p>
                      <a:pPr indent="0" lvl="0" marL="0" rtl="0" algn="l">
                        <a:lnSpc>
                          <a:spcPct val="115000"/>
                        </a:lnSpc>
                        <a:spcBef>
                          <a:spcPts val="0"/>
                        </a:spcBef>
                        <a:spcAft>
                          <a:spcPts val="0"/>
                        </a:spcAft>
                        <a:buNone/>
                      </a:pPr>
                      <a:r>
                        <a:rPr lang="en" sz="1000"/>
                        <a:t>10Hz GPS module</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7:4"/>
                      </a:ext>
                    </a:extLst>
                  </a:tcPr>
                </a:tc>
                <a:tc>
                  <a:txBody>
                    <a:bodyPr/>
                    <a:lstStyle/>
                    <a:p>
                      <a:pPr indent="0" lvl="0" marL="0" rtl="0" algn="l">
                        <a:lnSpc>
                          <a:spcPct val="115000"/>
                        </a:lnSpc>
                        <a:spcBef>
                          <a:spcPts val="0"/>
                        </a:spcBef>
                        <a:spcAft>
                          <a:spcPts val="0"/>
                        </a:spcAft>
                        <a:buNone/>
                      </a:pPr>
                      <a:r>
                        <a:rPr lang="en" sz="1000"/>
                        <a:t>GPS SPS PS</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7:5"/>
                      </a:ext>
                    </a:extLst>
                  </a:tcPr>
                </a:tc>
              </a:tr>
              <a:tr h="200025">
                <a:tc>
                  <a:txBody>
                    <a:bodyPr/>
                    <a:lstStyle/>
                    <a:p>
                      <a:pPr indent="0" lvl="0" marL="0" rtl="0" algn="l">
                        <a:lnSpc>
                          <a:spcPct val="115000"/>
                        </a:lnSpc>
                        <a:spcBef>
                          <a:spcPts val="0"/>
                        </a:spcBef>
                        <a:spcAft>
                          <a:spcPts val="0"/>
                        </a:spcAft>
                        <a:buNone/>
                      </a:pPr>
                      <a:r>
                        <a:rPr lang="en" sz="1000"/>
                        <a:t>LP785060</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8:0"/>
                      </a:ext>
                    </a:extLst>
                  </a:tcPr>
                </a:tc>
                <a:tc>
                  <a:txBody>
                    <a:bodyPr/>
                    <a:lstStyle/>
                    <a:p>
                      <a:pPr indent="0" lvl="0" marL="0" rtl="0" algn="l">
                        <a:lnSpc>
                          <a:spcPct val="115000"/>
                        </a:lnSpc>
                        <a:spcBef>
                          <a:spcPts val="0"/>
                        </a:spcBef>
                        <a:spcAft>
                          <a:spcPts val="0"/>
                        </a:spcAft>
                        <a:buNone/>
                      </a:pPr>
                      <a:r>
                        <a:rPr lang="en" sz="1000"/>
                        <a:t>Lithium Ion Polymer Battery - 3.7v 2500mAh</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8:1"/>
                      </a:ext>
                    </a:extLst>
                  </a:tcPr>
                </a:tc>
                <a:tc>
                  <a:txBody>
                    <a:bodyPr/>
                    <a:lstStyle/>
                    <a:p>
                      <a:pPr indent="0" lvl="0" marL="0" rtl="0" algn="ctr">
                        <a:lnSpc>
                          <a:spcPct val="115000"/>
                        </a:lnSpc>
                        <a:spcBef>
                          <a:spcPts val="0"/>
                        </a:spcBef>
                        <a:spcAft>
                          <a:spcPts val="0"/>
                        </a:spcAft>
                        <a:buNone/>
                      </a:pPr>
                      <a:r>
                        <a:rPr lang="en" sz="1000"/>
                        <a:t>2</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8:2"/>
                      </a:ext>
                    </a:extLst>
                  </a:tcPr>
                </a:tc>
                <a:tc>
                  <a:txBody>
                    <a:bodyPr/>
                    <a:lstStyle/>
                    <a:p>
                      <a:pPr indent="0" lvl="0" marL="0" rtl="0" algn="ctr">
                        <a:lnSpc>
                          <a:spcPct val="115000"/>
                        </a:lnSpc>
                        <a:spcBef>
                          <a:spcPts val="0"/>
                        </a:spcBef>
                        <a:spcAft>
                          <a:spcPts val="0"/>
                        </a:spcAft>
                        <a:buNone/>
                      </a:pPr>
                      <a:r>
                        <a:rPr lang="en" sz="1000"/>
                        <a:t>$14.95</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8:3"/>
                      </a:ext>
                    </a:extLst>
                  </a:tcPr>
                </a:tc>
                <a:tc>
                  <a:txBody>
                    <a:bodyPr/>
                    <a:lstStyle/>
                    <a:p>
                      <a:pPr indent="0" lvl="0" marL="0" rtl="0" algn="l">
                        <a:lnSpc>
                          <a:spcPct val="115000"/>
                        </a:lnSpc>
                        <a:spcBef>
                          <a:spcPts val="0"/>
                        </a:spcBef>
                        <a:spcAft>
                          <a:spcPts val="0"/>
                        </a:spcAft>
                        <a:buNone/>
                      </a:pPr>
                      <a:r>
                        <a:rPr lang="en" sz="1000"/>
                        <a:t>Power for Microcontrollers</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8:4"/>
                      </a:ext>
                    </a:extLst>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86:8:5"/>
                      </a:ext>
                    </a:extLst>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a79ffe57d7_0_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PROGRESSION - COMPLETED TASKS</a:t>
            </a:r>
            <a:endParaRPr/>
          </a:p>
        </p:txBody>
      </p:sp>
      <p:pic>
        <p:nvPicPr>
          <p:cNvPr id="92" name="Google Shape;92;ga79ffe57d7_0_5"/>
          <p:cNvPicPr preferRelativeResize="0"/>
          <p:nvPr/>
        </p:nvPicPr>
        <p:blipFill>
          <a:blip r:embed="rId3">
            <a:alphaModFix/>
          </a:blip>
          <a:stretch>
            <a:fillRect/>
          </a:stretch>
        </p:blipFill>
        <p:spPr>
          <a:xfrm>
            <a:off x="152400" y="2098875"/>
            <a:ext cx="8839202" cy="9457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a79ffe57d7_0_10"/>
          <p:cNvSpPr txBox="1"/>
          <p:nvPr>
            <p:ph type="title"/>
          </p:nvPr>
        </p:nvSpPr>
        <p:spPr>
          <a:xfrm>
            <a:off x="124500" y="452350"/>
            <a:ext cx="8895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PROGRESSION - </a:t>
            </a:r>
            <a:r>
              <a:rPr lang="en"/>
              <a:t>UNCOMPLETED</a:t>
            </a:r>
            <a:r>
              <a:rPr lang="en"/>
              <a:t> TASKS</a:t>
            </a:r>
            <a:endParaRPr/>
          </a:p>
        </p:txBody>
      </p:sp>
      <p:pic>
        <p:nvPicPr>
          <p:cNvPr id="98" name="Google Shape;98;ga79ffe57d7_0_10"/>
          <p:cNvPicPr preferRelativeResize="0"/>
          <p:nvPr/>
        </p:nvPicPr>
        <p:blipFill>
          <a:blip r:embed="rId3">
            <a:alphaModFix/>
          </a:blip>
          <a:stretch>
            <a:fillRect/>
          </a:stretch>
        </p:blipFill>
        <p:spPr>
          <a:xfrm>
            <a:off x="1396824" y="1069051"/>
            <a:ext cx="6350375" cy="3935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a79ffe57d7_0_15"/>
          <p:cNvSpPr txBox="1"/>
          <p:nvPr>
            <p:ph type="title"/>
          </p:nvPr>
        </p:nvSpPr>
        <p:spPr>
          <a:xfrm>
            <a:off x="260900" y="293475"/>
            <a:ext cx="610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BREAKDOWN STRUCTURE</a:t>
            </a:r>
            <a:endParaRPr/>
          </a:p>
        </p:txBody>
      </p:sp>
      <p:pic>
        <p:nvPicPr>
          <p:cNvPr id="104" name="Google Shape;104;ga79ffe57d7_0_15"/>
          <p:cNvPicPr preferRelativeResize="0"/>
          <p:nvPr/>
        </p:nvPicPr>
        <p:blipFill>
          <a:blip r:embed="rId3">
            <a:alphaModFix/>
          </a:blip>
          <a:stretch>
            <a:fillRect/>
          </a:stretch>
        </p:blipFill>
        <p:spPr>
          <a:xfrm>
            <a:off x="260900" y="1017725"/>
            <a:ext cx="8622200" cy="40117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a79ffe57d7_0_20"/>
          <p:cNvSpPr txBox="1"/>
          <p:nvPr>
            <p:ph type="title"/>
          </p:nvPr>
        </p:nvSpPr>
        <p:spPr>
          <a:xfrm>
            <a:off x="311700" y="445025"/>
            <a:ext cx="2315400" cy="112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 DIAGRAM</a:t>
            </a:r>
            <a:endParaRPr/>
          </a:p>
        </p:txBody>
      </p:sp>
      <p:pic>
        <p:nvPicPr>
          <p:cNvPr id="110" name="Google Shape;110;ga79ffe57d7_0_20"/>
          <p:cNvPicPr preferRelativeResize="0"/>
          <p:nvPr/>
        </p:nvPicPr>
        <p:blipFill>
          <a:blip r:embed="rId3">
            <a:alphaModFix/>
          </a:blip>
          <a:stretch>
            <a:fillRect/>
          </a:stretch>
        </p:blipFill>
        <p:spPr>
          <a:xfrm>
            <a:off x="2848350" y="0"/>
            <a:ext cx="3447300" cy="5143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a79ffe57d7_0_25"/>
          <p:cNvSpPr txBox="1"/>
          <p:nvPr>
            <p:ph type="title"/>
          </p:nvPr>
        </p:nvSpPr>
        <p:spPr>
          <a:xfrm>
            <a:off x="198025" y="197550"/>
            <a:ext cx="1898700" cy="12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GANTT CHART</a:t>
            </a:r>
            <a:endParaRPr/>
          </a:p>
        </p:txBody>
      </p:sp>
      <p:pic>
        <p:nvPicPr>
          <p:cNvPr id="116" name="Google Shape;116;ga79ffe57d7_0_25"/>
          <p:cNvPicPr preferRelativeResize="0"/>
          <p:nvPr/>
        </p:nvPicPr>
        <p:blipFill>
          <a:blip r:embed="rId3">
            <a:alphaModFix/>
          </a:blip>
          <a:stretch>
            <a:fillRect/>
          </a:stretch>
        </p:blipFill>
        <p:spPr>
          <a:xfrm>
            <a:off x="1775475" y="506725"/>
            <a:ext cx="6873224" cy="4130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type="title"/>
          </p:nvPr>
        </p:nvSpPr>
        <p:spPr>
          <a:xfrm>
            <a:off x="311700" y="2958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QUESTIONS?</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