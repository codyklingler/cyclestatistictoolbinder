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http://customooxmlschemas.google.com/">
      <go:slidesCustomData xmlns:go="http://customooxmlschemas.google.com/" r:id="rId21" roundtripDataSignature="AMtx7mgD9mYFBm0980C71dCocS0XDT9hr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35D693D-DC14-4F71-96F5-25927679301D}">
  <a:tblStyle styleId="{F35D693D-DC14-4F71-96F5-25927679301D}" styleName="Table_0">
    <a:wholeTbl>
      <a:tcTxStyle b="off" i="off">
        <a:font>
          <a:latin typeface="Arial"/>
          <a:ea typeface="Arial"/>
          <a:cs typeface="Arial"/>
        </a:font>
        <a:srgbClr val="000000"/>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12700">
              <a:solidFill>
                <a:srgbClr val="FFFFFF"/>
              </a:solidFill>
              <a:prstDash val="solid"/>
              <a:round/>
              <a:headEnd len="sm" w="sm" type="none"/>
              <a:tailEnd len="sm" w="sm" type="none"/>
            </a:ln>
          </a:top>
          <a:bottom>
            <a:ln cap="flat" cmpd="sng" w="127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8EE3784E-7765-409E-9C27-12478ACC3733}" styleName="Table_1">
    <a:wholeTbl>
      <a:tcTxStyle>
        <a:font>
          <a:latin typeface="Arial"/>
          <a:ea typeface="Arial"/>
          <a:cs typeface="Arial"/>
        </a:font>
        <a:srgbClr val="000000"/>
      </a:tcTxStyle>
      <a:tcStyle>
        <a:tcBdr>
          <a:left>
            <a:ln cap="flat" cmpd="sng">
              <a:solidFill>
                <a:srgbClr val="000000"/>
              </a:solidFill>
              <a:prstDash val="solid"/>
              <a:round/>
              <a:headEnd len="sm" w="sm" type="none"/>
              <a:tailEnd len="sm" w="sm" type="none"/>
            </a:ln>
          </a:left>
          <a:right>
            <a:ln cap="flat" cmpd="sng">
              <a:solidFill>
                <a:srgbClr val="000000"/>
              </a:solidFill>
              <a:prstDash val="solid"/>
              <a:round/>
              <a:headEnd len="sm" w="sm" type="none"/>
              <a:tailEnd len="sm" w="sm" type="none"/>
            </a:ln>
          </a:right>
          <a:top>
            <a:ln cap="flat" cmpd="sng">
              <a:solidFill>
                <a:srgbClr val="000000"/>
              </a:solidFill>
              <a:prstDash val="solid"/>
              <a:round/>
              <a:headEnd len="sm" w="sm" type="none"/>
              <a:tailEnd len="sm" w="sm" type="none"/>
            </a:ln>
          </a:top>
          <a:bottom>
            <a:ln cap="flat" cmpd="sng">
              <a:solidFill>
                <a:srgbClr val="000000"/>
              </a:solidFill>
              <a:prstDash val="solid"/>
              <a:round/>
              <a:headEnd len="sm" w="sm" type="none"/>
              <a:tailEnd len="sm" w="sm" type="none"/>
            </a:ln>
          </a:bottom>
          <a:insideH>
            <a:ln cap="flat" cmpd="sng">
              <a:solidFill>
                <a:srgbClr val="000000"/>
              </a:solidFill>
              <a:prstDash val="solid"/>
              <a:round/>
              <a:headEnd len="sm" w="sm" type="none"/>
              <a:tailEnd len="sm" w="sm" type="none"/>
            </a:ln>
          </a:insideH>
          <a:insideV>
            <a:ln cap="flat" cmpd="sng">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10" Type="http://schemas.openxmlformats.org/officeDocument/2006/relationships/slide" Target="slides/slide4.xml"/><Relationship Id="rId21" Type="http://customschemas.google.com/relationships/presentationmetadata" Target="metadata"/><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 name="Google Shape;58;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900">
                <a:solidFill>
                  <a:schemeClr val="dk1"/>
                </a:solidFill>
              </a:rPr>
              <a:t>The Cycle Statistic Tool is a data recording device which will be attached to the frame of a bicycle. In this position, several electronic components may be used to record statistics about a user’s cycling trip. The Cycle Statistic Tool will transmit data to a companion application that is installed on a user’s smartphone. This application will utilize the collected information to provide records of a user’s cycling sessions in the form of graphs and charts that enable the user to improve their cycling skills.</a:t>
            </a:r>
            <a:endParaRPr sz="900">
              <a:solidFill>
                <a:schemeClr val="dk1"/>
              </a:solidFill>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 name="Google Shape;64;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900">
                <a:solidFill>
                  <a:schemeClr val="dk1"/>
                </a:solidFill>
              </a:rPr>
              <a:t>The figure depicts a general layout of the components of the Cycle Statistic Tool. The primary microcontroller and display will be attached to the main frame of the bicycle within the line of sight of the user. The anemometer and wind angle fin will be mounted in an unrestricted location at the front of the cycle. The secondary microcontroller is mounted on the pedal shaft to inhibit any physical tethering between the pedals and the frame, which would interfere with pedaling. </a:t>
            </a:r>
            <a:endParaRPr sz="9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ba8d29d8b3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 name="Google Shape;70;gba8d29d8b3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ba8d29d8b3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6" name="Google Shape;76;gba8d29d8b3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a79ffe57d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 name="Google Shape;82;ga79ffe57d7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900">
                <a:solidFill>
                  <a:schemeClr val="dk1"/>
                </a:solidFill>
              </a:rPr>
              <a:t>The completed tasks for the Cycle Statistic Tool are shown. The expected and actual time for each task is displayed. Currently, these tasks consist of research and design of the product. We will continue to research components and bluetooth as the project continues. </a:t>
            </a:r>
            <a:endParaRPr sz="900">
              <a:solidFill>
                <a:schemeClr val="dk1"/>
              </a:solidFill>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a79ffe57d7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 name="Google Shape;88;ga79ffe57d7_0_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This Gantt Chart was created from the network diagram that you saw from before. It is used to create timeline for when each task should be completed to stay on course with our deadline. In this chart the critical path is highlighted in red.</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a79ffe57d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4" name="Google Shape;94;ga79ffe57d7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900">
                <a:solidFill>
                  <a:schemeClr val="dk1"/>
                </a:solidFill>
              </a:rPr>
              <a:t>The bill of materials for the final design are displayed. For each component purchased, we have listed the part number, product name, quantity, cost per unit, description, and any applicable standards. Some parts have still not been finalized, such as the stabilizer and motor for the anemometer. This is because we already have some parts that could be used for the project, first they need to be tested for efficacy.</a:t>
            </a:r>
            <a:endParaRPr sz="900">
              <a:solidFill>
                <a:schemeClr val="dk1"/>
              </a:solidFill>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a715356b46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0" name="Google Shape;100;ga715356b46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900">
                <a:solidFill>
                  <a:schemeClr val="dk1"/>
                </a:solidFill>
              </a:rPr>
              <a:t>The block diagram of the cycle statistic tool represent the two microcontrollers used in our design and the system of components connected to each. The primary microcontroller will be used as the primary board to connect all sensors and for operation of the device. The secondary microcontroller will be attached to the pedal shaft to wirelessly relay data from this position to the primary board. The block diagram depicts each component connected to the respective microcontroller and the component’s method of transmission. The block diagram is a necessary prelude to the more detailed design schematics of the product.</a:t>
            </a:r>
            <a:endParaRPr sz="900">
              <a:solidFill>
                <a:schemeClr val="dk1"/>
              </a:solidFill>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ba8d29d8b3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6" name="Google Shape;106;gba8d29d8b3_0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ba8d29d8b3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2" name="Google Shape;112;gba8d29d8b3_0_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c7f677dab1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 name="Google Shape;118;gc7f677dab1_0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c7f677dab1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4" name="Google Shape;124;gc7f677dab1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c7fafa20c4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c7fafa20c4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10"/>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10"/>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1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1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6" name="Google Shape;16;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 name="Shape 17"/>
        <p:cNvGrpSpPr/>
        <p:nvPr/>
      </p:nvGrpSpPr>
      <p:grpSpPr>
        <a:xfrm>
          <a:off x="0" y="0"/>
          <a:ext cx="0" cy="0"/>
          <a:chOff x="0" y="0"/>
          <a:chExt cx="0" cy="0"/>
        </a:xfrm>
      </p:grpSpPr>
      <p:sp>
        <p:nvSpPr>
          <p:cNvPr id="18" name="Google Shape;18;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sp>
        <p:nvSpPr>
          <p:cNvPr id="20" name="Google Shape;20;p13"/>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1" name="Google Shape;21;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1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 name="Google Shape;24;p14"/>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5" name="Google Shape;25;p14"/>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6" name="Google Shape;26;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9" name="Google Shape;29;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16"/>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2" name="Google Shape;32;p16"/>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3" name="Google Shape;33;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4" name="Shape 34"/>
        <p:cNvGrpSpPr/>
        <p:nvPr/>
      </p:nvGrpSpPr>
      <p:grpSpPr>
        <a:xfrm>
          <a:off x="0" y="0"/>
          <a:ext cx="0" cy="0"/>
          <a:chOff x="0" y="0"/>
          <a:chExt cx="0" cy="0"/>
        </a:xfrm>
      </p:grpSpPr>
      <p:sp>
        <p:nvSpPr>
          <p:cNvPr id="35" name="Google Shape;35;p17"/>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6" name="Google Shape;36;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18"/>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18"/>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0" name="Google Shape;40;p18"/>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1" name="Google Shape;41;p18"/>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42" name="Google Shape;42;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9"/>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vl1pPr>
          </a:lstStyle>
          <a:p/>
        </p:txBody>
      </p:sp>
      <p:sp>
        <p:nvSpPr>
          <p:cNvPr id="45" name="Google Shape;45;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20"/>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8" name="Google Shape;48;p20"/>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49" name="Google Shape;49;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altcodeunicode.com/cubed-alt-code/"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hyperlink" Target="http://www.youtube.com/watch?v=VXP39k-L_1w" TargetMode="External"/><Relationship Id="rId4" Type="http://schemas.openxmlformats.org/officeDocument/2006/relationships/image" Target="../media/image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7.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hyperlink" Target="http://www.youtube.com/watch?v=NlDLH4bd4hg" TargetMode="External"/><Relationship Id="rId4" Type="http://schemas.openxmlformats.org/officeDocument/2006/relationships/image" Target="../media/image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hyperlink" Target="http://www.youtube.com/watch?v=r0tY2aFdC9k" TargetMode="External"/><Relationship Id="rId4" Type="http://schemas.openxmlformats.org/officeDocument/2006/relationships/image" Target="../media/image3.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5200"/>
              <a:buNone/>
            </a:pPr>
            <a:r>
              <a:rPr lang="en">
                <a:latin typeface="Calibri"/>
                <a:ea typeface="Calibri"/>
                <a:cs typeface="Calibri"/>
                <a:sym typeface="Calibri"/>
              </a:rPr>
              <a:t>Cycle Statistic Tool</a:t>
            </a:r>
            <a:endParaRPr>
              <a:latin typeface="Calibri"/>
              <a:ea typeface="Calibri"/>
              <a:cs typeface="Calibri"/>
              <a:sym typeface="Calibri"/>
            </a:endParaRPr>
          </a:p>
        </p:txBody>
      </p:sp>
      <p:sp>
        <p:nvSpPr>
          <p:cNvPr id="55" name="Google Shape;55;p1"/>
          <p:cNvSpPr txBox="1"/>
          <p:nvPr>
            <p:ph idx="1" type="subTitle"/>
          </p:nvPr>
        </p:nvSpPr>
        <p:spPr>
          <a:xfrm>
            <a:off x="1698450" y="2797175"/>
            <a:ext cx="5747100" cy="10419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
                <a:latin typeface="Calibri"/>
                <a:ea typeface="Calibri"/>
                <a:cs typeface="Calibri"/>
                <a:sym typeface="Calibri"/>
              </a:rPr>
              <a:t>Cody Klingler COE </a:t>
            </a:r>
            <a:endParaRPr>
              <a:latin typeface="Calibri"/>
              <a:ea typeface="Calibri"/>
              <a:cs typeface="Calibri"/>
              <a:sym typeface="Calibri"/>
            </a:endParaRPr>
          </a:p>
          <a:p>
            <a:pPr indent="0" lvl="0" marL="0" rtl="0" algn="ctr">
              <a:lnSpc>
                <a:spcPct val="100000"/>
              </a:lnSpc>
              <a:spcBef>
                <a:spcPts val="0"/>
              </a:spcBef>
              <a:spcAft>
                <a:spcPts val="0"/>
              </a:spcAft>
              <a:buSzPts val="2800"/>
              <a:buNone/>
            </a:pPr>
            <a:r>
              <a:rPr lang="en">
                <a:latin typeface="Calibri"/>
                <a:ea typeface="Calibri"/>
                <a:cs typeface="Calibri"/>
                <a:sym typeface="Calibri"/>
              </a:rPr>
              <a:t> </a:t>
            </a:r>
            <a:r>
              <a:rPr lang="en">
                <a:latin typeface="Calibri"/>
                <a:ea typeface="Calibri"/>
                <a:cs typeface="Calibri"/>
                <a:sym typeface="Calibri"/>
              </a:rPr>
              <a:t>Jacob Hoffman COE</a:t>
            </a:r>
            <a:endParaRPr>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3"/>
          <p:cNvSpPr txBox="1"/>
          <p:nvPr>
            <p:ph type="title"/>
          </p:nvPr>
        </p:nvSpPr>
        <p:spPr>
          <a:xfrm>
            <a:off x="346700" y="277050"/>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latin typeface="Calibri"/>
                <a:ea typeface="Calibri"/>
                <a:cs typeface="Calibri"/>
                <a:sym typeface="Calibri"/>
              </a:rPr>
              <a:t>ENGINEERING SOLUTION</a:t>
            </a:r>
            <a:endParaRPr>
              <a:latin typeface="Calibri"/>
              <a:ea typeface="Calibri"/>
              <a:cs typeface="Calibri"/>
              <a:sym typeface="Calibri"/>
            </a:endParaRPr>
          </a:p>
        </p:txBody>
      </p:sp>
      <p:sp>
        <p:nvSpPr>
          <p:cNvPr id="61" name="Google Shape;61;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a:latin typeface="Calibri"/>
                <a:ea typeface="Calibri"/>
                <a:cs typeface="Calibri"/>
                <a:sym typeface="Calibri"/>
              </a:rPr>
              <a:t>Sensors and components may be used to create a device designed to provide a large collection of cycling data.</a:t>
            </a:r>
            <a:endParaRPr>
              <a:latin typeface="Calibri"/>
              <a:ea typeface="Calibri"/>
              <a:cs typeface="Calibri"/>
              <a:sym typeface="Calibri"/>
            </a:endParaRPr>
          </a:p>
          <a:p>
            <a:pPr indent="0" lvl="0" marL="0" rtl="0" algn="l">
              <a:lnSpc>
                <a:spcPct val="115000"/>
              </a:lnSpc>
              <a:spcBef>
                <a:spcPts val="1600"/>
              </a:spcBef>
              <a:spcAft>
                <a:spcPts val="0"/>
              </a:spcAft>
              <a:buSzPts val="1800"/>
              <a:buNone/>
            </a:pPr>
            <a:r>
              <a:rPr lang="en">
                <a:latin typeface="Calibri"/>
                <a:ea typeface="Calibri"/>
                <a:cs typeface="Calibri"/>
                <a:sym typeface="Calibri"/>
              </a:rPr>
              <a:t>Attaching sensors and components directly to the bicycle allows for more specific cycling data to be measured.</a:t>
            </a:r>
            <a:endParaRPr>
              <a:latin typeface="Calibri"/>
              <a:ea typeface="Calibri"/>
              <a:cs typeface="Calibri"/>
              <a:sym typeface="Calibri"/>
            </a:endParaRPr>
          </a:p>
          <a:p>
            <a:pPr indent="0" lvl="0" marL="0" rtl="0" algn="l">
              <a:lnSpc>
                <a:spcPct val="115000"/>
              </a:lnSpc>
              <a:spcBef>
                <a:spcPts val="1600"/>
              </a:spcBef>
              <a:spcAft>
                <a:spcPts val="0"/>
              </a:spcAft>
              <a:buSzPts val="1800"/>
              <a:buNone/>
            </a:pPr>
            <a:r>
              <a:rPr lang="en">
                <a:latin typeface="Calibri"/>
                <a:ea typeface="Calibri"/>
                <a:cs typeface="Calibri"/>
                <a:sym typeface="Calibri"/>
              </a:rPr>
              <a:t>Transmitting cycling data to a companion application will provide record of each cycling session for use in improving a user’s cycling skills.</a:t>
            </a:r>
            <a:endParaRPr>
              <a:latin typeface="Calibri"/>
              <a:ea typeface="Calibri"/>
              <a:cs typeface="Calibri"/>
              <a:sym typeface="Calibri"/>
            </a:endParaRPr>
          </a:p>
          <a:p>
            <a:pPr indent="0" lvl="0" marL="0" rtl="0" algn="l">
              <a:lnSpc>
                <a:spcPct val="115000"/>
              </a:lnSpc>
              <a:spcBef>
                <a:spcPts val="1600"/>
              </a:spcBef>
              <a:spcAft>
                <a:spcPts val="1600"/>
              </a:spcAft>
              <a:buSzPts val="1800"/>
              <a:buNone/>
            </a:pPr>
            <a:r>
              <a:t/>
            </a:r>
            <a:endParaRPr>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pic>
        <p:nvPicPr>
          <p:cNvPr id="66" name="Google Shape;66;p5"/>
          <p:cNvPicPr preferRelativeResize="0"/>
          <p:nvPr/>
        </p:nvPicPr>
        <p:blipFill>
          <a:blip r:embed="rId3">
            <a:alphaModFix/>
          </a:blip>
          <a:stretch>
            <a:fillRect/>
          </a:stretch>
        </p:blipFill>
        <p:spPr>
          <a:xfrm>
            <a:off x="560875" y="276950"/>
            <a:ext cx="8022250" cy="4793249"/>
          </a:xfrm>
          <a:prstGeom prst="rect">
            <a:avLst/>
          </a:prstGeom>
          <a:noFill/>
          <a:ln>
            <a:noFill/>
          </a:ln>
        </p:spPr>
      </p:pic>
      <p:sp>
        <p:nvSpPr>
          <p:cNvPr id="67" name="Google Shape;67;p5"/>
          <p:cNvSpPr txBox="1"/>
          <p:nvPr>
            <p:ph idx="4294967295" type="title"/>
          </p:nvPr>
        </p:nvSpPr>
        <p:spPr>
          <a:xfrm>
            <a:off x="592675" y="276950"/>
            <a:ext cx="16665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latin typeface="Calibri"/>
                <a:ea typeface="Calibri"/>
                <a:cs typeface="Calibri"/>
                <a:sym typeface="Calibri"/>
              </a:rPr>
              <a:t>FINAL DESIGN</a:t>
            </a:r>
            <a:endParaRPr>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gba8d29d8b3_0_10"/>
          <p:cNvSpPr txBox="1"/>
          <p:nvPr/>
        </p:nvSpPr>
        <p:spPr>
          <a:xfrm>
            <a:off x="0" y="206875"/>
            <a:ext cx="91440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700"/>
              <a:buFont typeface="Arial"/>
              <a:buNone/>
            </a:pPr>
            <a:r>
              <a:rPr b="0" i="0" lang="en" sz="2700" u="none" cap="none" strike="noStrike">
                <a:solidFill>
                  <a:srgbClr val="000000"/>
                </a:solidFill>
                <a:latin typeface="Calibri"/>
                <a:ea typeface="Calibri"/>
                <a:cs typeface="Calibri"/>
                <a:sym typeface="Calibri"/>
              </a:rPr>
              <a:t>ENGINEERING SPECIFICATIONS &amp; FUNCTIONAL REQUIREMENTS</a:t>
            </a:r>
            <a:endParaRPr b="0" i="0" sz="2700" u="none" cap="none" strike="noStrike">
              <a:solidFill>
                <a:srgbClr val="000000"/>
              </a:solidFill>
              <a:latin typeface="Calibri"/>
              <a:ea typeface="Calibri"/>
              <a:cs typeface="Calibri"/>
              <a:sym typeface="Calibri"/>
            </a:endParaRPr>
          </a:p>
        </p:txBody>
      </p:sp>
      <p:graphicFrame>
        <p:nvGraphicFramePr>
          <p:cNvPr id="73" name="Google Shape;73;gba8d29d8b3_0_10"/>
          <p:cNvGraphicFramePr/>
          <p:nvPr/>
        </p:nvGraphicFramePr>
        <p:xfrm>
          <a:off x="1709738" y="933175"/>
          <a:ext cx="3000000" cy="3000000"/>
        </p:xfrm>
        <a:graphic>
          <a:graphicData uri="http://schemas.openxmlformats.org/drawingml/2006/table">
            <a:tbl>
              <a:tblPr>
                <a:noFill/>
                <a:tableStyleId>{F35D693D-DC14-4F71-96F5-25927679301D}</a:tableStyleId>
              </a:tblPr>
              <a:tblGrid>
                <a:gridCol w="3019425"/>
                <a:gridCol w="447675"/>
                <a:gridCol w="800100"/>
                <a:gridCol w="600075"/>
                <a:gridCol w="857250"/>
              </a:tblGrid>
              <a:tr h="12700">
                <a:tc>
                  <a:txBody>
                    <a:bodyPr/>
                    <a:lstStyle/>
                    <a:p>
                      <a:pPr indent="0" lvl="0" marL="0" marR="0" rtl="0" algn="l">
                        <a:lnSpc>
                          <a:spcPct val="100000"/>
                        </a:lnSpc>
                        <a:spcBef>
                          <a:spcPts val="0"/>
                        </a:spcBef>
                        <a:spcAft>
                          <a:spcPts val="0"/>
                        </a:spcAft>
                        <a:buClr>
                          <a:srgbClr val="000000"/>
                        </a:buClr>
                        <a:buSzPts val="1300"/>
                        <a:buFont typeface="Arial"/>
                        <a:buNone/>
                      </a:pPr>
                      <a:r>
                        <a:rPr b="1" lang="en" sz="1300" u="none" cap="none" strike="noStrike">
                          <a:latin typeface="Times New Roman"/>
                          <a:ea typeface="Times New Roman"/>
                          <a:cs typeface="Times New Roman"/>
                          <a:sym typeface="Times New Roman"/>
                        </a:rPr>
                        <a:t>Engineering Specification</a:t>
                      </a:r>
                      <a:endParaRPr b="1" sz="13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ctr">
                        <a:lnSpc>
                          <a:spcPct val="100000"/>
                        </a:lnSpc>
                        <a:spcBef>
                          <a:spcPts val="0"/>
                        </a:spcBef>
                        <a:spcAft>
                          <a:spcPts val="0"/>
                        </a:spcAft>
                        <a:buClr>
                          <a:srgbClr val="000000"/>
                        </a:buClr>
                        <a:buSzPts val="1300"/>
                        <a:buFont typeface="Arial"/>
                        <a:buNone/>
                      </a:pPr>
                      <a:r>
                        <a:rPr b="1" lang="en" sz="1300" u="none" cap="none" strike="noStrike">
                          <a:latin typeface="Times New Roman"/>
                          <a:ea typeface="Times New Roman"/>
                          <a:cs typeface="Times New Roman"/>
                          <a:sym typeface="Times New Roman"/>
                        </a:rPr>
                        <a:t>Unit</a:t>
                      </a:r>
                      <a:endParaRPr b="1" sz="13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ctr">
                        <a:lnSpc>
                          <a:spcPct val="100000"/>
                        </a:lnSpc>
                        <a:spcBef>
                          <a:spcPts val="0"/>
                        </a:spcBef>
                        <a:spcAft>
                          <a:spcPts val="0"/>
                        </a:spcAft>
                        <a:buClr>
                          <a:srgbClr val="000000"/>
                        </a:buClr>
                        <a:buSzPts val="1300"/>
                        <a:buFont typeface="Arial"/>
                        <a:buNone/>
                      </a:pPr>
                      <a:r>
                        <a:rPr b="1" lang="en" sz="1300" u="none" cap="none" strike="noStrike">
                          <a:latin typeface="Times New Roman"/>
                          <a:ea typeface="Times New Roman"/>
                          <a:cs typeface="Times New Roman"/>
                          <a:sym typeface="Times New Roman"/>
                        </a:rPr>
                        <a:t>Direction</a:t>
                      </a:r>
                      <a:endParaRPr b="1" sz="13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ctr">
                        <a:lnSpc>
                          <a:spcPct val="100000"/>
                        </a:lnSpc>
                        <a:spcBef>
                          <a:spcPts val="0"/>
                        </a:spcBef>
                        <a:spcAft>
                          <a:spcPts val="0"/>
                        </a:spcAft>
                        <a:buClr>
                          <a:srgbClr val="000000"/>
                        </a:buClr>
                        <a:buSzPts val="1300"/>
                        <a:buFont typeface="Arial"/>
                        <a:buNone/>
                      </a:pPr>
                      <a:r>
                        <a:rPr b="1" lang="en" sz="1300" u="none" cap="none" strike="noStrike">
                          <a:latin typeface="Times New Roman"/>
                          <a:ea typeface="Times New Roman"/>
                          <a:cs typeface="Times New Roman"/>
                          <a:sym typeface="Times New Roman"/>
                        </a:rPr>
                        <a:t>Target</a:t>
                      </a:r>
                      <a:endParaRPr b="1" sz="13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ctr">
                        <a:lnSpc>
                          <a:spcPct val="100000"/>
                        </a:lnSpc>
                        <a:spcBef>
                          <a:spcPts val="0"/>
                        </a:spcBef>
                        <a:spcAft>
                          <a:spcPts val="0"/>
                        </a:spcAft>
                        <a:buClr>
                          <a:srgbClr val="000000"/>
                        </a:buClr>
                        <a:buSzPts val="1300"/>
                        <a:buFont typeface="Arial"/>
                        <a:buNone/>
                      </a:pPr>
                      <a:r>
                        <a:rPr b="1" lang="en" sz="1300" u="none" cap="none" strike="noStrike">
                          <a:latin typeface="Times New Roman"/>
                          <a:ea typeface="Times New Roman"/>
                          <a:cs typeface="Times New Roman"/>
                          <a:sym typeface="Times New Roman"/>
                        </a:rPr>
                        <a:t>Threshold</a:t>
                      </a:r>
                      <a:endParaRPr b="1" sz="1300" u="none" cap="none" strike="noStrike">
                        <a:latin typeface="Times New Roman"/>
                        <a:ea typeface="Times New Roman"/>
                        <a:cs typeface="Times New Roman"/>
                        <a:sym typeface="Times New Roman"/>
                      </a:endParaRPr>
                    </a:p>
                  </a:txBody>
                  <a:tcPr marT="63500" marB="63500" marR="63500" marL="63500"/>
                </a:tc>
              </a:tr>
              <a:tr h="314350">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Size</a:t>
                      </a:r>
                      <a:endParaRPr i="1" sz="1000" u="none" cap="none" strike="noStrike">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000"/>
                        <a:buFont typeface="Arial"/>
                        <a:buNone/>
                      </a:pPr>
                      <a:r>
                        <a:rPr i="1" lang="en" sz="1000" u="none" cap="none" strike="noStrike">
                          <a:latin typeface="Times New Roman"/>
                          <a:ea typeface="Times New Roman"/>
                          <a:cs typeface="Times New Roman"/>
                          <a:sym typeface="Times New Roman"/>
                        </a:rPr>
                        <a:t>Ease of use</a:t>
                      </a:r>
                      <a:endParaRPr i="1" sz="10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m</a:t>
                      </a:r>
                      <a:r>
                        <a:rPr lang="en" sz="1200" u="none" cap="none" strike="noStrike">
                          <a:solidFill>
                            <a:srgbClr val="660099"/>
                          </a:solidFill>
                          <a:uFill>
                            <a:noFill/>
                          </a:uFill>
                          <a:latin typeface="Times New Roman"/>
                          <a:ea typeface="Times New Roman"/>
                          <a:cs typeface="Times New Roman"/>
                          <a:sym typeface="Times New Roman"/>
                          <a:hlinkClick r:id="rId3">
                            <a:extLst>
                              <a:ext uri="{A12FA001-AC4F-418D-AE19-62706E023703}">
                                <ahyp:hlinkClr val="tx"/>
                              </a:ext>
                            </a:extLst>
                          </a:hlinkClick>
                        </a:rPr>
                        <a:t>³</a:t>
                      </a:r>
                      <a:endParaRPr sz="9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a:t>
                      </a:r>
                      <a:endParaRPr sz="12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.2</a:t>
                      </a:r>
                      <a:endParaRPr sz="12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.5</a:t>
                      </a:r>
                      <a:endParaRPr sz="1200" u="none" cap="none" strike="noStrike">
                        <a:latin typeface="Times New Roman"/>
                        <a:ea typeface="Times New Roman"/>
                        <a:cs typeface="Times New Roman"/>
                        <a:sym typeface="Times New Roman"/>
                      </a:endParaRPr>
                    </a:p>
                  </a:txBody>
                  <a:tcPr marT="63500" marB="63500" marR="63500" marL="63500"/>
                </a:tc>
              </a:tr>
              <a:tr h="12700">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Overall Accuracy of Sensors</a:t>
                      </a:r>
                      <a:endParaRPr sz="1200" u="none" cap="none" strike="noStrike">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000"/>
                        <a:buFont typeface="Arial"/>
                        <a:buNone/>
                      </a:pPr>
                      <a:r>
                        <a:rPr i="1" lang="en" sz="1000" u="none" cap="none" strike="noStrike">
                          <a:latin typeface="Times New Roman"/>
                          <a:ea typeface="Times New Roman"/>
                          <a:cs typeface="Times New Roman"/>
                          <a:sym typeface="Times New Roman"/>
                        </a:rPr>
                        <a:t>Accuracy of measurements</a:t>
                      </a:r>
                      <a:endParaRPr i="1" sz="1000" u="none" cap="none" strike="noStrike">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000"/>
                        <a:buFont typeface="Arial"/>
                        <a:buNone/>
                      </a:pPr>
                      <a:r>
                        <a:rPr i="1" lang="en" sz="1000" u="none" cap="none" strike="noStrike">
                          <a:latin typeface="Times New Roman"/>
                          <a:ea typeface="Times New Roman"/>
                          <a:cs typeface="Times New Roman"/>
                          <a:sym typeface="Times New Roman"/>
                        </a:rPr>
                        <a:t>Price</a:t>
                      </a:r>
                      <a:endParaRPr i="1" sz="1000" u="none" cap="none" strike="noStrike">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000"/>
                        <a:buFont typeface="Arial"/>
                        <a:buNone/>
                      </a:pPr>
                      <a:r>
                        <a:rPr i="1" lang="en" sz="1000" u="none" cap="none" strike="noStrike">
                          <a:latin typeface="Times New Roman"/>
                          <a:ea typeface="Times New Roman"/>
                          <a:cs typeface="Times New Roman"/>
                          <a:sym typeface="Times New Roman"/>
                        </a:rPr>
                        <a:t>Battery life</a:t>
                      </a:r>
                      <a:endParaRPr i="1" sz="1000" u="none" cap="none" strike="noStrike">
                        <a:latin typeface="Times New Roman"/>
                        <a:ea typeface="Times New Roman"/>
                        <a:cs typeface="Times New Roman"/>
                        <a:sym typeface="Times New Roman"/>
                      </a:endParaRPr>
                    </a:p>
                  </a:txBody>
                  <a:tcPr marT="63500" marB="63500" marR="63500" marL="63500">
                    <a:lnB cap="flat" cmpd="sng" w="12700">
                      <a:solidFill>
                        <a:srgbClr val="F4CCCC">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a:t>
                      </a:r>
                      <a:endParaRPr sz="1200" u="none" cap="none" strike="noStrike">
                        <a:latin typeface="Times New Roman"/>
                        <a:ea typeface="Times New Roman"/>
                        <a:cs typeface="Times New Roman"/>
                        <a:sym typeface="Times New Roman"/>
                      </a:endParaRPr>
                    </a:p>
                  </a:txBody>
                  <a:tcPr marT="63500" marB="63500" marR="63500" marL="63500">
                    <a:lnB cap="flat" cmpd="sng" w="12700">
                      <a:solidFill>
                        <a:srgbClr val="F4CCCC">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a:t>
                      </a:r>
                      <a:endParaRPr sz="1200" u="none" cap="none" strike="noStrike">
                        <a:latin typeface="Times New Roman"/>
                        <a:ea typeface="Times New Roman"/>
                        <a:cs typeface="Times New Roman"/>
                        <a:sym typeface="Times New Roman"/>
                      </a:endParaRPr>
                    </a:p>
                  </a:txBody>
                  <a:tcPr marT="63500" marB="63500" marR="63500" marL="63500">
                    <a:lnB cap="flat" cmpd="sng" w="12700">
                      <a:solidFill>
                        <a:srgbClr val="F4CCCC">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90</a:t>
                      </a:r>
                      <a:endParaRPr sz="1200" u="none" cap="none" strike="noStrike">
                        <a:latin typeface="Times New Roman"/>
                        <a:ea typeface="Times New Roman"/>
                        <a:cs typeface="Times New Roman"/>
                        <a:sym typeface="Times New Roman"/>
                      </a:endParaRPr>
                    </a:p>
                  </a:txBody>
                  <a:tcPr marT="63500" marB="63500" marR="63500" marL="63500">
                    <a:lnB cap="flat" cmpd="sng" w="12700">
                      <a:solidFill>
                        <a:srgbClr val="F4CCCC">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80</a:t>
                      </a:r>
                      <a:endParaRPr sz="1200" u="none" cap="none" strike="noStrike">
                        <a:latin typeface="Times New Roman"/>
                        <a:ea typeface="Times New Roman"/>
                        <a:cs typeface="Times New Roman"/>
                        <a:sym typeface="Times New Roman"/>
                      </a:endParaRPr>
                    </a:p>
                  </a:txBody>
                  <a:tcPr marT="63500" marB="63500" marR="63500" marL="63500">
                    <a:lnB cap="flat" cmpd="sng" w="12700">
                      <a:solidFill>
                        <a:srgbClr val="F4CCCC">
                          <a:alpha val="0"/>
                        </a:srgbClr>
                      </a:solidFill>
                      <a:prstDash val="solid"/>
                      <a:round/>
                      <a:headEnd len="sm" w="sm" type="none"/>
                      <a:tailEnd len="sm" w="sm" type="none"/>
                    </a:lnB>
                  </a:tcPr>
                </a:tc>
              </a:tr>
              <a:tr h="12700">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Accuracy of Power Metric</a:t>
                      </a:r>
                      <a:endParaRPr sz="1200" u="none" cap="none" strike="noStrike">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000"/>
                        <a:buFont typeface="Arial"/>
                        <a:buNone/>
                      </a:pPr>
                      <a:r>
                        <a:rPr i="1" lang="en" sz="1000" u="none" cap="none" strike="noStrike">
                          <a:latin typeface="Times New Roman"/>
                          <a:ea typeface="Times New Roman"/>
                          <a:cs typeface="Times New Roman"/>
                          <a:sym typeface="Times New Roman"/>
                        </a:rPr>
                        <a:t>Accuracy of measurements</a:t>
                      </a:r>
                      <a:endParaRPr i="1" sz="1000" u="none" cap="none" strike="noStrike">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000"/>
                        <a:buFont typeface="Arial"/>
                        <a:buNone/>
                      </a:pPr>
                      <a:r>
                        <a:rPr i="1" lang="en" sz="1000" u="none" cap="none" strike="noStrike">
                          <a:latin typeface="Times New Roman"/>
                          <a:ea typeface="Times New Roman"/>
                          <a:cs typeface="Times New Roman"/>
                          <a:sym typeface="Times New Roman"/>
                        </a:rPr>
                        <a:t>Price</a:t>
                      </a:r>
                      <a:endParaRPr i="1" sz="1000" u="none" cap="none" strike="noStrike">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000"/>
                        <a:buFont typeface="Arial"/>
                        <a:buNone/>
                      </a:pPr>
                      <a:r>
                        <a:rPr i="1" lang="en" sz="1000" u="none" cap="none" strike="noStrike">
                          <a:latin typeface="Times New Roman"/>
                          <a:ea typeface="Times New Roman"/>
                          <a:cs typeface="Times New Roman"/>
                          <a:sym typeface="Times New Roman"/>
                        </a:rPr>
                        <a:t>Battery life</a:t>
                      </a:r>
                      <a:endParaRPr i="1" sz="1000" u="none" cap="none" strike="noStrike">
                        <a:latin typeface="Times New Roman"/>
                        <a:ea typeface="Times New Roman"/>
                        <a:cs typeface="Times New Roman"/>
                        <a:sym typeface="Times New Roman"/>
                      </a:endParaRPr>
                    </a:p>
                  </a:txBody>
                  <a:tcPr marT="63500" marB="63500" marR="63500" marL="63500">
                    <a:lnL cap="flat" cmpd="sng" w="12700">
                      <a:solidFill>
                        <a:srgbClr val="F4CCCC">
                          <a:alpha val="0"/>
                        </a:srgbClr>
                      </a:solidFill>
                      <a:prstDash val="solid"/>
                      <a:round/>
                      <a:headEnd len="sm" w="sm" type="none"/>
                      <a:tailEnd len="sm" w="sm" type="none"/>
                    </a:lnL>
                    <a:lnR cap="flat" cmpd="sng" w="12700">
                      <a:solidFill>
                        <a:srgbClr val="F4CCCC">
                          <a:alpha val="0"/>
                        </a:srgbClr>
                      </a:solidFill>
                      <a:prstDash val="solid"/>
                      <a:round/>
                      <a:headEnd len="sm" w="sm" type="none"/>
                      <a:tailEnd len="sm" w="sm" type="none"/>
                    </a:lnR>
                    <a:lnT cap="flat" cmpd="sng" w="12700">
                      <a:solidFill>
                        <a:srgbClr val="F4CCCC">
                          <a:alpha val="0"/>
                        </a:srgbClr>
                      </a:solidFill>
                      <a:prstDash val="solid"/>
                      <a:round/>
                      <a:headEnd len="sm" w="sm" type="none"/>
                      <a:tailEnd len="sm" w="sm" type="none"/>
                    </a:lnT>
                    <a:lnB cap="flat" cmpd="sng" w="12700">
                      <a:solidFill>
                        <a:srgbClr val="F4CCCC">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F4CCCC">
                          <a:alpha val="0"/>
                        </a:srgbClr>
                      </a:solidFill>
                      <a:prstDash val="solid"/>
                      <a:round/>
                      <a:headEnd len="sm" w="sm" type="none"/>
                      <a:tailEnd len="sm" w="sm" type="none"/>
                    </a:lnL>
                    <a:lnR cap="flat" cmpd="sng" w="12700">
                      <a:solidFill>
                        <a:srgbClr val="F4CCCC">
                          <a:alpha val="0"/>
                        </a:srgbClr>
                      </a:solidFill>
                      <a:prstDash val="solid"/>
                      <a:round/>
                      <a:headEnd len="sm" w="sm" type="none"/>
                      <a:tailEnd len="sm" w="sm" type="none"/>
                    </a:lnR>
                    <a:lnT cap="flat" cmpd="sng" w="12700">
                      <a:solidFill>
                        <a:srgbClr val="F4CCCC">
                          <a:alpha val="0"/>
                        </a:srgbClr>
                      </a:solidFill>
                      <a:prstDash val="solid"/>
                      <a:round/>
                      <a:headEnd len="sm" w="sm" type="none"/>
                      <a:tailEnd len="sm" w="sm" type="none"/>
                    </a:lnT>
                    <a:lnB cap="flat" cmpd="sng" w="12700">
                      <a:solidFill>
                        <a:srgbClr val="F4CCCC">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F4CCCC">
                          <a:alpha val="0"/>
                        </a:srgbClr>
                      </a:solidFill>
                      <a:prstDash val="solid"/>
                      <a:round/>
                      <a:headEnd len="sm" w="sm" type="none"/>
                      <a:tailEnd len="sm" w="sm" type="none"/>
                    </a:lnL>
                    <a:lnR cap="flat" cmpd="sng" w="12700">
                      <a:solidFill>
                        <a:srgbClr val="F4CCCC">
                          <a:alpha val="0"/>
                        </a:srgbClr>
                      </a:solidFill>
                      <a:prstDash val="solid"/>
                      <a:round/>
                      <a:headEnd len="sm" w="sm" type="none"/>
                      <a:tailEnd len="sm" w="sm" type="none"/>
                    </a:lnR>
                    <a:lnT cap="flat" cmpd="sng" w="12700">
                      <a:solidFill>
                        <a:srgbClr val="F4CCCC">
                          <a:alpha val="0"/>
                        </a:srgbClr>
                      </a:solidFill>
                      <a:prstDash val="solid"/>
                      <a:round/>
                      <a:headEnd len="sm" w="sm" type="none"/>
                      <a:tailEnd len="sm" w="sm" type="none"/>
                    </a:lnT>
                    <a:lnB cap="flat" cmpd="sng" w="12700">
                      <a:solidFill>
                        <a:srgbClr val="F4CCCC">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90</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F4CCCC">
                          <a:alpha val="0"/>
                        </a:srgbClr>
                      </a:solidFill>
                      <a:prstDash val="solid"/>
                      <a:round/>
                      <a:headEnd len="sm" w="sm" type="none"/>
                      <a:tailEnd len="sm" w="sm" type="none"/>
                    </a:lnL>
                    <a:lnR cap="flat" cmpd="sng" w="12700">
                      <a:solidFill>
                        <a:srgbClr val="F4CCCC">
                          <a:alpha val="0"/>
                        </a:srgbClr>
                      </a:solidFill>
                      <a:prstDash val="solid"/>
                      <a:round/>
                      <a:headEnd len="sm" w="sm" type="none"/>
                      <a:tailEnd len="sm" w="sm" type="none"/>
                    </a:lnR>
                    <a:lnT cap="flat" cmpd="sng" w="12700">
                      <a:solidFill>
                        <a:srgbClr val="F4CCCC">
                          <a:alpha val="0"/>
                        </a:srgbClr>
                      </a:solidFill>
                      <a:prstDash val="solid"/>
                      <a:round/>
                      <a:headEnd len="sm" w="sm" type="none"/>
                      <a:tailEnd len="sm" w="sm" type="none"/>
                    </a:lnT>
                    <a:lnB cap="flat" cmpd="sng" w="12700">
                      <a:solidFill>
                        <a:srgbClr val="F4CCCC">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75</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F4CCCC">
                          <a:alpha val="0"/>
                        </a:srgbClr>
                      </a:solidFill>
                      <a:prstDash val="solid"/>
                      <a:round/>
                      <a:headEnd len="sm" w="sm" type="none"/>
                      <a:tailEnd len="sm" w="sm" type="none"/>
                    </a:lnL>
                    <a:lnR cap="flat" cmpd="sng" w="12700">
                      <a:solidFill>
                        <a:srgbClr val="F4CCCC">
                          <a:alpha val="0"/>
                        </a:srgbClr>
                      </a:solidFill>
                      <a:prstDash val="solid"/>
                      <a:round/>
                      <a:headEnd len="sm" w="sm" type="none"/>
                      <a:tailEnd len="sm" w="sm" type="none"/>
                    </a:lnR>
                    <a:lnT cap="flat" cmpd="sng" w="12700">
                      <a:solidFill>
                        <a:srgbClr val="F4CCCC">
                          <a:alpha val="0"/>
                        </a:srgbClr>
                      </a:solidFill>
                      <a:prstDash val="solid"/>
                      <a:round/>
                      <a:headEnd len="sm" w="sm" type="none"/>
                      <a:tailEnd len="sm" w="sm" type="none"/>
                    </a:lnT>
                    <a:lnB cap="flat" cmpd="sng" w="12700">
                      <a:solidFill>
                        <a:srgbClr val="F4CCCC">
                          <a:alpha val="0"/>
                        </a:srgbClr>
                      </a:solidFill>
                      <a:prstDash val="solid"/>
                      <a:round/>
                      <a:headEnd len="sm" w="sm" type="none"/>
                      <a:tailEnd len="sm" w="sm" type="none"/>
                    </a:lnB>
                  </a:tcPr>
                </a:tc>
              </a:tr>
              <a:tr h="12700">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Accuracy of Speed Metric</a:t>
                      </a:r>
                      <a:endParaRPr sz="1200" u="none" cap="none" strike="noStrike">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000"/>
                        <a:buFont typeface="Arial"/>
                        <a:buNone/>
                      </a:pPr>
                      <a:r>
                        <a:rPr i="1" lang="en" sz="1000" u="none" cap="none" strike="noStrike">
                          <a:latin typeface="Times New Roman"/>
                          <a:ea typeface="Times New Roman"/>
                          <a:cs typeface="Times New Roman"/>
                          <a:sym typeface="Times New Roman"/>
                        </a:rPr>
                        <a:t>Accuracy of measurements</a:t>
                      </a:r>
                      <a:endParaRPr i="1" sz="1000" u="none" cap="none" strike="noStrike">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000"/>
                        <a:buFont typeface="Arial"/>
                        <a:buNone/>
                      </a:pPr>
                      <a:r>
                        <a:rPr i="1" lang="en" sz="1000" u="none" cap="none" strike="noStrike">
                          <a:latin typeface="Times New Roman"/>
                          <a:ea typeface="Times New Roman"/>
                          <a:cs typeface="Times New Roman"/>
                          <a:sym typeface="Times New Roman"/>
                        </a:rPr>
                        <a:t>Price</a:t>
                      </a:r>
                      <a:endParaRPr i="1" sz="1000" u="none" cap="none" strike="noStrike">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000"/>
                        <a:buFont typeface="Arial"/>
                        <a:buNone/>
                      </a:pPr>
                      <a:r>
                        <a:rPr i="1" lang="en" sz="1000" u="none" cap="none" strike="noStrike">
                          <a:latin typeface="Times New Roman"/>
                          <a:ea typeface="Times New Roman"/>
                          <a:cs typeface="Times New Roman"/>
                          <a:sym typeface="Times New Roman"/>
                        </a:rPr>
                        <a:t>Battery life</a:t>
                      </a:r>
                      <a:endParaRPr i="1" sz="1000" u="none" cap="none" strike="noStrike">
                        <a:latin typeface="Times New Roman"/>
                        <a:ea typeface="Times New Roman"/>
                        <a:cs typeface="Times New Roman"/>
                        <a:sym typeface="Times New Roman"/>
                      </a:endParaRPr>
                    </a:p>
                  </a:txBody>
                  <a:tcPr marT="63500" marB="63500" marR="63500" marL="63500">
                    <a:lnT cap="flat" cmpd="sng" w="12700">
                      <a:solidFill>
                        <a:srgbClr val="F4CCCC">
                          <a:alpha val="0"/>
                        </a:srgbClr>
                      </a:solidFill>
                      <a:prstDash val="solid"/>
                      <a:round/>
                      <a:headEnd len="sm" w="sm" type="none"/>
                      <a:tailEnd len="sm" w="sm" type="none"/>
                    </a:lnT>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a:t>
                      </a:r>
                      <a:endParaRPr sz="1200" u="none" cap="none" strike="noStrike">
                        <a:latin typeface="Times New Roman"/>
                        <a:ea typeface="Times New Roman"/>
                        <a:cs typeface="Times New Roman"/>
                        <a:sym typeface="Times New Roman"/>
                      </a:endParaRPr>
                    </a:p>
                  </a:txBody>
                  <a:tcPr marT="63500" marB="63500" marR="63500" marL="63500">
                    <a:lnT cap="flat" cmpd="sng" w="12700">
                      <a:solidFill>
                        <a:srgbClr val="F4CCCC">
                          <a:alpha val="0"/>
                        </a:srgbClr>
                      </a:solidFill>
                      <a:prstDash val="solid"/>
                      <a:round/>
                      <a:headEnd len="sm" w="sm" type="none"/>
                      <a:tailEnd len="sm" w="sm" type="none"/>
                    </a:lnT>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a:t>
                      </a:r>
                      <a:endParaRPr sz="1200" u="none" cap="none" strike="noStrike">
                        <a:latin typeface="Times New Roman"/>
                        <a:ea typeface="Times New Roman"/>
                        <a:cs typeface="Times New Roman"/>
                        <a:sym typeface="Times New Roman"/>
                      </a:endParaRPr>
                    </a:p>
                  </a:txBody>
                  <a:tcPr marT="63500" marB="63500" marR="63500" marL="63500">
                    <a:lnT cap="flat" cmpd="sng" w="12700">
                      <a:solidFill>
                        <a:srgbClr val="F4CCCC">
                          <a:alpha val="0"/>
                        </a:srgbClr>
                      </a:solidFill>
                      <a:prstDash val="solid"/>
                      <a:round/>
                      <a:headEnd len="sm" w="sm" type="none"/>
                      <a:tailEnd len="sm" w="sm" type="none"/>
                    </a:lnT>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95</a:t>
                      </a:r>
                      <a:endParaRPr sz="1200" u="none" cap="none" strike="noStrike">
                        <a:latin typeface="Times New Roman"/>
                        <a:ea typeface="Times New Roman"/>
                        <a:cs typeface="Times New Roman"/>
                        <a:sym typeface="Times New Roman"/>
                      </a:endParaRPr>
                    </a:p>
                  </a:txBody>
                  <a:tcPr marT="63500" marB="63500" marR="63500" marL="63500">
                    <a:lnT cap="flat" cmpd="sng" w="12700">
                      <a:solidFill>
                        <a:srgbClr val="F4CCCC">
                          <a:alpha val="0"/>
                        </a:srgbClr>
                      </a:solidFill>
                      <a:prstDash val="solid"/>
                      <a:round/>
                      <a:headEnd len="sm" w="sm" type="none"/>
                      <a:tailEnd len="sm" w="sm" type="none"/>
                    </a:lnT>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85</a:t>
                      </a:r>
                      <a:endParaRPr sz="1200" u="none" cap="none" strike="noStrike">
                        <a:latin typeface="Times New Roman"/>
                        <a:ea typeface="Times New Roman"/>
                        <a:cs typeface="Times New Roman"/>
                        <a:sym typeface="Times New Roman"/>
                      </a:endParaRPr>
                    </a:p>
                  </a:txBody>
                  <a:tcPr marT="63500" marB="63500" marR="63500" marL="63500">
                    <a:lnT cap="flat" cmpd="sng" w="12700">
                      <a:solidFill>
                        <a:srgbClr val="F4CCCC">
                          <a:alpha val="0"/>
                        </a:srgbClr>
                      </a:solidFill>
                      <a:prstDash val="solid"/>
                      <a:round/>
                      <a:headEnd len="sm" w="sm" type="none"/>
                      <a:tailEnd len="sm" w="sm" type="none"/>
                    </a:lnT>
                  </a:tcPr>
                </a:tc>
              </a:tr>
              <a:tr h="12700">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Cost of Materials</a:t>
                      </a:r>
                      <a:endParaRPr sz="1200" u="none" cap="none" strike="noStrike">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000"/>
                        <a:buFont typeface="Arial"/>
                        <a:buNone/>
                      </a:pPr>
                      <a:r>
                        <a:rPr i="1" lang="en" sz="1000" u="none" cap="none" strike="noStrike">
                          <a:latin typeface="Times New Roman"/>
                          <a:ea typeface="Times New Roman"/>
                          <a:cs typeface="Times New Roman"/>
                          <a:sym typeface="Times New Roman"/>
                        </a:rPr>
                        <a:t>Accuracy of Measurements</a:t>
                      </a:r>
                      <a:endParaRPr i="1" sz="1000" u="none" cap="none" strike="noStrike">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000"/>
                        <a:buFont typeface="Arial"/>
                        <a:buNone/>
                      </a:pPr>
                      <a:r>
                        <a:rPr i="1" lang="en" sz="1000" u="none" cap="none" strike="noStrike">
                          <a:latin typeface="Times New Roman"/>
                          <a:ea typeface="Times New Roman"/>
                          <a:cs typeface="Times New Roman"/>
                          <a:sym typeface="Times New Roman"/>
                        </a:rPr>
                        <a:t>Price</a:t>
                      </a:r>
                      <a:endParaRPr i="1" sz="1000" u="none" cap="none" strike="noStrike">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000"/>
                        <a:buFont typeface="Arial"/>
                        <a:buNone/>
                      </a:pPr>
                      <a:r>
                        <a:rPr i="1" lang="en" sz="1000" u="none" cap="none" strike="noStrike">
                          <a:latin typeface="Times New Roman"/>
                          <a:ea typeface="Times New Roman"/>
                          <a:cs typeface="Times New Roman"/>
                          <a:sym typeface="Times New Roman"/>
                        </a:rPr>
                        <a:t>Battery life</a:t>
                      </a:r>
                      <a:endParaRPr i="1" sz="1000" u="none" cap="none" strike="noStrike">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000"/>
                        <a:buFont typeface="Arial"/>
                        <a:buNone/>
                      </a:pPr>
                      <a:r>
                        <a:rPr i="1" lang="en" sz="1000" u="none" cap="none" strike="noStrike">
                          <a:latin typeface="Times New Roman"/>
                          <a:ea typeface="Times New Roman"/>
                          <a:cs typeface="Times New Roman"/>
                          <a:sym typeface="Times New Roman"/>
                        </a:rPr>
                        <a:t>Durability</a:t>
                      </a:r>
                      <a:endParaRPr i="1" sz="10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a:t>
                      </a:r>
                      <a:endParaRPr sz="12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a:t>
                      </a:r>
                      <a:endParaRPr sz="12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500</a:t>
                      </a:r>
                      <a:endParaRPr sz="12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700</a:t>
                      </a:r>
                      <a:endParaRPr sz="1200" u="none" cap="none" strike="noStrike">
                        <a:latin typeface="Times New Roman"/>
                        <a:ea typeface="Times New Roman"/>
                        <a:cs typeface="Times New Roman"/>
                        <a:sym typeface="Times New Roman"/>
                      </a:endParaRPr>
                    </a:p>
                  </a:txBody>
                  <a:tcPr marT="63500" marB="63500" marR="63500" marL="63500"/>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graphicFrame>
        <p:nvGraphicFramePr>
          <p:cNvPr id="78" name="Google Shape;78;gba8d29d8b3_0_5"/>
          <p:cNvGraphicFramePr/>
          <p:nvPr/>
        </p:nvGraphicFramePr>
        <p:xfrm>
          <a:off x="1709600" y="933200"/>
          <a:ext cx="3000000" cy="3000000"/>
        </p:xfrm>
        <a:graphic>
          <a:graphicData uri="http://schemas.openxmlformats.org/drawingml/2006/table">
            <a:tbl>
              <a:tblPr>
                <a:noFill/>
                <a:tableStyleId>{F35D693D-DC14-4F71-96F5-25927679301D}</a:tableStyleId>
              </a:tblPr>
              <a:tblGrid>
                <a:gridCol w="3019425"/>
                <a:gridCol w="447675"/>
                <a:gridCol w="800100"/>
                <a:gridCol w="600075"/>
                <a:gridCol w="857250"/>
              </a:tblGrid>
              <a:tr h="12700">
                <a:tc>
                  <a:txBody>
                    <a:bodyPr/>
                    <a:lstStyle/>
                    <a:p>
                      <a:pPr indent="0" lvl="0" marL="0" marR="0" rtl="0" algn="l">
                        <a:lnSpc>
                          <a:spcPct val="100000"/>
                        </a:lnSpc>
                        <a:spcBef>
                          <a:spcPts val="0"/>
                        </a:spcBef>
                        <a:spcAft>
                          <a:spcPts val="0"/>
                        </a:spcAft>
                        <a:buClr>
                          <a:srgbClr val="000000"/>
                        </a:buClr>
                        <a:buSzPts val="1300"/>
                        <a:buFont typeface="Arial"/>
                        <a:buNone/>
                      </a:pPr>
                      <a:r>
                        <a:rPr b="1" lang="en" sz="1300" u="none" cap="none" strike="noStrike">
                          <a:latin typeface="Times New Roman"/>
                          <a:ea typeface="Times New Roman"/>
                          <a:cs typeface="Times New Roman"/>
                          <a:sym typeface="Times New Roman"/>
                        </a:rPr>
                        <a:t>Engineering Specification</a:t>
                      </a:r>
                      <a:endParaRPr b="1" sz="1300" u="none" cap="none" strike="noStrike">
                        <a:latin typeface="Times New Roman"/>
                        <a:ea typeface="Times New Roman"/>
                        <a:cs typeface="Times New Roman"/>
                        <a:sym typeface="Times New Roman"/>
                      </a:endParaRPr>
                    </a:p>
                  </a:txBody>
                  <a:tcPr marT="63500" marB="63500" marR="63500" marL="63500">
                    <a:lnL cap="flat" cmpd="sng" w="12700">
                      <a:solidFill>
                        <a:srgbClr val="D9D9D9">
                          <a:alpha val="0"/>
                        </a:srgbClr>
                      </a:solidFill>
                      <a:prstDash val="solid"/>
                      <a:round/>
                      <a:headEnd len="sm" w="sm" type="none"/>
                      <a:tailEnd len="sm" w="sm" type="none"/>
                    </a:lnL>
                    <a:lnR cap="flat" cmpd="sng" w="12700">
                      <a:solidFill>
                        <a:srgbClr val="D9D9D9">
                          <a:alpha val="0"/>
                        </a:srgbClr>
                      </a:solidFill>
                      <a:prstDash val="solid"/>
                      <a:round/>
                      <a:headEnd len="sm" w="sm" type="none"/>
                      <a:tailEnd len="sm" w="sm" type="none"/>
                    </a:lnR>
                    <a:lnT cap="flat" cmpd="sng" w="12700">
                      <a:solidFill>
                        <a:srgbClr val="D9D9D9">
                          <a:alpha val="0"/>
                        </a:srgbClr>
                      </a:solidFill>
                      <a:prstDash val="solid"/>
                      <a:round/>
                      <a:headEnd len="sm" w="sm" type="none"/>
                      <a:tailEnd len="sm" w="sm" type="none"/>
                    </a:lnT>
                    <a:lnB cap="flat" cmpd="sng" w="12700">
                      <a:solidFill>
                        <a:srgbClr val="D9D9D9">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300"/>
                        <a:buFont typeface="Arial"/>
                        <a:buNone/>
                      </a:pPr>
                      <a:r>
                        <a:rPr b="1" lang="en" sz="1300" u="none" cap="none" strike="noStrike">
                          <a:latin typeface="Times New Roman"/>
                          <a:ea typeface="Times New Roman"/>
                          <a:cs typeface="Times New Roman"/>
                          <a:sym typeface="Times New Roman"/>
                        </a:rPr>
                        <a:t>Unit</a:t>
                      </a:r>
                      <a:endParaRPr b="1" sz="1300" u="none" cap="none" strike="noStrike">
                        <a:latin typeface="Times New Roman"/>
                        <a:ea typeface="Times New Roman"/>
                        <a:cs typeface="Times New Roman"/>
                        <a:sym typeface="Times New Roman"/>
                      </a:endParaRPr>
                    </a:p>
                  </a:txBody>
                  <a:tcPr marT="63500" marB="63500" marR="63500" marL="63500">
                    <a:lnL cap="flat" cmpd="sng" w="12700">
                      <a:solidFill>
                        <a:srgbClr val="D9D9D9">
                          <a:alpha val="0"/>
                        </a:srgbClr>
                      </a:solidFill>
                      <a:prstDash val="solid"/>
                      <a:round/>
                      <a:headEnd len="sm" w="sm" type="none"/>
                      <a:tailEnd len="sm" w="sm" type="none"/>
                    </a:lnL>
                    <a:lnR cap="flat" cmpd="sng" w="12700">
                      <a:solidFill>
                        <a:srgbClr val="D9D9D9">
                          <a:alpha val="0"/>
                        </a:srgbClr>
                      </a:solidFill>
                      <a:prstDash val="solid"/>
                      <a:round/>
                      <a:headEnd len="sm" w="sm" type="none"/>
                      <a:tailEnd len="sm" w="sm" type="none"/>
                    </a:lnR>
                    <a:lnT cap="flat" cmpd="sng" w="12700">
                      <a:solidFill>
                        <a:srgbClr val="D9D9D9">
                          <a:alpha val="0"/>
                        </a:srgbClr>
                      </a:solidFill>
                      <a:prstDash val="solid"/>
                      <a:round/>
                      <a:headEnd len="sm" w="sm" type="none"/>
                      <a:tailEnd len="sm" w="sm" type="none"/>
                    </a:lnT>
                    <a:lnB cap="flat" cmpd="sng" w="12700">
                      <a:solidFill>
                        <a:srgbClr val="D9D9D9">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300"/>
                        <a:buFont typeface="Arial"/>
                        <a:buNone/>
                      </a:pPr>
                      <a:r>
                        <a:rPr b="1" lang="en" sz="1300" u="none" cap="none" strike="noStrike">
                          <a:latin typeface="Times New Roman"/>
                          <a:ea typeface="Times New Roman"/>
                          <a:cs typeface="Times New Roman"/>
                          <a:sym typeface="Times New Roman"/>
                        </a:rPr>
                        <a:t>Direction</a:t>
                      </a:r>
                      <a:endParaRPr b="1" sz="1300" u="none" cap="none" strike="noStrike">
                        <a:latin typeface="Times New Roman"/>
                        <a:ea typeface="Times New Roman"/>
                        <a:cs typeface="Times New Roman"/>
                        <a:sym typeface="Times New Roman"/>
                      </a:endParaRPr>
                    </a:p>
                  </a:txBody>
                  <a:tcPr marT="63500" marB="63500" marR="63500" marL="63500">
                    <a:lnL cap="flat" cmpd="sng" w="12700">
                      <a:solidFill>
                        <a:srgbClr val="D9D9D9">
                          <a:alpha val="0"/>
                        </a:srgbClr>
                      </a:solidFill>
                      <a:prstDash val="solid"/>
                      <a:round/>
                      <a:headEnd len="sm" w="sm" type="none"/>
                      <a:tailEnd len="sm" w="sm" type="none"/>
                    </a:lnL>
                    <a:lnR cap="flat" cmpd="sng" w="12700">
                      <a:solidFill>
                        <a:srgbClr val="D9D9D9">
                          <a:alpha val="0"/>
                        </a:srgbClr>
                      </a:solidFill>
                      <a:prstDash val="solid"/>
                      <a:round/>
                      <a:headEnd len="sm" w="sm" type="none"/>
                      <a:tailEnd len="sm" w="sm" type="none"/>
                    </a:lnR>
                    <a:lnT cap="flat" cmpd="sng" w="12700">
                      <a:solidFill>
                        <a:srgbClr val="D9D9D9">
                          <a:alpha val="0"/>
                        </a:srgbClr>
                      </a:solidFill>
                      <a:prstDash val="solid"/>
                      <a:round/>
                      <a:headEnd len="sm" w="sm" type="none"/>
                      <a:tailEnd len="sm" w="sm" type="none"/>
                    </a:lnT>
                    <a:lnB cap="flat" cmpd="sng" w="12700">
                      <a:solidFill>
                        <a:srgbClr val="D9D9D9">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300"/>
                        <a:buFont typeface="Arial"/>
                        <a:buNone/>
                      </a:pPr>
                      <a:r>
                        <a:rPr b="1" lang="en" sz="1300" u="none" cap="none" strike="noStrike">
                          <a:latin typeface="Times New Roman"/>
                          <a:ea typeface="Times New Roman"/>
                          <a:cs typeface="Times New Roman"/>
                          <a:sym typeface="Times New Roman"/>
                        </a:rPr>
                        <a:t>Target</a:t>
                      </a:r>
                      <a:endParaRPr b="1" sz="1300" u="none" cap="none" strike="noStrike">
                        <a:latin typeface="Times New Roman"/>
                        <a:ea typeface="Times New Roman"/>
                        <a:cs typeface="Times New Roman"/>
                        <a:sym typeface="Times New Roman"/>
                      </a:endParaRPr>
                    </a:p>
                  </a:txBody>
                  <a:tcPr marT="63500" marB="63500" marR="63500" marL="63500">
                    <a:lnL cap="flat" cmpd="sng" w="12700">
                      <a:solidFill>
                        <a:srgbClr val="D9D9D9">
                          <a:alpha val="0"/>
                        </a:srgbClr>
                      </a:solidFill>
                      <a:prstDash val="solid"/>
                      <a:round/>
                      <a:headEnd len="sm" w="sm" type="none"/>
                      <a:tailEnd len="sm" w="sm" type="none"/>
                    </a:lnL>
                    <a:lnR cap="flat" cmpd="sng" w="12700">
                      <a:solidFill>
                        <a:srgbClr val="D9D9D9">
                          <a:alpha val="0"/>
                        </a:srgbClr>
                      </a:solidFill>
                      <a:prstDash val="solid"/>
                      <a:round/>
                      <a:headEnd len="sm" w="sm" type="none"/>
                      <a:tailEnd len="sm" w="sm" type="none"/>
                    </a:lnR>
                    <a:lnT cap="flat" cmpd="sng" w="12700">
                      <a:solidFill>
                        <a:srgbClr val="D9D9D9">
                          <a:alpha val="0"/>
                        </a:srgbClr>
                      </a:solidFill>
                      <a:prstDash val="solid"/>
                      <a:round/>
                      <a:headEnd len="sm" w="sm" type="none"/>
                      <a:tailEnd len="sm" w="sm" type="none"/>
                    </a:lnT>
                    <a:lnB cap="flat" cmpd="sng" w="12700">
                      <a:solidFill>
                        <a:srgbClr val="D9D9D9">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300"/>
                        <a:buFont typeface="Arial"/>
                        <a:buNone/>
                      </a:pPr>
                      <a:r>
                        <a:rPr b="1" lang="en" sz="1300" u="none" cap="none" strike="noStrike">
                          <a:latin typeface="Times New Roman"/>
                          <a:ea typeface="Times New Roman"/>
                          <a:cs typeface="Times New Roman"/>
                          <a:sym typeface="Times New Roman"/>
                        </a:rPr>
                        <a:t>Threshold</a:t>
                      </a:r>
                      <a:endParaRPr b="1" sz="1300" u="none" cap="none" strike="noStrike">
                        <a:latin typeface="Times New Roman"/>
                        <a:ea typeface="Times New Roman"/>
                        <a:cs typeface="Times New Roman"/>
                        <a:sym typeface="Times New Roman"/>
                      </a:endParaRPr>
                    </a:p>
                  </a:txBody>
                  <a:tcPr marT="63500" marB="63500" marR="63500" marL="63500">
                    <a:lnL cap="flat" cmpd="sng" w="12700">
                      <a:solidFill>
                        <a:srgbClr val="D9D9D9">
                          <a:alpha val="0"/>
                        </a:srgbClr>
                      </a:solidFill>
                      <a:prstDash val="solid"/>
                      <a:round/>
                      <a:headEnd len="sm" w="sm" type="none"/>
                      <a:tailEnd len="sm" w="sm" type="none"/>
                    </a:lnL>
                    <a:lnR cap="flat" cmpd="sng" w="12700">
                      <a:solidFill>
                        <a:srgbClr val="D9D9D9">
                          <a:alpha val="0"/>
                        </a:srgbClr>
                      </a:solidFill>
                      <a:prstDash val="solid"/>
                      <a:round/>
                      <a:headEnd len="sm" w="sm" type="none"/>
                      <a:tailEnd len="sm" w="sm" type="none"/>
                    </a:lnR>
                    <a:lnT cap="flat" cmpd="sng" w="12700">
                      <a:solidFill>
                        <a:srgbClr val="D9D9D9">
                          <a:alpha val="0"/>
                        </a:srgbClr>
                      </a:solidFill>
                      <a:prstDash val="solid"/>
                      <a:round/>
                      <a:headEnd len="sm" w="sm" type="none"/>
                      <a:tailEnd len="sm" w="sm" type="none"/>
                    </a:lnT>
                    <a:lnB cap="flat" cmpd="sng" w="12700">
                      <a:solidFill>
                        <a:srgbClr val="D9D9D9">
                          <a:alpha val="0"/>
                        </a:srgbClr>
                      </a:solidFill>
                      <a:prstDash val="solid"/>
                      <a:round/>
                      <a:headEnd len="sm" w="sm" type="none"/>
                      <a:tailEnd len="sm" w="sm" type="none"/>
                    </a:lnB>
                  </a:tcPr>
                </a:tc>
              </a:tr>
              <a:tr h="12700">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Battery Life</a:t>
                      </a:r>
                      <a:endParaRPr sz="1200" u="none" cap="none" strike="noStrike">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000"/>
                        <a:buFont typeface="Arial"/>
                        <a:buNone/>
                      </a:pPr>
                      <a:r>
                        <a:rPr i="1" lang="en" sz="1000" u="none" cap="none" strike="noStrike">
                          <a:latin typeface="Times New Roman"/>
                          <a:ea typeface="Times New Roman"/>
                          <a:cs typeface="Times New Roman"/>
                          <a:sym typeface="Times New Roman"/>
                        </a:rPr>
                        <a:t>Price</a:t>
                      </a:r>
                      <a:endParaRPr i="1" sz="1000" u="none" cap="none" strike="noStrike">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000"/>
                        <a:buFont typeface="Arial"/>
                        <a:buNone/>
                      </a:pPr>
                      <a:r>
                        <a:rPr i="1" lang="en" sz="1000" u="none" cap="none" strike="noStrike">
                          <a:latin typeface="Times New Roman"/>
                          <a:ea typeface="Times New Roman"/>
                          <a:cs typeface="Times New Roman"/>
                          <a:sym typeface="Times New Roman"/>
                        </a:rPr>
                        <a:t>Battery life</a:t>
                      </a:r>
                      <a:endParaRPr i="1" sz="1000" u="none" cap="none" strike="noStrike">
                        <a:latin typeface="Times New Roman"/>
                        <a:ea typeface="Times New Roman"/>
                        <a:cs typeface="Times New Roman"/>
                        <a:sym typeface="Times New Roman"/>
                      </a:endParaRPr>
                    </a:p>
                  </a:txBody>
                  <a:tcPr marT="63500" marB="63500" marR="63500" marL="63500">
                    <a:lnL cap="flat" cmpd="sng" w="12700">
                      <a:solidFill>
                        <a:srgbClr val="D9EAD3">
                          <a:alpha val="0"/>
                        </a:srgbClr>
                      </a:solidFill>
                      <a:prstDash val="solid"/>
                      <a:round/>
                      <a:headEnd len="sm" w="sm" type="none"/>
                      <a:tailEnd len="sm" w="sm" type="none"/>
                    </a:lnL>
                    <a:lnR cap="flat" cmpd="sng" w="12700">
                      <a:solidFill>
                        <a:srgbClr val="D9EAD3">
                          <a:alpha val="0"/>
                        </a:srgbClr>
                      </a:solidFill>
                      <a:prstDash val="solid"/>
                      <a:round/>
                      <a:headEnd len="sm" w="sm" type="none"/>
                      <a:tailEnd len="sm" w="sm" type="none"/>
                    </a:lnR>
                    <a:lnT cap="flat" cmpd="sng" w="12700">
                      <a:solidFill>
                        <a:srgbClr val="D9D9D9">
                          <a:alpha val="0"/>
                        </a:srgbClr>
                      </a:solidFill>
                      <a:prstDash val="solid"/>
                      <a:round/>
                      <a:headEnd len="sm" w="sm" type="none"/>
                      <a:tailEnd len="sm" w="sm" type="none"/>
                    </a:lnT>
                    <a:lnB cap="flat" cmpd="sng" w="12700">
                      <a:solidFill>
                        <a:srgbClr val="D9EAD3">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hr</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D9EAD3">
                          <a:alpha val="0"/>
                        </a:srgbClr>
                      </a:solidFill>
                      <a:prstDash val="solid"/>
                      <a:round/>
                      <a:headEnd len="sm" w="sm" type="none"/>
                      <a:tailEnd len="sm" w="sm" type="none"/>
                    </a:lnL>
                    <a:lnR cap="flat" cmpd="sng" w="12700">
                      <a:solidFill>
                        <a:srgbClr val="D9EAD3">
                          <a:alpha val="0"/>
                        </a:srgbClr>
                      </a:solidFill>
                      <a:prstDash val="solid"/>
                      <a:round/>
                      <a:headEnd len="sm" w="sm" type="none"/>
                      <a:tailEnd len="sm" w="sm" type="none"/>
                    </a:lnR>
                    <a:lnT cap="flat" cmpd="sng" w="12700">
                      <a:solidFill>
                        <a:srgbClr val="D9D9D9">
                          <a:alpha val="0"/>
                        </a:srgbClr>
                      </a:solidFill>
                      <a:prstDash val="solid"/>
                      <a:round/>
                      <a:headEnd len="sm" w="sm" type="none"/>
                      <a:tailEnd len="sm" w="sm" type="none"/>
                    </a:lnT>
                    <a:lnB cap="flat" cmpd="sng" w="12700">
                      <a:solidFill>
                        <a:srgbClr val="D9EAD3">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D9EAD3">
                          <a:alpha val="0"/>
                        </a:srgbClr>
                      </a:solidFill>
                      <a:prstDash val="solid"/>
                      <a:round/>
                      <a:headEnd len="sm" w="sm" type="none"/>
                      <a:tailEnd len="sm" w="sm" type="none"/>
                    </a:lnL>
                    <a:lnR cap="flat" cmpd="sng" w="12700">
                      <a:solidFill>
                        <a:srgbClr val="D9EAD3">
                          <a:alpha val="0"/>
                        </a:srgbClr>
                      </a:solidFill>
                      <a:prstDash val="solid"/>
                      <a:round/>
                      <a:headEnd len="sm" w="sm" type="none"/>
                      <a:tailEnd len="sm" w="sm" type="none"/>
                    </a:lnR>
                    <a:lnT cap="flat" cmpd="sng" w="12700">
                      <a:solidFill>
                        <a:srgbClr val="D9D9D9">
                          <a:alpha val="0"/>
                        </a:srgbClr>
                      </a:solidFill>
                      <a:prstDash val="solid"/>
                      <a:round/>
                      <a:headEnd len="sm" w="sm" type="none"/>
                      <a:tailEnd len="sm" w="sm" type="none"/>
                    </a:lnT>
                    <a:lnB cap="flat" cmpd="sng" w="12700">
                      <a:solidFill>
                        <a:srgbClr val="D9EAD3">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12</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D9EAD3">
                          <a:alpha val="0"/>
                        </a:srgbClr>
                      </a:solidFill>
                      <a:prstDash val="solid"/>
                      <a:round/>
                      <a:headEnd len="sm" w="sm" type="none"/>
                      <a:tailEnd len="sm" w="sm" type="none"/>
                    </a:lnL>
                    <a:lnR cap="flat" cmpd="sng" w="12700">
                      <a:solidFill>
                        <a:srgbClr val="D9EAD3">
                          <a:alpha val="0"/>
                        </a:srgbClr>
                      </a:solidFill>
                      <a:prstDash val="solid"/>
                      <a:round/>
                      <a:headEnd len="sm" w="sm" type="none"/>
                      <a:tailEnd len="sm" w="sm" type="none"/>
                    </a:lnR>
                    <a:lnT cap="flat" cmpd="sng" w="12700">
                      <a:solidFill>
                        <a:srgbClr val="D9D9D9">
                          <a:alpha val="0"/>
                        </a:srgbClr>
                      </a:solidFill>
                      <a:prstDash val="solid"/>
                      <a:round/>
                      <a:headEnd len="sm" w="sm" type="none"/>
                      <a:tailEnd len="sm" w="sm" type="none"/>
                    </a:lnT>
                    <a:lnB cap="flat" cmpd="sng" w="12700">
                      <a:solidFill>
                        <a:srgbClr val="D9EAD3">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3</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D9EAD3">
                          <a:alpha val="0"/>
                        </a:srgbClr>
                      </a:solidFill>
                      <a:prstDash val="solid"/>
                      <a:round/>
                      <a:headEnd len="sm" w="sm" type="none"/>
                      <a:tailEnd len="sm" w="sm" type="none"/>
                    </a:lnL>
                    <a:lnR cap="flat" cmpd="sng" w="12700">
                      <a:solidFill>
                        <a:srgbClr val="D9EAD3">
                          <a:alpha val="0"/>
                        </a:srgbClr>
                      </a:solidFill>
                      <a:prstDash val="solid"/>
                      <a:round/>
                      <a:headEnd len="sm" w="sm" type="none"/>
                      <a:tailEnd len="sm" w="sm" type="none"/>
                    </a:lnR>
                    <a:lnT cap="flat" cmpd="sng" w="12700">
                      <a:solidFill>
                        <a:srgbClr val="D9D9D9">
                          <a:alpha val="0"/>
                        </a:srgbClr>
                      </a:solidFill>
                      <a:prstDash val="solid"/>
                      <a:round/>
                      <a:headEnd len="sm" w="sm" type="none"/>
                      <a:tailEnd len="sm" w="sm" type="none"/>
                    </a:lnT>
                    <a:lnB cap="flat" cmpd="sng" w="12700">
                      <a:solidFill>
                        <a:srgbClr val="D9EAD3">
                          <a:alpha val="0"/>
                        </a:srgbClr>
                      </a:solidFill>
                      <a:prstDash val="solid"/>
                      <a:round/>
                      <a:headEnd len="sm" w="sm" type="none"/>
                      <a:tailEnd len="sm" w="sm" type="none"/>
                    </a:lnB>
                  </a:tcPr>
                </a:tc>
              </a:tr>
              <a:tr h="12700">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Lifespan</a:t>
                      </a:r>
                      <a:endParaRPr sz="1200" u="none" cap="none" strike="noStrike">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000"/>
                        <a:buFont typeface="Arial"/>
                        <a:buNone/>
                      </a:pPr>
                      <a:r>
                        <a:rPr i="1" lang="en" sz="1000" u="none" cap="none" strike="noStrike">
                          <a:latin typeface="Times New Roman"/>
                          <a:ea typeface="Times New Roman"/>
                          <a:cs typeface="Times New Roman"/>
                          <a:sym typeface="Times New Roman"/>
                        </a:rPr>
                        <a:t>Weatherproof</a:t>
                      </a:r>
                      <a:endParaRPr i="1" sz="1000" u="none" cap="none" strike="noStrike">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000"/>
                        <a:buFont typeface="Arial"/>
                        <a:buNone/>
                      </a:pPr>
                      <a:r>
                        <a:rPr i="1" lang="en" sz="1000" u="none" cap="none" strike="noStrike">
                          <a:latin typeface="Times New Roman"/>
                          <a:ea typeface="Times New Roman"/>
                          <a:cs typeface="Times New Roman"/>
                          <a:sym typeface="Times New Roman"/>
                        </a:rPr>
                        <a:t>Durability</a:t>
                      </a:r>
                      <a:endParaRPr i="1" sz="1000" u="none" cap="none" strike="noStrike">
                        <a:latin typeface="Times New Roman"/>
                        <a:ea typeface="Times New Roman"/>
                        <a:cs typeface="Times New Roman"/>
                        <a:sym typeface="Times New Roman"/>
                      </a:endParaRPr>
                    </a:p>
                  </a:txBody>
                  <a:tcPr marT="63500" marB="63500" marR="63500" marL="63500">
                    <a:lnT cap="flat" cmpd="sng" w="12700">
                      <a:solidFill>
                        <a:srgbClr val="D9EAD3">
                          <a:alpha val="0"/>
                        </a:srgbClr>
                      </a:solidFill>
                      <a:prstDash val="solid"/>
                      <a:round/>
                      <a:headEnd len="sm" w="sm" type="none"/>
                      <a:tailEnd len="sm" w="sm" type="none"/>
                    </a:lnT>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mo</a:t>
                      </a:r>
                      <a:endParaRPr sz="1200" u="none" cap="none" strike="noStrike">
                        <a:latin typeface="Times New Roman"/>
                        <a:ea typeface="Times New Roman"/>
                        <a:cs typeface="Times New Roman"/>
                        <a:sym typeface="Times New Roman"/>
                      </a:endParaRPr>
                    </a:p>
                  </a:txBody>
                  <a:tcPr marT="63500" marB="63500" marR="63500" marL="63500">
                    <a:lnT cap="flat" cmpd="sng" w="12700">
                      <a:solidFill>
                        <a:srgbClr val="D9EAD3">
                          <a:alpha val="0"/>
                        </a:srgbClr>
                      </a:solidFill>
                      <a:prstDash val="solid"/>
                      <a:round/>
                      <a:headEnd len="sm" w="sm" type="none"/>
                      <a:tailEnd len="sm" w="sm" type="none"/>
                    </a:lnT>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a:t>
                      </a:r>
                      <a:endParaRPr sz="1200" u="none" cap="none" strike="noStrike">
                        <a:latin typeface="Times New Roman"/>
                        <a:ea typeface="Times New Roman"/>
                        <a:cs typeface="Times New Roman"/>
                        <a:sym typeface="Times New Roman"/>
                      </a:endParaRPr>
                    </a:p>
                  </a:txBody>
                  <a:tcPr marT="63500" marB="63500" marR="63500" marL="63500">
                    <a:lnT cap="flat" cmpd="sng" w="12700">
                      <a:solidFill>
                        <a:srgbClr val="D9EAD3">
                          <a:alpha val="0"/>
                        </a:srgbClr>
                      </a:solidFill>
                      <a:prstDash val="solid"/>
                      <a:round/>
                      <a:headEnd len="sm" w="sm" type="none"/>
                      <a:tailEnd len="sm" w="sm" type="none"/>
                    </a:lnT>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24</a:t>
                      </a:r>
                      <a:endParaRPr sz="1200" u="none" cap="none" strike="noStrike">
                        <a:latin typeface="Times New Roman"/>
                        <a:ea typeface="Times New Roman"/>
                        <a:cs typeface="Times New Roman"/>
                        <a:sym typeface="Times New Roman"/>
                      </a:endParaRPr>
                    </a:p>
                  </a:txBody>
                  <a:tcPr marT="63500" marB="63500" marR="63500" marL="63500">
                    <a:lnT cap="flat" cmpd="sng" w="12700">
                      <a:solidFill>
                        <a:srgbClr val="D9EAD3">
                          <a:alpha val="0"/>
                        </a:srgbClr>
                      </a:solidFill>
                      <a:prstDash val="solid"/>
                      <a:round/>
                      <a:headEnd len="sm" w="sm" type="none"/>
                      <a:tailEnd len="sm" w="sm" type="none"/>
                    </a:lnT>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12</a:t>
                      </a:r>
                      <a:endParaRPr sz="1200" u="none" cap="none" strike="noStrike">
                        <a:latin typeface="Times New Roman"/>
                        <a:ea typeface="Times New Roman"/>
                        <a:cs typeface="Times New Roman"/>
                        <a:sym typeface="Times New Roman"/>
                      </a:endParaRPr>
                    </a:p>
                  </a:txBody>
                  <a:tcPr marT="63500" marB="63500" marR="63500" marL="63500">
                    <a:lnT cap="flat" cmpd="sng" w="12700">
                      <a:solidFill>
                        <a:srgbClr val="D9EAD3">
                          <a:alpha val="0"/>
                        </a:srgbClr>
                      </a:solidFill>
                      <a:prstDash val="solid"/>
                      <a:round/>
                      <a:headEnd len="sm" w="sm" type="none"/>
                      <a:tailEnd len="sm" w="sm" type="none"/>
                    </a:lnT>
                  </a:tcPr>
                </a:tc>
              </a:tr>
              <a:tr h="12700">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Time to View Metrics in App</a:t>
                      </a:r>
                      <a:endParaRPr sz="1200" u="none" cap="none" strike="noStrike">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000"/>
                        <a:buFont typeface="Arial"/>
                        <a:buNone/>
                      </a:pPr>
                      <a:r>
                        <a:rPr i="1" lang="en" sz="1000" u="none" cap="none" strike="noStrike">
                          <a:latin typeface="Times New Roman"/>
                          <a:ea typeface="Times New Roman"/>
                          <a:cs typeface="Times New Roman"/>
                          <a:sym typeface="Times New Roman"/>
                        </a:rPr>
                        <a:t>Statistic utilities in app</a:t>
                      </a:r>
                      <a:endParaRPr i="1" sz="10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s</a:t>
                      </a:r>
                      <a:endParaRPr sz="12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a:t>
                      </a:r>
                      <a:endParaRPr sz="12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2</a:t>
                      </a:r>
                      <a:endParaRPr sz="12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6</a:t>
                      </a:r>
                      <a:endParaRPr sz="1200" u="none" cap="none" strike="noStrike">
                        <a:latin typeface="Times New Roman"/>
                        <a:ea typeface="Times New Roman"/>
                        <a:cs typeface="Times New Roman"/>
                        <a:sym typeface="Times New Roman"/>
                      </a:endParaRPr>
                    </a:p>
                  </a:txBody>
                  <a:tcPr marT="63500" marB="63500" marR="63500" marL="63500"/>
                </a:tc>
              </a:tr>
              <a:tr h="12700">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Setup Steps Before Use</a:t>
                      </a:r>
                      <a:endParaRPr sz="1200" u="none" cap="none" strike="noStrike">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000"/>
                        <a:buFont typeface="Arial"/>
                        <a:buNone/>
                      </a:pPr>
                      <a:r>
                        <a:rPr i="1" lang="en" sz="1000" u="none" cap="none" strike="noStrike">
                          <a:latin typeface="Times New Roman"/>
                          <a:ea typeface="Times New Roman"/>
                          <a:cs typeface="Times New Roman"/>
                          <a:sym typeface="Times New Roman"/>
                        </a:rPr>
                        <a:t>Attaches universally</a:t>
                      </a:r>
                      <a:endParaRPr i="1" sz="1000" u="none" cap="none" strike="noStrike">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000"/>
                        <a:buFont typeface="Arial"/>
                        <a:buNone/>
                      </a:pPr>
                      <a:r>
                        <a:rPr i="1" lang="en" sz="1000" u="none" cap="none" strike="noStrike">
                          <a:latin typeface="Times New Roman"/>
                          <a:ea typeface="Times New Roman"/>
                          <a:cs typeface="Times New Roman"/>
                          <a:sym typeface="Times New Roman"/>
                        </a:rPr>
                        <a:t>Ease of use</a:t>
                      </a:r>
                      <a:endParaRPr i="1" sz="1000" u="none" cap="none" strike="noStrike">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000"/>
                        <a:buFont typeface="Arial"/>
                        <a:buNone/>
                      </a:pPr>
                      <a:r>
                        <a:rPr i="1" lang="en" sz="1000" u="none" cap="none" strike="noStrike">
                          <a:latin typeface="Times New Roman"/>
                          <a:ea typeface="Times New Roman"/>
                          <a:cs typeface="Times New Roman"/>
                          <a:sym typeface="Times New Roman"/>
                        </a:rPr>
                        <a:t>Ease of setup</a:t>
                      </a:r>
                      <a:endParaRPr i="1" sz="10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ctr">
                        <a:lnSpc>
                          <a:spcPct val="100000"/>
                        </a:lnSpc>
                        <a:spcBef>
                          <a:spcPts val="0"/>
                        </a:spcBef>
                        <a:spcAft>
                          <a:spcPts val="0"/>
                        </a:spcAft>
                        <a:buClr>
                          <a:srgbClr val="000000"/>
                        </a:buClr>
                        <a:buSzPts val="1200"/>
                        <a:buFont typeface="Arial"/>
                        <a:buNone/>
                      </a:pPr>
                      <a:r>
                        <a:t/>
                      </a:r>
                      <a:endParaRPr sz="12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a:t>
                      </a:r>
                      <a:endParaRPr sz="12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3</a:t>
                      </a:r>
                      <a:endParaRPr sz="12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6</a:t>
                      </a:r>
                      <a:endParaRPr sz="1200" u="none" cap="none" strike="noStrike">
                        <a:latin typeface="Times New Roman"/>
                        <a:ea typeface="Times New Roman"/>
                        <a:cs typeface="Times New Roman"/>
                        <a:sym typeface="Times New Roman"/>
                      </a:endParaRPr>
                    </a:p>
                  </a:txBody>
                  <a:tcPr marT="63500" marB="63500" marR="63500" marL="63500"/>
                </a:tc>
              </a:tr>
              <a:tr h="12700">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Steps to Attach to Bike</a:t>
                      </a:r>
                      <a:endParaRPr sz="1200" u="none" cap="none" strike="noStrike">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000"/>
                        <a:buFont typeface="Arial"/>
                        <a:buNone/>
                      </a:pPr>
                      <a:r>
                        <a:rPr i="1" lang="en" sz="1000" u="none" cap="none" strike="noStrike">
                          <a:latin typeface="Times New Roman"/>
                          <a:ea typeface="Times New Roman"/>
                          <a:cs typeface="Times New Roman"/>
                          <a:sym typeface="Times New Roman"/>
                        </a:rPr>
                        <a:t>Attaches universally</a:t>
                      </a:r>
                      <a:endParaRPr i="1" sz="1000" u="none" cap="none" strike="noStrike">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000"/>
                        <a:buFont typeface="Arial"/>
                        <a:buNone/>
                      </a:pPr>
                      <a:r>
                        <a:rPr i="1" lang="en" sz="1000" u="none" cap="none" strike="noStrike">
                          <a:latin typeface="Times New Roman"/>
                          <a:ea typeface="Times New Roman"/>
                          <a:cs typeface="Times New Roman"/>
                          <a:sym typeface="Times New Roman"/>
                        </a:rPr>
                        <a:t>Ease of use</a:t>
                      </a:r>
                      <a:endParaRPr i="1" sz="1000" u="none" cap="none" strike="noStrike">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000"/>
                        <a:buFont typeface="Arial"/>
                        <a:buNone/>
                      </a:pPr>
                      <a:r>
                        <a:rPr i="1" lang="en" sz="1000" u="none" cap="none" strike="noStrike">
                          <a:latin typeface="Times New Roman"/>
                          <a:ea typeface="Times New Roman"/>
                          <a:cs typeface="Times New Roman"/>
                          <a:sym typeface="Times New Roman"/>
                        </a:rPr>
                        <a:t>Ease of setup</a:t>
                      </a:r>
                      <a:endParaRPr sz="10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ctr">
                        <a:lnSpc>
                          <a:spcPct val="100000"/>
                        </a:lnSpc>
                        <a:spcBef>
                          <a:spcPts val="0"/>
                        </a:spcBef>
                        <a:spcAft>
                          <a:spcPts val="0"/>
                        </a:spcAft>
                        <a:buClr>
                          <a:srgbClr val="000000"/>
                        </a:buClr>
                        <a:buSzPts val="1200"/>
                        <a:buFont typeface="Arial"/>
                        <a:buNone/>
                      </a:pPr>
                      <a:r>
                        <a:t/>
                      </a:r>
                      <a:endParaRPr sz="12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a:t>
                      </a:r>
                      <a:endParaRPr sz="12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10</a:t>
                      </a:r>
                      <a:endParaRPr sz="12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20</a:t>
                      </a:r>
                      <a:endParaRPr sz="1200" u="none" cap="none" strike="noStrike">
                        <a:latin typeface="Times New Roman"/>
                        <a:ea typeface="Times New Roman"/>
                        <a:cs typeface="Times New Roman"/>
                        <a:sym typeface="Times New Roman"/>
                      </a:endParaRPr>
                    </a:p>
                  </a:txBody>
                  <a:tcPr marT="63500" marB="63500" marR="63500" marL="63500"/>
                </a:tc>
              </a:tr>
            </a:tbl>
          </a:graphicData>
        </a:graphic>
      </p:graphicFrame>
      <p:sp>
        <p:nvSpPr>
          <p:cNvPr id="79" name="Google Shape;79;gba8d29d8b3_0_5"/>
          <p:cNvSpPr txBox="1"/>
          <p:nvPr/>
        </p:nvSpPr>
        <p:spPr>
          <a:xfrm>
            <a:off x="-150" y="203725"/>
            <a:ext cx="91440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700"/>
              <a:buFont typeface="Arial"/>
              <a:buNone/>
            </a:pPr>
            <a:r>
              <a:rPr b="0" i="0" lang="en" sz="2700" u="none" cap="none" strike="noStrike">
                <a:solidFill>
                  <a:srgbClr val="000000"/>
                </a:solidFill>
                <a:latin typeface="Calibri"/>
                <a:ea typeface="Calibri"/>
                <a:cs typeface="Calibri"/>
                <a:sym typeface="Calibri"/>
              </a:rPr>
              <a:t>ENGINEERING SPECIFICATIONS &amp; FUNCTIONAL REQUIREMENTS</a:t>
            </a:r>
            <a:endParaRPr b="0" i="0" sz="2700" u="none" cap="none" strike="noStrike">
              <a:solidFill>
                <a:srgbClr val="000000"/>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ga79ffe57d7_0_5"/>
          <p:cNvSpPr txBox="1"/>
          <p:nvPr>
            <p:ph type="title"/>
          </p:nvPr>
        </p:nvSpPr>
        <p:spPr>
          <a:xfrm>
            <a:off x="311700" y="136550"/>
            <a:ext cx="46173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PROJECT TASK DIVISION</a:t>
            </a:r>
            <a:endParaRPr/>
          </a:p>
        </p:txBody>
      </p:sp>
      <p:graphicFrame>
        <p:nvGraphicFramePr>
          <p:cNvPr id="85" name="Google Shape;85;ga79ffe57d7_0_5"/>
          <p:cNvGraphicFramePr/>
          <p:nvPr/>
        </p:nvGraphicFramePr>
        <p:xfrm>
          <a:off x="1257075" y="930550"/>
          <a:ext cx="3000000" cy="3000000"/>
        </p:xfrm>
        <a:graphic>
          <a:graphicData uri="http://schemas.openxmlformats.org/drawingml/2006/table">
            <a:tbl>
              <a:tblPr>
                <a:noFill/>
                <a:tableStyleId>{8EE3784E-7765-409E-9C27-12478ACC3733}</a:tableStyleId>
              </a:tblPr>
              <a:tblGrid>
                <a:gridCol w="552450"/>
                <a:gridCol w="1847850"/>
                <a:gridCol w="590550"/>
                <a:gridCol w="847725"/>
                <a:gridCol w="838200"/>
                <a:gridCol w="333375"/>
                <a:gridCol w="866775"/>
              </a:tblGrid>
              <a:tr h="200025">
                <a:tc>
                  <a:txBody>
                    <a:bodyPr/>
                    <a:lstStyle/>
                    <a:p>
                      <a:pPr indent="0" lvl="0" marL="0" rtl="0" algn="ctr">
                        <a:lnSpc>
                          <a:spcPct val="115000"/>
                        </a:lnSpc>
                        <a:spcBef>
                          <a:spcPts val="0"/>
                        </a:spcBef>
                        <a:spcAft>
                          <a:spcPts val="0"/>
                        </a:spcAft>
                        <a:buNone/>
                      </a:pPr>
                      <a:r>
                        <a:rPr b="1" lang="en" sz="800"/>
                        <a:t>Critical</a:t>
                      </a:r>
                      <a:endParaRPr sz="8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 sz="800"/>
                        <a:t>Task Description</a:t>
                      </a:r>
                      <a:endParaRPr sz="8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FEFEF"/>
                    </a:solidFill>
                  </a:tcPr>
                </a:tc>
                <a:tc>
                  <a:txBody>
                    <a:bodyPr/>
                    <a:lstStyle/>
                    <a:p>
                      <a:pPr indent="0" lvl="0" marL="0" rtl="0" algn="ctr">
                        <a:lnSpc>
                          <a:spcPct val="115000"/>
                        </a:lnSpc>
                        <a:spcBef>
                          <a:spcPts val="0"/>
                        </a:spcBef>
                        <a:spcAft>
                          <a:spcPts val="0"/>
                        </a:spcAft>
                        <a:buNone/>
                      </a:pPr>
                      <a:r>
                        <a:rPr b="1" lang="en" sz="800"/>
                        <a:t>Duration</a:t>
                      </a:r>
                      <a:endParaRPr sz="8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FEFEF"/>
                    </a:solidFill>
                  </a:tcPr>
                </a:tc>
                <a:tc>
                  <a:txBody>
                    <a:bodyPr/>
                    <a:lstStyle/>
                    <a:p>
                      <a:pPr indent="0" lvl="0" marL="0" rtl="0" algn="r">
                        <a:lnSpc>
                          <a:spcPct val="115000"/>
                        </a:lnSpc>
                        <a:spcBef>
                          <a:spcPts val="0"/>
                        </a:spcBef>
                        <a:spcAft>
                          <a:spcPts val="0"/>
                        </a:spcAft>
                        <a:buNone/>
                      </a:pPr>
                      <a:r>
                        <a:rPr b="1" lang="en" sz="800"/>
                        <a:t>Start Date</a:t>
                      </a:r>
                      <a:endParaRPr sz="800"/>
                    </a:p>
                  </a:txBody>
                  <a:tcPr marT="25400" marB="25400" marR="25400" marL="25400" anchor="b">
                    <a:lnL cap="flat" cmpd="sng" w="9525">
                      <a:solidFill>
                        <a:srgbClr val="CCCCCC"/>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FEFEF"/>
                    </a:solidFill>
                  </a:tcPr>
                </a:tc>
                <a:tc>
                  <a:txBody>
                    <a:bodyPr/>
                    <a:lstStyle/>
                    <a:p>
                      <a:pPr indent="0" lvl="0" marL="0" rtl="0" algn="r">
                        <a:lnSpc>
                          <a:spcPct val="115000"/>
                        </a:lnSpc>
                        <a:spcBef>
                          <a:spcPts val="0"/>
                        </a:spcBef>
                        <a:spcAft>
                          <a:spcPts val="0"/>
                        </a:spcAft>
                        <a:buNone/>
                      </a:pPr>
                      <a:r>
                        <a:rPr b="1" lang="en" sz="800"/>
                        <a:t>End Date</a:t>
                      </a:r>
                      <a:endParaRPr sz="800"/>
                    </a:p>
                  </a:txBody>
                  <a:tcPr marT="25400" marB="25400" marR="25400" marL="25400" anchor="b">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t/>
                      </a:r>
                      <a:endParaRPr sz="800"/>
                    </a:p>
                  </a:txBody>
                  <a:tcPr marT="25400" marB="25400" marR="25400" marL="25400" anchor="b">
                    <a:lnL cap="flat" cmpd="sng" w="9525">
                      <a:solidFill>
                        <a:srgbClr val="D9D9D9"/>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t/>
                      </a:r>
                      <a:endParaRPr sz="800"/>
                    </a:p>
                  </a:txBody>
                  <a:tcPr marT="25400" marB="25400" marR="25400" marL="25400"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r>
              <a:tr h="200025">
                <a:tc>
                  <a:txBody>
                    <a:bodyPr/>
                    <a:lstStyle/>
                    <a:p>
                      <a:pPr indent="0" lvl="0" marL="0" rtl="0" algn="ctr">
                        <a:lnSpc>
                          <a:spcPct val="115000"/>
                        </a:lnSpc>
                        <a:spcBef>
                          <a:spcPts val="0"/>
                        </a:spcBef>
                        <a:spcAft>
                          <a:spcPts val="0"/>
                        </a:spcAft>
                        <a:buNone/>
                      </a:pPr>
                      <a:r>
                        <a:t/>
                      </a:r>
                      <a:endParaRPr sz="8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9EAD3"/>
                    </a:solidFill>
                  </a:tcPr>
                </a:tc>
                <a:tc>
                  <a:txBody>
                    <a:bodyPr/>
                    <a:lstStyle/>
                    <a:p>
                      <a:pPr indent="0" lvl="0" marL="0" rtl="0" algn="l">
                        <a:lnSpc>
                          <a:spcPct val="115000"/>
                        </a:lnSpc>
                        <a:spcBef>
                          <a:spcPts val="0"/>
                        </a:spcBef>
                        <a:spcAft>
                          <a:spcPts val="0"/>
                        </a:spcAft>
                        <a:buNone/>
                      </a:pPr>
                      <a:r>
                        <a:rPr lang="en" sz="800"/>
                        <a:t>Research Components</a:t>
                      </a:r>
                      <a:endParaRPr sz="800"/>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9EAD3"/>
                    </a:solidFill>
                  </a:tcPr>
                </a:tc>
                <a:tc>
                  <a:txBody>
                    <a:bodyPr/>
                    <a:lstStyle/>
                    <a:p>
                      <a:pPr indent="0" lvl="0" marL="0" rtl="0" algn="ctr">
                        <a:lnSpc>
                          <a:spcPct val="115000"/>
                        </a:lnSpc>
                        <a:spcBef>
                          <a:spcPts val="0"/>
                        </a:spcBef>
                        <a:spcAft>
                          <a:spcPts val="0"/>
                        </a:spcAft>
                        <a:buNone/>
                      </a:pPr>
                      <a:r>
                        <a:rPr lang="en" sz="800"/>
                        <a:t>6 hrs</a:t>
                      </a:r>
                      <a:endParaRPr sz="800"/>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9EAD3"/>
                    </a:solidFill>
                  </a:tcPr>
                </a:tc>
                <a:tc>
                  <a:txBody>
                    <a:bodyPr/>
                    <a:lstStyle/>
                    <a:p>
                      <a:pPr indent="0" lvl="0" marL="0" rtl="0" algn="r">
                        <a:lnSpc>
                          <a:spcPct val="115000"/>
                        </a:lnSpc>
                        <a:spcBef>
                          <a:spcPts val="0"/>
                        </a:spcBef>
                        <a:spcAft>
                          <a:spcPts val="0"/>
                        </a:spcAft>
                        <a:buNone/>
                      </a:pPr>
                      <a:r>
                        <a:rPr lang="en" sz="800"/>
                        <a:t>Fri 1/15/21</a:t>
                      </a:r>
                      <a:endParaRPr sz="800"/>
                    </a:p>
                  </a:txBody>
                  <a:tcPr marT="25400" marB="25400" marR="25400" marL="25400" anchor="ctr">
                    <a:lnL cap="flat" cmpd="sng" w="9525">
                      <a:solidFill>
                        <a:srgbClr val="CCCCCC"/>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9EAD3"/>
                    </a:solidFill>
                  </a:tcPr>
                </a:tc>
                <a:tc>
                  <a:txBody>
                    <a:bodyPr/>
                    <a:lstStyle/>
                    <a:p>
                      <a:pPr indent="0" lvl="0" marL="0" rtl="0" algn="r">
                        <a:lnSpc>
                          <a:spcPct val="115000"/>
                        </a:lnSpc>
                        <a:spcBef>
                          <a:spcPts val="0"/>
                        </a:spcBef>
                        <a:spcAft>
                          <a:spcPts val="0"/>
                        </a:spcAft>
                        <a:buNone/>
                      </a:pPr>
                      <a:r>
                        <a:rPr lang="en" sz="800"/>
                        <a:t>Sat 1/16/21</a:t>
                      </a:r>
                      <a:endParaRPr sz="800"/>
                    </a:p>
                  </a:txBody>
                  <a:tcPr marT="25400" marB="25400" marR="25400" marL="2540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D9EAD3"/>
                    </a:solidFill>
                  </a:tcPr>
                </a:tc>
                <a:tc>
                  <a:txBody>
                    <a:bodyPr/>
                    <a:lstStyle/>
                    <a:p>
                      <a:pPr indent="0" lvl="0" marL="0" rtl="0" algn="l">
                        <a:lnSpc>
                          <a:spcPct val="115000"/>
                        </a:lnSpc>
                        <a:spcBef>
                          <a:spcPts val="0"/>
                        </a:spcBef>
                        <a:spcAft>
                          <a:spcPts val="0"/>
                        </a:spcAft>
                        <a:buNone/>
                      </a:pPr>
                      <a:r>
                        <a:t/>
                      </a:r>
                      <a:endParaRPr sz="800"/>
                    </a:p>
                  </a:txBody>
                  <a:tcPr marT="25400" marB="25400" marR="25400" marL="25400" anchor="b">
                    <a:lnL cap="flat" cmpd="sng" w="9525">
                      <a:solidFill>
                        <a:srgbClr val="D9D9D9"/>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t/>
                      </a:r>
                      <a:endParaRPr sz="800"/>
                    </a:p>
                  </a:txBody>
                  <a:tcPr marT="25400" marB="25400" marR="25400" marL="25400"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r>
              <a:tr h="200025">
                <a:tc>
                  <a:txBody>
                    <a:bodyPr/>
                    <a:lstStyle/>
                    <a:p>
                      <a:pPr indent="0" lvl="0" marL="0" rtl="0" algn="ctr">
                        <a:lnSpc>
                          <a:spcPct val="115000"/>
                        </a:lnSpc>
                        <a:spcBef>
                          <a:spcPts val="0"/>
                        </a:spcBef>
                        <a:spcAft>
                          <a:spcPts val="0"/>
                        </a:spcAft>
                        <a:buNone/>
                      </a:pPr>
                      <a:r>
                        <a:rPr lang="en" sz="800"/>
                        <a:t>•</a:t>
                      </a:r>
                      <a:endParaRPr sz="8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9EAD3"/>
                    </a:solidFill>
                  </a:tcPr>
                </a:tc>
                <a:tc>
                  <a:txBody>
                    <a:bodyPr/>
                    <a:lstStyle/>
                    <a:p>
                      <a:pPr indent="0" lvl="0" marL="0" rtl="0" algn="l">
                        <a:lnSpc>
                          <a:spcPct val="115000"/>
                        </a:lnSpc>
                        <a:spcBef>
                          <a:spcPts val="0"/>
                        </a:spcBef>
                        <a:spcAft>
                          <a:spcPts val="0"/>
                        </a:spcAft>
                        <a:buNone/>
                      </a:pPr>
                      <a:r>
                        <a:rPr lang="en" sz="800"/>
                        <a:t>Design System</a:t>
                      </a:r>
                      <a:endParaRPr sz="800"/>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9EAD3"/>
                    </a:solidFill>
                  </a:tcPr>
                </a:tc>
                <a:tc>
                  <a:txBody>
                    <a:bodyPr/>
                    <a:lstStyle/>
                    <a:p>
                      <a:pPr indent="0" lvl="0" marL="0" rtl="0" algn="ctr">
                        <a:lnSpc>
                          <a:spcPct val="115000"/>
                        </a:lnSpc>
                        <a:spcBef>
                          <a:spcPts val="0"/>
                        </a:spcBef>
                        <a:spcAft>
                          <a:spcPts val="0"/>
                        </a:spcAft>
                        <a:buNone/>
                      </a:pPr>
                      <a:r>
                        <a:rPr lang="en" sz="800"/>
                        <a:t>6 hrs</a:t>
                      </a:r>
                      <a:endParaRPr sz="800"/>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9EAD3"/>
                    </a:solidFill>
                  </a:tcPr>
                </a:tc>
                <a:tc>
                  <a:txBody>
                    <a:bodyPr/>
                    <a:lstStyle/>
                    <a:p>
                      <a:pPr indent="0" lvl="0" marL="0" rtl="0" algn="r">
                        <a:lnSpc>
                          <a:spcPct val="115000"/>
                        </a:lnSpc>
                        <a:spcBef>
                          <a:spcPts val="0"/>
                        </a:spcBef>
                        <a:spcAft>
                          <a:spcPts val="0"/>
                        </a:spcAft>
                        <a:buNone/>
                      </a:pPr>
                      <a:r>
                        <a:rPr lang="en" sz="800"/>
                        <a:t>Mon 1/18/21</a:t>
                      </a:r>
                      <a:endParaRPr sz="800"/>
                    </a:p>
                  </a:txBody>
                  <a:tcPr marT="25400" marB="25400" marR="25400" marL="25400" anchor="ctr">
                    <a:lnL cap="flat" cmpd="sng" w="9525">
                      <a:solidFill>
                        <a:srgbClr val="CCCCCC"/>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9EAD3"/>
                    </a:solidFill>
                  </a:tcPr>
                </a:tc>
                <a:tc>
                  <a:txBody>
                    <a:bodyPr/>
                    <a:lstStyle/>
                    <a:p>
                      <a:pPr indent="0" lvl="0" marL="0" rtl="0" algn="r">
                        <a:lnSpc>
                          <a:spcPct val="115000"/>
                        </a:lnSpc>
                        <a:spcBef>
                          <a:spcPts val="0"/>
                        </a:spcBef>
                        <a:spcAft>
                          <a:spcPts val="0"/>
                        </a:spcAft>
                        <a:buNone/>
                      </a:pPr>
                      <a:r>
                        <a:rPr lang="en" sz="800"/>
                        <a:t>Wed 1/20/21</a:t>
                      </a:r>
                      <a:endParaRPr sz="800"/>
                    </a:p>
                  </a:txBody>
                  <a:tcPr marT="25400" marB="25400" marR="25400" marL="2540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D9EAD3"/>
                    </a:solidFill>
                  </a:tcPr>
                </a:tc>
                <a:tc>
                  <a:txBody>
                    <a:bodyPr/>
                    <a:lstStyle/>
                    <a:p>
                      <a:pPr indent="0" lvl="0" marL="0" rtl="0" algn="l">
                        <a:lnSpc>
                          <a:spcPct val="115000"/>
                        </a:lnSpc>
                        <a:spcBef>
                          <a:spcPts val="0"/>
                        </a:spcBef>
                        <a:spcAft>
                          <a:spcPts val="0"/>
                        </a:spcAft>
                        <a:buNone/>
                      </a:pPr>
                      <a:r>
                        <a:t/>
                      </a:r>
                      <a:endParaRPr sz="800"/>
                    </a:p>
                  </a:txBody>
                  <a:tcPr marT="25400" marB="25400" marR="25400" marL="25400" anchor="b">
                    <a:lnL cap="flat" cmpd="sng" w="9525">
                      <a:solidFill>
                        <a:srgbClr val="D9D9D9"/>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t/>
                      </a:r>
                      <a:endParaRPr sz="800"/>
                    </a:p>
                  </a:txBody>
                  <a:tcPr marT="25400" marB="25400" marR="25400" marL="25400"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r>
              <a:tr h="100000">
                <a:tc>
                  <a:txBody>
                    <a:bodyPr/>
                    <a:lstStyle/>
                    <a:p>
                      <a:pPr indent="0" lvl="0" marL="0" rtl="0" algn="ctr">
                        <a:lnSpc>
                          <a:spcPct val="115000"/>
                        </a:lnSpc>
                        <a:spcBef>
                          <a:spcPts val="0"/>
                        </a:spcBef>
                        <a:spcAft>
                          <a:spcPts val="0"/>
                        </a:spcAft>
                        <a:buNone/>
                      </a:pPr>
                      <a:r>
                        <a:t/>
                      </a:r>
                      <a:endParaRPr sz="8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9EAD3"/>
                    </a:solidFill>
                  </a:tcPr>
                </a:tc>
                <a:tc>
                  <a:txBody>
                    <a:bodyPr/>
                    <a:lstStyle/>
                    <a:p>
                      <a:pPr indent="0" lvl="0" marL="0" rtl="0" algn="l">
                        <a:lnSpc>
                          <a:spcPct val="115000"/>
                        </a:lnSpc>
                        <a:spcBef>
                          <a:spcPts val="0"/>
                        </a:spcBef>
                        <a:spcAft>
                          <a:spcPts val="0"/>
                        </a:spcAft>
                        <a:buNone/>
                      </a:pPr>
                      <a:r>
                        <a:rPr lang="en" sz="800"/>
                        <a:t>Design Display UI</a:t>
                      </a:r>
                      <a:endParaRPr sz="800"/>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9EAD3"/>
                    </a:solidFill>
                  </a:tcPr>
                </a:tc>
                <a:tc>
                  <a:txBody>
                    <a:bodyPr/>
                    <a:lstStyle/>
                    <a:p>
                      <a:pPr indent="0" lvl="0" marL="0" rtl="0" algn="ctr">
                        <a:lnSpc>
                          <a:spcPct val="115000"/>
                        </a:lnSpc>
                        <a:spcBef>
                          <a:spcPts val="0"/>
                        </a:spcBef>
                        <a:spcAft>
                          <a:spcPts val="0"/>
                        </a:spcAft>
                        <a:buNone/>
                      </a:pPr>
                      <a:r>
                        <a:rPr lang="en" sz="800"/>
                        <a:t>4 hrs</a:t>
                      </a:r>
                      <a:endParaRPr sz="800"/>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9EAD3"/>
                    </a:solidFill>
                  </a:tcPr>
                </a:tc>
                <a:tc>
                  <a:txBody>
                    <a:bodyPr/>
                    <a:lstStyle/>
                    <a:p>
                      <a:pPr indent="0" lvl="0" marL="0" rtl="0" algn="r">
                        <a:lnSpc>
                          <a:spcPct val="115000"/>
                        </a:lnSpc>
                        <a:spcBef>
                          <a:spcPts val="0"/>
                        </a:spcBef>
                        <a:spcAft>
                          <a:spcPts val="0"/>
                        </a:spcAft>
                        <a:buNone/>
                      </a:pPr>
                      <a:r>
                        <a:rPr lang="en" sz="800"/>
                        <a:t>Fri 4/2/21</a:t>
                      </a:r>
                      <a:endParaRPr sz="800"/>
                    </a:p>
                  </a:txBody>
                  <a:tcPr marT="25400" marB="25400" marR="25400" marL="25400" anchor="ctr">
                    <a:lnL cap="flat" cmpd="sng" w="9525">
                      <a:solidFill>
                        <a:srgbClr val="CCCCCC"/>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9EAD3"/>
                    </a:solidFill>
                  </a:tcPr>
                </a:tc>
                <a:tc>
                  <a:txBody>
                    <a:bodyPr/>
                    <a:lstStyle/>
                    <a:p>
                      <a:pPr indent="0" lvl="0" marL="0" rtl="0" algn="r">
                        <a:lnSpc>
                          <a:spcPct val="115000"/>
                        </a:lnSpc>
                        <a:spcBef>
                          <a:spcPts val="0"/>
                        </a:spcBef>
                        <a:spcAft>
                          <a:spcPts val="0"/>
                        </a:spcAft>
                        <a:buNone/>
                      </a:pPr>
                      <a:r>
                        <a:rPr lang="en" sz="800"/>
                        <a:t>Sat 4/3/21</a:t>
                      </a:r>
                      <a:endParaRPr sz="800"/>
                    </a:p>
                  </a:txBody>
                  <a:tcPr marT="25400" marB="25400" marR="25400" marL="2540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D9EAD3"/>
                    </a:solidFill>
                  </a:tcPr>
                </a:tc>
                <a:tc>
                  <a:txBody>
                    <a:bodyPr/>
                    <a:lstStyle/>
                    <a:p>
                      <a:pPr indent="0" lvl="0" marL="0" rtl="0" algn="l">
                        <a:lnSpc>
                          <a:spcPct val="115000"/>
                        </a:lnSpc>
                        <a:spcBef>
                          <a:spcPts val="0"/>
                        </a:spcBef>
                        <a:spcAft>
                          <a:spcPts val="0"/>
                        </a:spcAft>
                        <a:buNone/>
                      </a:pPr>
                      <a:r>
                        <a:t/>
                      </a:r>
                      <a:endParaRPr sz="800"/>
                    </a:p>
                  </a:txBody>
                  <a:tcPr marT="25400" marB="25400" marR="25400" marL="25400" anchor="b">
                    <a:lnL cap="flat" cmpd="sng" w="9525">
                      <a:solidFill>
                        <a:srgbClr val="D9D9D9"/>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t/>
                      </a:r>
                      <a:endParaRPr sz="800"/>
                    </a:p>
                  </a:txBody>
                  <a:tcPr marT="25400" marB="25400" marR="25400" marL="25400"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D9D9D9"/>
                      </a:solidFill>
                      <a:prstDash val="solid"/>
                      <a:round/>
                      <a:headEnd len="sm" w="sm" type="none"/>
                      <a:tailEnd len="sm" w="sm" type="none"/>
                    </a:lnB>
                  </a:tcPr>
                </a:tc>
              </a:tr>
              <a:tr h="200025">
                <a:tc>
                  <a:txBody>
                    <a:bodyPr/>
                    <a:lstStyle/>
                    <a:p>
                      <a:pPr indent="0" lvl="0" marL="0" rtl="0" algn="ctr">
                        <a:lnSpc>
                          <a:spcPct val="115000"/>
                        </a:lnSpc>
                        <a:spcBef>
                          <a:spcPts val="0"/>
                        </a:spcBef>
                        <a:spcAft>
                          <a:spcPts val="0"/>
                        </a:spcAft>
                        <a:buNone/>
                      </a:pPr>
                      <a:r>
                        <a:t/>
                      </a:r>
                      <a:endParaRPr sz="8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2CC"/>
                    </a:solidFill>
                  </a:tcPr>
                </a:tc>
                <a:tc>
                  <a:txBody>
                    <a:bodyPr/>
                    <a:lstStyle/>
                    <a:p>
                      <a:pPr indent="0" lvl="0" marL="0" rtl="0" algn="l">
                        <a:lnSpc>
                          <a:spcPct val="115000"/>
                        </a:lnSpc>
                        <a:spcBef>
                          <a:spcPts val="0"/>
                        </a:spcBef>
                        <a:spcAft>
                          <a:spcPts val="0"/>
                        </a:spcAft>
                        <a:buNone/>
                      </a:pPr>
                      <a:r>
                        <a:rPr lang="en" sz="800"/>
                        <a:t>Design Wind Sensing Unit</a:t>
                      </a:r>
                      <a:endParaRPr sz="800"/>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en" sz="800"/>
                        <a:t>9 hrs</a:t>
                      </a:r>
                      <a:endParaRPr sz="800"/>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2CC"/>
                    </a:solidFill>
                  </a:tcPr>
                </a:tc>
                <a:tc>
                  <a:txBody>
                    <a:bodyPr/>
                    <a:lstStyle/>
                    <a:p>
                      <a:pPr indent="0" lvl="0" marL="0" rtl="0" algn="r">
                        <a:lnSpc>
                          <a:spcPct val="115000"/>
                        </a:lnSpc>
                        <a:spcBef>
                          <a:spcPts val="0"/>
                        </a:spcBef>
                        <a:spcAft>
                          <a:spcPts val="0"/>
                        </a:spcAft>
                        <a:buNone/>
                      </a:pPr>
                      <a:r>
                        <a:rPr lang="en" sz="800"/>
                        <a:t>Sun 3/7/21</a:t>
                      </a:r>
                      <a:endParaRPr sz="800"/>
                    </a:p>
                  </a:txBody>
                  <a:tcPr marT="25400" marB="25400" marR="25400" marL="25400" anchor="ctr">
                    <a:lnL cap="flat" cmpd="sng" w="9525">
                      <a:solidFill>
                        <a:srgbClr val="CCCCCC"/>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2CC"/>
                    </a:solidFill>
                  </a:tcPr>
                </a:tc>
                <a:tc>
                  <a:txBody>
                    <a:bodyPr/>
                    <a:lstStyle/>
                    <a:p>
                      <a:pPr indent="0" lvl="0" marL="0" rtl="0" algn="r">
                        <a:lnSpc>
                          <a:spcPct val="115000"/>
                        </a:lnSpc>
                        <a:spcBef>
                          <a:spcPts val="0"/>
                        </a:spcBef>
                        <a:spcAft>
                          <a:spcPts val="0"/>
                        </a:spcAft>
                        <a:buNone/>
                      </a:pPr>
                      <a:r>
                        <a:rPr lang="en" sz="800"/>
                        <a:t>Fri 3/12/21</a:t>
                      </a:r>
                      <a:endParaRPr sz="800"/>
                    </a:p>
                  </a:txBody>
                  <a:tcPr marT="25400" marB="25400" marR="25400" marL="2540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2CC"/>
                    </a:solidFill>
                  </a:tcPr>
                </a:tc>
                <a:tc>
                  <a:txBody>
                    <a:bodyPr/>
                    <a:lstStyle/>
                    <a:p>
                      <a:pPr indent="0" lvl="0" marL="0" rtl="0" algn="l">
                        <a:lnSpc>
                          <a:spcPct val="115000"/>
                        </a:lnSpc>
                        <a:spcBef>
                          <a:spcPts val="0"/>
                        </a:spcBef>
                        <a:spcAft>
                          <a:spcPts val="0"/>
                        </a:spcAft>
                        <a:buNone/>
                      </a:pPr>
                      <a:r>
                        <a:t/>
                      </a:r>
                      <a:endParaRPr sz="800"/>
                    </a:p>
                  </a:txBody>
                  <a:tcPr marT="25400" marB="25400" marR="25400" marL="25400" anchor="b">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Completed</a:t>
                      </a:r>
                      <a:endParaRPr sz="800"/>
                    </a:p>
                  </a:txBody>
                  <a:tcPr marT="25400" marB="25400" marR="25400" marL="25400" anchor="b">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D9EAD3"/>
                    </a:solidFill>
                  </a:tcPr>
                </a:tc>
              </a:tr>
              <a:tr h="200025">
                <a:tc>
                  <a:txBody>
                    <a:bodyPr/>
                    <a:lstStyle/>
                    <a:p>
                      <a:pPr indent="0" lvl="0" marL="0" rtl="0" algn="ctr">
                        <a:lnSpc>
                          <a:spcPct val="115000"/>
                        </a:lnSpc>
                        <a:spcBef>
                          <a:spcPts val="0"/>
                        </a:spcBef>
                        <a:spcAft>
                          <a:spcPts val="0"/>
                        </a:spcAft>
                        <a:buNone/>
                      </a:pPr>
                      <a:r>
                        <a:t/>
                      </a:r>
                      <a:endParaRPr sz="8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CCC"/>
                    </a:solidFill>
                  </a:tcPr>
                </a:tc>
                <a:tc>
                  <a:txBody>
                    <a:bodyPr/>
                    <a:lstStyle/>
                    <a:p>
                      <a:pPr indent="0" lvl="0" marL="0" rtl="0" algn="l">
                        <a:lnSpc>
                          <a:spcPct val="115000"/>
                        </a:lnSpc>
                        <a:spcBef>
                          <a:spcPts val="0"/>
                        </a:spcBef>
                        <a:spcAft>
                          <a:spcPts val="0"/>
                        </a:spcAft>
                        <a:buNone/>
                      </a:pPr>
                      <a:r>
                        <a:rPr lang="en" sz="800"/>
                        <a:t>Assemble Wind Sensing Unit</a:t>
                      </a:r>
                      <a:endParaRPr sz="800"/>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CCC"/>
                    </a:solidFill>
                  </a:tcPr>
                </a:tc>
                <a:tc>
                  <a:txBody>
                    <a:bodyPr/>
                    <a:lstStyle/>
                    <a:p>
                      <a:pPr indent="0" lvl="0" marL="0" rtl="0" algn="ctr">
                        <a:lnSpc>
                          <a:spcPct val="115000"/>
                        </a:lnSpc>
                        <a:spcBef>
                          <a:spcPts val="0"/>
                        </a:spcBef>
                        <a:spcAft>
                          <a:spcPts val="0"/>
                        </a:spcAft>
                        <a:buNone/>
                      </a:pPr>
                      <a:r>
                        <a:rPr lang="en" sz="800"/>
                        <a:t>13 hrs</a:t>
                      </a:r>
                      <a:endParaRPr sz="800"/>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CCC"/>
                    </a:solidFill>
                  </a:tcPr>
                </a:tc>
                <a:tc>
                  <a:txBody>
                    <a:bodyPr/>
                    <a:lstStyle/>
                    <a:p>
                      <a:pPr indent="0" lvl="0" marL="0" rtl="0" algn="r">
                        <a:lnSpc>
                          <a:spcPct val="115000"/>
                        </a:lnSpc>
                        <a:spcBef>
                          <a:spcPts val="0"/>
                        </a:spcBef>
                        <a:spcAft>
                          <a:spcPts val="0"/>
                        </a:spcAft>
                        <a:buNone/>
                      </a:pPr>
                      <a:r>
                        <a:rPr lang="en" sz="800"/>
                        <a:t>Mon 4/12/21</a:t>
                      </a:r>
                      <a:endParaRPr sz="800"/>
                    </a:p>
                  </a:txBody>
                  <a:tcPr marT="25400" marB="25400" marR="25400" marL="25400" anchor="ctr">
                    <a:lnL cap="flat" cmpd="sng" w="9525">
                      <a:solidFill>
                        <a:srgbClr val="CCCCCC"/>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CCC"/>
                    </a:solidFill>
                  </a:tcPr>
                </a:tc>
                <a:tc>
                  <a:txBody>
                    <a:bodyPr/>
                    <a:lstStyle/>
                    <a:p>
                      <a:pPr indent="0" lvl="0" marL="0" rtl="0" algn="r">
                        <a:lnSpc>
                          <a:spcPct val="115000"/>
                        </a:lnSpc>
                        <a:spcBef>
                          <a:spcPts val="0"/>
                        </a:spcBef>
                        <a:spcAft>
                          <a:spcPts val="0"/>
                        </a:spcAft>
                        <a:buNone/>
                      </a:pPr>
                      <a:r>
                        <a:rPr lang="en" sz="800"/>
                        <a:t>Mon 4/19/21</a:t>
                      </a:r>
                      <a:endParaRPr sz="800"/>
                    </a:p>
                  </a:txBody>
                  <a:tcPr marT="25400" marB="25400" marR="25400" marL="2540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4CCCC"/>
                    </a:solidFill>
                  </a:tcPr>
                </a:tc>
                <a:tc>
                  <a:txBody>
                    <a:bodyPr/>
                    <a:lstStyle/>
                    <a:p>
                      <a:pPr indent="0" lvl="0" marL="0" rtl="0" algn="l">
                        <a:lnSpc>
                          <a:spcPct val="115000"/>
                        </a:lnSpc>
                        <a:spcBef>
                          <a:spcPts val="0"/>
                        </a:spcBef>
                        <a:spcAft>
                          <a:spcPts val="0"/>
                        </a:spcAft>
                        <a:buNone/>
                      </a:pPr>
                      <a:r>
                        <a:t/>
                      </a:r>
                      <a:endParaRPr sz="800"/>
                    </a:p>
                  </a:txBody>
                  <a:tcPr marT="25400" marB="25400" marR="25400" marL="25400" anchor="b">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In Progress</a:t>
                      </a:r>
                      <a:endParaRPr sz="800"/>
                    </a:p>
                  </a:txBody>
                  <a:tcPr marT="25400" marB="25400" marR="25400" marL="25400" anchor="b">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2CC"/>
                    </a:solidFill>
                  </a:tcPr>
                </a:tc>
              </a:tr>
              <a:tr h="200025">
                <a:tc>
                  <a:txBody>
                    <a:bodyPr/>
                    <a:lstStyle/>
                    <a:p>
                      <a:pPr indent="0" lvl="0" marL="0" rtl="0" algn="ctr">
                        <a:lnSpc>
                          <a:spcPct val="115000"/>
                        </a:lnSpc>
                        <a:spcBef>
                          <a:spcPts val="0"/>
                        </a:spcBef>
                        <a:spcAft>
                          <a:spcPts val="0"/>
                        </a:spcAft>
                        <a:buNone/>
                      </a:pPr>
                      <a:r>
                        <a:t/>
                      </a:r>
                      <a:endParaRPr sz="8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9EAD3"/>
                    </a:solidFill>
                  </a:tcPr>
                </a:tc>
                <a:tc>
                  <a:txBody>
                    <a:bodyPr/>
                    <a:lstStyle/>
                    <a:p>
                      <a:pPr indent="0" lvl="0" marL="0" rtl="0" algn="l">
                        <a:lnSpc>
                          <a:spcPct val="115000"/>
                        </a:lnSpc>
                        <a:spcBef>
                          <a:spcPts val="0"/>
                        </a:spcBef>
                        <a:spcAft>
                          <a:spcPts val="0"/>
                        </a:spcAft>
                        <a:buNone/>
                      </a:pPr>
                      <a:r>
                        <a:rPr lang="en" sz="800"/>
                        <a:t>Design Mobile Application</a:t>
                      </a:r>
                      <a:endParaRPr sz="800"/>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9EAD3"/>
                    </a:solidFill>
                  </a:tcPr>
                </a:tc>
                <a:tc>
                  <a:txBody>
                    <a:bodyPr/>
                    <a:lstStyle/>
                    <a:p>
                      <a:pPr indent="0" lvl="0" marL="0" rtl="0" algn="ctr">
                        <a:lnSpc>
                          <a:spcPct val="115000"/>
                        </a:lnSpc>
                        <a:spcBef>
                          <a:spcPts val="0"/>
                        </a:spcBef>
                        <a:spcAft>
                          <a:spcPts val="0"/>
                        </a:spcAft>
                        <a:buNone/>
                      </a:pPr>
                      <a:r>
                        <a:rPr lang="en" sz="800"/>
                        <a:t>12 hrs</a:t>
                      </a:r>
                      <a:endParaRPr sz="800"/>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9EAD3"/>
                    </a:solidFill>
                  </a:tcPr>
                </a:tc>
                <a:tc>
                  <a:txBody>
                    <a:bodyPr/>
                    <a:lstStyle/>
                    <a:p>
                      <a:pPr indent="0" lvl="0" marL="0" rtl="0" algn="r">
                        <a:lnSpc>
                          <a:spcPct val="115000"/>
                        </a:lnSpc>
                        <a:spcBef>
                          <a:spcPts val="0"/>
                        </a:spcBef>
                        <a:spcAft>
                          <a:spcPts val="0"/>
                        </a:spcAft>
                        <a:buNone/>
                      </a:pPr>
                      <a:r>
                        <a:rPr lang="en" sz="800"/>
                        <a:t>Wed 2/10/21</a:t>
                      </a:r>
                      <a:endParaRPr sz="800"/>
                    </a:p>
                  </a:txBody>
                  <a:tcPr marT="25400" marB="25400" marR="25400" marL="25400" anchor="ctr">
                    <a:lnL cap="flat" cmpd="sng" w="9525">
                      <a:solidFill>
                        <a:srgbClr val="CCCCCC"/>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9EAD3"/>
                    </a:solidFill>
                  </a:tcPr>
                </a:tc>
                <a:tc>
                  <a:txBody>
                    <a:bodyPr/>
                    <a:lstStyle/>
                    <a:p>
                      <a:pPr indent="0" lvl="0" marL="0" rtl="0" algn="r">
                        <a:lnSpc>
                          <a:spcPct val="115000"/>
                        </a:lnSpc>
                        <a:spcBef>
                          <a:spcPts val="0"/>
                        </a:spcBef>
                        <a:spcAft>
                          <a:spcPts val="0"/>
                        </a:spcAft>
                        <a:buNone/>
                      </a:pPr>
                      <a:r>
                        <a:rPr lang="en" sz="800"/>
                        <a:t>Wed 2/17/21</a:t>
                      </a:r>
                      <a:endParaRPr sz="800"/>
                    </a:p>
                  </a:txBody>
                  <a:tcPr marT="25400" marB="25400" marR="25400" marL="2540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D9EAD3"/>
                    </a:solidFill>
                  </a:tcPr>
                </a:tc>
                <a:tc>
                  <a:txBody>
                    <a:bodyPr/>
                    <a:lstStyle/>
                    <a:p>
                      <a:pPr indent="0" lvl="0" marL="0" rtl="0" algn="l">
                        <a:lnSpc>
                          <a:spcPct val="115000"/>
                        </a:lnSpc>
                        <a:spcBef>
                          <a:spcPts val="0"/>
                        </a:spcBef>
                        <a:spcAft>
                          <a:spcPts val="0"/>
                        </a:spcAft>
                        <a:buNone/>
                      </a:pPr>
                      <a:r>
                        <a:t/>
                      </a:r>
                      <a:endParaRPr sz="800"/>
                    </a:p>
                  </a:txBody>
                  <a:tcPr marT="25400" marB="25400" marR="25400" marL="25400" anchor="b">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Not Started</a:t>
                      </a:r>
                      <a:endParaRPr sz="800"/>
                    </a:p>
                  </a:txBody>
                  <a:tcPr marT="25400" marB="25400" marR="25400" marL="25400" anchor="b">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4CCCC"/>
                    </a:solidFill>
                  </a:tcPr>
                </a:tc>
              </a:tr>
              <a:tr h="114300">
                <a:tc>
                  <a:txBody>
                    <a:bodyPr/>
                    <a:lstStyle/>
                    <a:p>
                      <a:pPr indent="0" lvl="0" marL="0" rtl="0" algn="ctr">
                        <a:lnSpc>
                          <a:spcPct val="115000"/>
                        </a:lnSpc>
                        <a:spcBef>
                          <a:spcPts val="0"/>
                        </a:spcBef>
                        <a:spcAft>
                          <a:spcPts val="0"/>
                        </a:spcAft>
                        <a:buNone/>
                      </a:pPr>
                      <a:r>
                        <a:t/>
                      </a:r>
                      <a:endParaRPr sz="8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2CC"/>
                    </a:solidFill>
                  </a:tcPr>
                </a:tc>
                <a:tc>
                  <a:txBody>
                    <a:bodyPr/>
                    <a:lstStyle/>
                    <a:p>
                      <a:pPr indent="0" lvl="0" marL="0" rtl="0" algn="l">
                        <a:lnSpc>
                          <a:spcPct val="115000"/>
                        </a:lnSpc>
                        <a:spcBef>
                          <a:spcPts val="0"/>
                        </a:spcBef>
                        <a:spcAft>
                          <a:spcPts val="0"/>
                        </a:spcAft>
                        <a:buNone/>
                      </a:pPr>
                      <a:r>
                        <a:rPr lang="en" sz="800"/>
                        <a:t>Test Bluetooth Communication</a:t>
                      </a:r>
                      <a:endParaRPr sz="800"/>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en" sz="800"/>
                        <a:t>12 hrs</a:t>
                      </a:r>
                      <a:endParaRPr sz="800"/>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2CC"/>
                    </a:solidFill>
                  </a:tcPr>
                </a:tc>
                <a:tc>
                  <a:txBody>
                    <a:bodyPr/>
                    <a:lstStyle/>
                    <a:p>
                      <a:pPr indent="0" lvl="0" marL="0" rtl="0" algn="r">
                        <a:lnSpc>
                          <a:spcPct val="115000"/>
                        </a:lnSpc>
                        <a:spcBef>
                          <a:spcPts val="0"/>
                        </a:spcBef>
                        <a:spcAft>
                          <a:spcPts val="0"/>
                        </a:spcAft>
                        <a:buNone/>
                      </a:pPr>
                      <a:r>
                        <a:rPr lang="en" sz="800"/>
                        <a:t>Wed 4/7/21</a:t>
                      </a:r>
                      <a:endParaRPr sz="800"/>
                    </a:p>
                  </a:txBody>
                  <a:tcPr marT="25400" marB="25400" marR="25400" marL="25400" anchor="ctr">
                    <a:lnL cap="flat" cmpd="sng" w="9525">
                      <a:solidFill>
                        <a:srgbClr val="CCCCCC"/>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2CC"/>
                    </a:solidFill>
                  </a:tcPr>
                </a:tc>
                <a:tc>
                  <a:txBody>
                    <a:bodyPr/>
                    <a:lstStyle/>
                    <a:p>
                      <a:pPr indent="0" lvl="0" marL="0" rtl="0" algn="r">
                        <a:lnSpc>
                          <a:spcPct val="115000"/>
                        </a:lnSpc>
                        <a:spcBef>
                          <a:spcPts val="0"/>
                        </a:spcBef>
                        <a:spcAft>
                          <a:spcPts val="0"/>
                        </a:spcAft>
                        <a:buNone/>
                      </a:pPr>
                      <a:r>
                        <a:rPr lang="en" sz="800"/>
                        <a:t>Mon 4/12/21</a:t>
                      </a:r>
                      <a:endParaRPr sz="800"/>
                    </a:p>
                  </a:txBody>
                  <a:tcPr marT="25400" marB="25400" marR="25400" marL="2540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2CC"/>
                    </a:solidFill>
                  </a:tcPr>
                </a:tc>
                <a:tc>
                  <a:txBody>
                    <a:bodyPr/>
                    <a:lstStyle/>
                    <a:p>
                      <a:pPr indent="0" lvl="0" marL="0" rtl="0" algn="l">
                        <a:lnSpc>
                          <a:spcPct val="115000"/>
                        </a:lnSpc>
                        <a:spcBef>
                          <a:spcPts val="0"/>
                        </a:spcBef>
                        <a:spcAft>
                          <a:spcPts val="0"/>
                        </a:spcAft>
                        <a:buNone/>
                      </a:pPr>
                      <a:r>
                        <a:t/>
                      </a:r>
                      <a:endParaRPr sz="800"/>
                    </a:p>
                  </a:txBody>
                  <a:tcPr marT="25400" marB="25400" marR="25400" marL="25400" anchor="b">
                    <a:lnL cap="flat" cmpd="sng" w="9525">
                      <a:solidFill>
                        <a:srgbClr val="D9D9D9"/>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t/>
                      </a:r>
                      <a:endParaRPr sz="800"/>
                    </a:p>
                  </a:txBody>
                  <a:tcPr marT="25400" marB="25400" marR="25400" marL="25400"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FFFFFF"/>
                      </a:solidFill>
                      <a:prstDash val="solid"/>
                      <a:round/>
                      <a:headEnd len="sm" w="sm" type="none"/>
                      <a:tailEnd len="sm" w="sm" type="none"/>
                    </a:lnB>
                  </a:tcPr>
                </a:tc>
              </a:tr>
              <a:tr h="100000">
                <a:tc>
                  <a:txBody>
                    <a:bodyPr/>
                    <a:lstStyle/>
                    <a:p>
                      <a:pPr indent="0" lvl="0" marL="0" rtl="0" algn="ctr">
                        <a:lnSpc>
                          <a:spcPct val="115000"/>
                        </a:lnSpc>
                        <a:spcBef>
                          <a:spcPts val="0"/>
                        </a:spcBef>
                        <a:spcAft>
                          <a:spcPts val="0"/>
                        </a:spcAft>
                        <a:buNone/>
                      </a:pPr>
                      <a:r>
                        <a:t/>
                      </a:r>
                      <a:endParaRPr sz="8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9EAD3"/>
                    </a:solidFill>
                  </a:tcPr>
                </a:tc>
                <a:tc>
                  <a:txBody>
                    <a:bodyPr/>
                    <a:lstStyle/>
                    <a:p>
                      <a:pPr indent="0" lvl="0" marL="0" rtl="0" algn="l">
                        <a:lnSpc>
                          <a:spcPct val="115000"/>
                        </a:lnSpc>
                        <a:spcBef>
                          <a:spcPts val="0"/>
                        </a:spcBef>
                        <a:spcAft>
                          <a:spcPts val="0"/>
                        </a:spcAft>
                        <a:buNone/>
                      </a:pPr>
                      <a:r>
                        <a:rPr lang="en" sz="800"/>
                        <a:t>Research Bluetooth</a:t>
                      </a:r>
                      <a:endParaRPr sz="800"/>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9EAD3"/>
                    </a:solidFill>
                  </a:tcPr>
                </a:tc>
                <a:tc>
                  <a:txBody>
                    <a:bodyPr/>
                    <a:lstStyle/>
                    <a:p>
                      <a:pPr indent="0" lvl="0" marL="0" rtl="0" algn="ctr">
                        <a:lnSpc>
                          <a:spcPct val="115000"/>
                        </a:lnSpc>
                        <a:spcBef>
                          <a:spcPts val="0"/>
                        </a:spcBef>
                        <a:spcAft>
                          <a:spcPts val="0"/>
                        </a:spcAft>
                        <a:buNone/>
                      </a:pPr>
                      <a:r>
                        <a:rPr lang="en" sz="800"/>
                        <a:t>6 hrs</a:t>
                      </a:r>
                      <a:endParaRPr sz="800"/>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9EAD3"/>
                    </a:solidFill>
                  </a:tcPr>
                </a:tc>
                <a:tc>
                  <a:txBody>
                    <a:bodyPr/>
                    <a:lstStyle/>
                    <a:p>
                      <a:pPr indent="0" lvl="0" marL="0" rtl="0" algn="r">
                        <a:lnSpc>
                          <a:spcPct val="115000"/>
                        </a:lnSpc>
                        <a:spcBef>
                          <a:spcPts val="0"/>
                        </a:spcBef>
                        <a:spcAft>
                          <a:spcPts val="0"/>
                        </a:spcAft>
                        <a:buNone/>
                      </a:pPr>
                      <a:r>
                        <a:rPr lang="en" sz="800"/>
                        <a:t>Fri 2/19/21</a:t>
                      </a:r>
                      <a:endParaRPr sz="800"/>
                    </a:p>
                  </a:txBody>
                  <a:tcPr marT="25400" marB="25400" marR="25400" marL="25400" anchor="ctr">
                    <a:lnL cap="flat" cmpd="sng" w="9525">
                      <a:solidFill>
                        <a:srgbClr val="CCCCCC"/>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9EAD3"/>
                    </a:solidFill>
                  </a:tcPr>
                </a:tc>
                <a:tc>
                  <a:txBody>
                    <a:bodyPr/>
                    <a:lstStyle/>
                    <a:p>
                      <a:pPr indent="0" lvl="0" marL="0" rtl="0" algn="r">
                        <a:lnSpc>
                          <a:spcPct val="115000"/>
                        </a:lnSpc>
                        <a:spcBef>
                          <a:spcPts val="0"/>
                        </a:spcBef>
                        <a:spcAft>
                          <a:spcPts val="0"/>
                        </a:spcAft>
                        <a:buNone/>
                      </a:pPr>
                      <a:r>
                        <a:rPr lang="en" sz="800"/>
                        <a:t>Sat 2/20/21</a:t>
                      </a:r>
                      <a:endParaRPr sz="800"/>
                    </a:p>
                  </a:txBody>
                  <a:tcPr marT="25400" marB="25400" marR="25400" marL="2540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D9EAD3"/>
                    </a:solidFill>
                  </a:tcPr>
                </a:tc>
                <a:tc>
                  <a:txBody>
                    <a:bodyPr/>
                    <a:lstStyle/>
                    <a:p>
                      <a:pPr indent="0" lvl="0" marL="0" rtl="0" algn="l">
                        <a:lnSpc>
                          <a:spcPct val="115000"/>
                        </a:lnSpc>
                        <a:spcBef>
                          <a:spcPts val="0"/>
                        </a:spcBef>
                        <a:spcAft>
                          <a:spcPts val="0"/>
                        </a:spcAft>
                        <a:buNone/>
                      </a:pPr>
                      <a:r>
                        <a:t/>
                      </a:r>
                      <a:endParaRPr sz="800"/>
                    </a:p>
                  </a:txBody>
                  <a:tcPr marT="25400" marB="25400" marR="25400" marL="25400" anchor="b">
                    <a:lnL cap="flat" cmpd="sng" w="9525">
                      <a:solidFill>
                        <a:srgbClr val="D9D9D9"/>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t/>
                      </a:r>
                      <a:endParaRPr sz="800"/>
                    </a:p>
                  </a:txBody>
                  <a:tcPr marT="25400" marB="25400" marR="25400" marL="25400"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r>
              <a:tr h="200025">
                <a:tc>
                  <a:txBody>
                    <a:bodyPr/>
                    <a:lstStyle/>
                    <a:p>
                      <a:pPr indent="0" lvl="0" marL="0" rtl="0" algn="ctr">
                        <a:lnSpc>
                          <a:spcPct val="115000"/>
                        </a:lnSpc>
                        <a:spcBef>
                          <a:spcPts val="0"/>
                        </a:spcBef>
                        <a:spcAft>
                          <a:spcPts val="0"/>
                        </a:spcAft>
                        <a:buNone/>
                      </a:pPr>
                      <a:r>
                        <a:t/>
                      </a:r>
                      <a:endParaRPr sz="8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2CC"/>
                    </a:solidFill>
                  </a:tcPr>
                </a:tc>
                <a:tc>
                  <a:txBody>
                    <a:bodyPr/>
                    <a:lstStyle/>
                    <a:p>
                      <a:pPr indent="0" lvl="0" marL="0" rtl="0" algn="l">
                        <a:lnSpc>
                          <a:spcPct val="115000"/>
                        </a:lnSpc>
                        <a:spcBef>
                          <a:spcPts val="0"/>
                        </a:spcBef>
                        <a:spcAft>
                          <a:spcPts val="0"/>
                        </a:spcAft>
                        <a:buNone/>
                      </a:pPr>
                      <a:r>
                        <a:rPr lang="en" sz="800"/>
                        <a:t>Code Microcontrollers</a:t>
                      </a:r>
                      <a:endParaRPr sz="800"/>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en" sz="800"/>
                        <a:t>76.5 hrs</a:t>
                      </a:r>
                      <a:endParaRPr sz="800"/>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2CC"/>
                    </a:solidFill>
                  </a:tcPr>
                </a:tc>
                <a:tc>
                  <a:txBody>
                    <a:bodyPr/>
                    <a:lstStyle/>
                    <a:p>
                      <a:pPr indent="0" lvl="0" marL="0" rtl="0" algn="r">
                        <a:lnSpc>
                          <a:spcPct val="115000"/>
                        </a:lnSpc>
                        <a:spcBef>
                          <a:spcPts val="0"/>
                        </a:spcBef>
                        <a:spcAft>
                          <a:spcPts val="0"/>
                        </a:spcAft>
                        <a:buNone/>
                      </a:pPr>
                      <a:r>
                        <a:rPr lang="en" sz="800"/>
                        <a:t>Fri 1/29/21</a:t>
                      </a:r>
                      <a:endParaRPr sz="800"/>
                    </a:p>
                  </a:txBody>
                  <a:tcPr marT="25400" marB="25400" marR="25400" marL="25400" anchor="ctr">
                    <a:lnL cap="flat" cmpd="sng" w="9525">
                      <a:solidFill>
                        <a:srgbClr val="CCCCCC"/>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2CC"/>
                    </a:solidFill>
                  </a:tcPr>
                </a:tc>
                <a:tc>
                  <a:txBody>
                    <a:bodyPr/>
                    <a:lstStyle/>
                    <a:p>
                      <a:pPr indent="0" lvl="0" marL="0" rtl="0" algn="r">
                        <a:lnSpc>
                          <a:spcPct val="115000"/>
                        </a:lnSpc>
                        <a:spcBef>
                          <a:spcPts val="0"/>
                        </a:spcBef>
                        <a:spcAft>
                          <a:spcPts val="0"/>
                        </a:spcAft>
                        <a:buNone/>
                      </a:pPr>
                      <a:r>
                        <a:rPr lang="en" sz="800"/>
                        <a:t>Sat 3/13/21</a:t>
                      </a:r>
                      <a:endParaRPr sz="800"/>
                    </a:p>
                  </a:txBody>
                  <a:tcPr marT="25400" marB="25400" marR="25400" marL="2540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2CC"/>
                    </a:solidFill>
                  </a:tcPr>
                </a:tc>
                <a:tc>
                  <a:txBody>
                    <a:bodyPr/>
                    <a:lstStyle/>
                    <a:p>
                      <a:pPr indent="0" lvl="0" marL="0" rtl="0" algn="l">
                        <a:lnSpc>
                          <a:spcPct val="115000"/>
                        </a:lnSpc>
                        <a:spcBef>
                          <a:spcPts val="0"/>
                        </a:spcBef>
                        <a:spcAft>
                          <a:spcPts val="0"/>
                        </a:spcAft>
                        <a:buNone/>
                      </a:pPr>
                      <a:r>
                        <a:t/>
                      </a:r>
                      <a:endParaRPr sz="800"/>
                    </a:p>
                  </a:txBody>
                  <a:tcPr marT="25400" marB="25400" marR="25400" marL="25400" anchor="b">
                    <a:lnL cap="flat" cmpd="sng" w="9525">
                      <a:solidFill>
                        <a:srgbClr val="D9D9D9"/>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t/>
                      </a:r>
                      <a:endParaRPr sz="800"/>
                    </a:p>
                  </a:txBody>
                  <a:tcPr marT="25400" marB="25400" marR="25400" marL="25400"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r>
              <a:tr h="100000">
                <a:tc>
                  <a:txBody>
                    <a:bodyPr/>
                    <a:lstStyle/>
                    <a:p>
                      <a:pPr indent="0" lvl="0" marL="0" rtl="0" algn="ctr">
                        <a:lnSpc>
                          <a:spcPct val="115000"/>
                        </a:lnSpc>
                        <a:spcBef>
                          <a:spcPts val="0"/>
                        </a:spcBef>
                        <a:spcAft>
                          <a:spcPts val="0"/>
                        </a:spcAft>
                        <a:buNone/>
                      </a:pPr>
                      <a:r>
                        <a:t/>
                      </a:r>
                      <a:endParaRPr sz="8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9EAD3"/>
                    </a:solidFill>
                  </a:tcPr>
                </a:tc>
                <a:tc>
                  <a:txBody>
                    <a:bodyPr/>
                    <a:lstStyle/>
                    <a:p>
                      <a:pPr indent="0" lvl="0" marL="0" rtl="0" algn="l">
                        <a:lnSpc>
                          <a:spcPct val="115000"/>
                        </a:lnSpc>
                        <a:spcBef>
                          <a:spcPts val="0"/>
                        </a:spcBef>
                        <a:spcAft>
                          <a:spcPts val="0"/>
                        </a:spcAft>
                        <a:buNone/>
                      </a:pPr>
                      <a:r>
                        <a:rPr lang="en" sz="800"/>
                        <a:t>Test Components</a:t>
                      </a:r>
                      <a:endParaRPr sz="800"/>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9EAD3"/>
                    </a:solidFill>
                  </a:tcPr>
                </a:tc>
                <a:tc>
                  <a:txBody>
                    <a:bodyPr/>
                    <a:lstStyle/>
                    <a:p>
                      <a:pPr indent="0" lvl="0" marL="0" rtl="0" algn="ctr">
                        <a:lnSpc>
                          <a:spcPct val="115000"/>
                        </a:lnSpc>
                        <a:spcBef>
                          <a:spcPts val="0"/>
                        </a:spcBef>
                        <a:spcAft>
                          <a:spcPts val="0"/>
                        </a:spcAft>
                        <a:buNone/>
                      </a:pPr>
                      <a:r>
                        <a:rPr lang="en" sz="800"/>
                        <a:t>12 hrs</a:t>
                      </a:r>
                      <a:endParaRPr sz="800"/>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9EAD3"/>
                    </a:solidFill>
                  </a:tcPr>
                </a:tc>
                <a:tc>
                  <a:txBody>
                    <a:bodyPr/>
                    <a:lstStyle/>
                    <a:p>
                      <a:pPr indent="0" lvl="0" marL="0" rtl="0" algn="r">
                        <a:lnSpc>
                          <a:spcPct val="115000"/>
                        </a:lnSpc>
                        <a:spcBef>
                          <a:spcPts val="0"/>
                        </a:spcBef>
                        <a:spcAft>
                          <a:spcPts val="0"/>
                        </a:spcAft>
                        <a:buNone/>
                      </a:pPr>
                      <a:r>
                        <a:rPr lang="en" sz="800"/>
                        <a:t>Mon 1/25/21</a:t>
                      </a:r>
                      <a:endParaRPr sz="800"/>
                    </a:p>
                  </a:txBody>
                  <a:tcPr marT="25400" marB="25400" marR="25400" marL="25400" anchor="ctr">
                    <a:lnL cap="flat" cmpd="sng" w="9525">
                      <a:solidFill>
                        <a:srgbClr val="CCCCCC"/>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9EAD3"/>
                    </a:solidFill>
                  </a:tcPr>
                </a:tc>
                <a:tc>
                  <a:txBody>
                    <a:bodyPr/>
                    <a:lstStyle/>
                    <a:p>
                      <a:pPr indent="0" lvl="0" marL="0" rtl="0" algn="r">
                        <a:lnSpc>
                          <a:spcPct val="115000"/>
                        </a:lnSpc>
                        <a:spcBef>
                          <a:spcPts val="0"/>
                        </a:spcBef>
                        <a:spcAft>
                          <a:spcPts val="0"/>
                        </a:spcAft>
                        <a:buNone/>
                      </a:pPr>
                      <a:r>
                        <a:rPr lang="en" sz="800"/>
                        <a:t>Sat 1/30/21</a:t>
                      </a:r>
                      <a:endParaRPr sz="800"/>
                    </a:p>
                  </a:txBody>
                  <a:tcPr marT="25400" marB="25400" marR="25400" marL="2540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D9EAD3"/>
                    </a:solidFill>
                  </a:tcPr>
                </a:tc>
                <a:tc>
                  <a:txBody>
                    <a:bodyPr/>
                    <a:lstStyle/>
                    <a:p>
                      <a:pPr indent="0" lvl="0" marL="0" rtl="0" algn="l">
                        <a:lnSpc>
                          <a:spcPct val="115000"/>
                        </a:lnSpc>
                        <a:spcBef>
                          <a:spcPts val="0"/>
                        </a:spcBef>
                        <a:spcAft>
                          <a:spcPts val="0"/>
                        </a:spcAft>
                        <a:buNone/>
                      </a:pPr>
                      <a:r>
                        <a:t/>
                      </a:r>
                      <a:endParaRPr sz="800"/>
                    </a:p>
                  </a:txBody>
                  <a:tcPr marT="25400" marB="25400" marR="25400" marL="25400" anchor="b">
                    <a:lnL cap="flat" cmpd="sng" w="9525">
                      <a:solidFill>
                        <a:srgbClr val="D9D9D9"/>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t/>
                      </a:r>
                      <a:endParaRPr sz="800"/>
                    </a:p>
                  </a:txBody>
                  <a:tcPr marT="25400" marB="25400" marR="25400" marL="25400"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r>
              <a:tr h="12700">
                <a:tc>
                  <a:txBody>
                    <a:bodyPr/>
                    <a:lstStyle/>
                    <a:p>
                      <a:pPr indent="0" lvl="0" marL="0" rtl="0" algn="ctr">
                        <a:lnSpc>
                          <a:spcPct val="115000"/>
                        </a:lnSpc>
                        <a:spcBef>
                          <a:spcPts val="0"/>
                        </a:spcBef>
                        <a:spcAft>
                          <a:spcPts val="0"/>
                        </a:spcAft>
                        <a:buNone/>
                      </a:pPr>
                      <a:r>
                        <a:t/>
                      </a:r>
                      <a:endParaRPr sz="8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2CC"/>
                    </a:solidFill>
                  </a:tcPr>
                </a:tc>
                <a:tc>
                  <a:txBody>
                    <a:bodyPr/>
                    <a:lstStyle/>
                    <a:p>
                      <a:pPr indent="0" lvl="0" marL="0" rtl="0" algn="l">
                        <a:lnSpc>
                          <a:spcPct val="115000"/>
                        </a:lnSpc>
                        <a:spcBef>
                          <a:spcPts val="0"/>
                        </a:spcBef>
                        <a:spcAft>
                          <a:spcPts val="0"/>
                        </a:spcAft>
                        <a:buNone/>
                      </a:pPr>
                      <a:r>
                        <a:rPr lang="en" sz="800"/>
                        <a:t>Mount Hardware</a:t>
                      </a:r>
                      <a:endParaRPr sz="800"/>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en" sz="800"/>
                        <a:t>12 hrs</a:t>
                      </a:r>
                      <a:endParaRPr sz="800"/>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2CC"/>
                    </a:solidFill>
                  </a:tcPr>
                </a:tc>
                <a:tc>
                  <a:txBody>
                    <a:bodyPr/>
                    <a:lstStyle/>
                    <a:p>
                      <a:pPr indent="0" lvl="0" marL="0" rtl="0" algn="r">
                        <a:lnSpc>
                          <a:spcPct val="115000"/>
                        </a:lnSpc>
                        <a:spcBef>
                          <a:spcPts val="0"/>
                        </a:spcBef>
                        <a:spcAft>
                          <a:spcPts val="0"/>
                        </a:spcAft>
                        <a:buNone/>
                      </a:pPr>
                      <a:r>
                        <a:rPr lang="en" sz="800"/>
                        <a:t>Sun 3/14/21</a:t>
                      </a:r>
                      <a:endParaRPr sz="800"/>
                    </a:p>
                  </a:txBody>
                  <a:tcPr marT="25400" marB="25400" marR="25400" marL="25400" anchor="ctr">
                    <a:lnL cap="flat" cmpd="sng" w="9525">
                      <a:solidFill>
                        <a:srgbClr val="CCCCCC"/>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2CC"/>
                    </a:solidFill>
                  </a:tcPr>
                </a:tc>
                <a:tc>
                  <a:txBody>
                    <a:bodyPr/>
                    <a:lstStyle/>
                    <a:p>
                      <a:pPr indent="0" lvl="0" marL="0" rtl="0" algn="r">
                        <a:lnSpc>
                          <a:spcPct val="115000"/>
                        </a:lnSpc>
                        <a:spcBef>
                          <a:spcPts val="0"/>
                        </a:spcBef>
                        <a:spcAft>
                          <a:spcPts val="0"/>
                        </a:spcAft>
                        <a:buNone/>
                      </a:pPr>
                      <a:r>
                        <a:rPr lang="en" sz="800"/>
                        <a:t>Sat 3/20/21</a:t>
                      </a:r>
                      <a:endParaRPr sz="800"/>
                    </a:p>
                  </a:txBody>
                  <a:tcPr marT="25400" marB="25400" marR="25400" marL="2540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2CC"/>
                    </a:solidFill>
                  </a:tcPr>
                </a:tc>
                <a:tc>
                  <a:txBody>
                    <a:bodyPr/>
                    <a:lstStyle/>
                    <a:p>
                      <a:pPr indent="0" lvl="0" marL="0" rtl="0" algn="l">
                        <a:lnSpc>
                          <a:spcPct val="115000"/>
                        </a:lnSpc>
                        <a:spcBef>
                          <a:spcPts val="0"/>
                        </a:spcBef>
                        <a:spcAft>
                          <a:spcPts val="0"/>
                        </a:spcAft>
                        <a:buNone/>
                      </a:pPr>
                      <a:r>
                        <a:t/>
                      </a:r>
                      <a:endParaRPr sz="800"/>
                    </a:p>
                  </a:txBody>
                  <a:tcPr marT="25400" marB="25400" marR="25400" marL="25400" anchor="b">
                    <a:lnL cap="flat" cmpd="sng" w="9525">
                      <a:solidFill>
                        <a:srgbClr val="D9D9D9"/>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t/>
                      </a:r>
                      <a:endParaRPr sz="800"/>
                    </a:p>
                  </a:txBody>
                  <a:tcPr marT="25400" marB="25400" marR="25400" marL="25400"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r>
              <a:tr h="72700">
                <a:tc>
                  <a:txBody>
                    <a:bodyPr/>
                    <a:lstStyle/>
                    <a:p>
                      <a:pPr indent="0" lvl="0" marL="0" rtl="0" algn="ctr">
                        <a:lnSpc>
                          <a:spcPct val="115000"/>
                        </a:lnSpc>
                        <a:spcBef>
                          <a:spcPts val="0"/>
                        </a:spcBef>
                        <a:spcAft>
                          <a:spcPts val="0"/>
                        </a:spcAft>
                        <a:buNone/>
                      </a:pPr>
                      <a:r>
                        <a:t/>
                      </a:r>
                      <a:endParaRPr sz="8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2CC"/>
                    </a:solidFill>
                  </a:tcPr>
                </a:tc>
                <a:tc>
                  <a:txBody>
                    <a:bodyPr/>
                    <a:lstStyle/>
                    <a:p>
                      <a:pPr indent="0" lvl="0" marL="0" rtl="0" algn="l">
                        <a:lnSpc>
                          <a:spcPct val="115000"/>
                        </a:lnSpc>
                        <a:spcBef>
                          <a:spcPts val="0"/>
                        </a:spcBef>
                        <a:spcAft>
                          <a:spcPts val="0"/>
                        </a:spcAft>
                        <a:buNone/>
                      </a:pPr>
                      <a:r>
                        <a:rPr lang="en" sz="800"/>
                        <a:t>Test Accuracy of Calculations</a:t>
                      </a:r>
                      <a:endParaRPr sz="800"/>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en" sz="800"/>
                        <a:t>14 hrs</a:t>
                      </a:r>
                      <a:endParaRPr sz="800"/>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2CC"/>
                    </a:solidFill>
                  </a:tcPr>
                </a:tc>
                <a:tc>
                  <a:txBody>
                    <a:bodyPr/>
                    <a:lstStyle/>
                    <a:p>
                      <a:pPr indent="0" lvl="0" marL="0" rtl="0" algn="r">
                        <a:lnSpc>
                          <a:spcPct val="115000"/>
                        </a:lnSpc>
                        <a:spcBef>
                          <a:spcPts val="0"/>
                        </a:spcBef>
                        <a:spcAft>
                          <a:spcPts val="0"/>
                        </a:spcAft>
                        <a:buNone/>
                      </a:pPr>
                      <a:r>
                        <a:rPr lang="en" sz="800"/>
                        <a:t>Wed 4/7/21</a:t>
                      </a:r>
                      <a:endParaRPr sz="800"/>
                    </a:p>
                  </a:txBody>
                  <a:tcPr marT="25400" marB="25400" marR="25400" marL="25400" anchor="ctr">
                    <a:lnL cap="flat" cmpd="sng" w="9525">
                      <a:solidFill>
                        <a:srgbClr val="CCCCCC"/>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2CC"/>
                    </a:solidFill>
                  </a:tcPr>
                </a:tc>
                <a:tc>
                  <a:txBody>
                    <a:bodyPr/>
                    <a:lstStyle/>
                    <a:p>
                      <a:pPr indent="0" lvl="0" marL="0" rtl="0" algn="r">
                        <a:lnSpc>
                          <a:spcPct val="115000"/>
                        </a:lnSpc>
                        <a:spcBef>
                          <a:spcPts val="0"/>
                        </a:spcBef>
                        <a:spcAft>
                          <a:spcPts val="0"/>
                        </a:spcAft>
                        <a:buNone/>
                      </a:pPr>
                      <a:r>
                        <a:rPr lang="en" sz="800"/>
                        <a:t>Wed 4/14/21</a:t>
                      </a:r>
                      <a:endParaRPr sz="800"/>
                    </a:p>
                  </a:txBody>
                  <a:tcPr marT="25400" marB="25400" marR="25400" marL="2540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2CC"/>
                    </a:solidFill>
                  </a:tcPr>
                </a:tc>
                <a:tc>
                  <a:txBody>
                    <a:bodyPr/>
                    <a:lstStyle/>
                    <a:p>
                      <a:pPr indent="0" lvl="0" marL="0" rtl="0" algn="l">
                        <a:lnSpc>
                          <a:spcPct val="115000"/>
                        </a:lnSpc>
                        <a:spcBef>
                          <a:spcPts val="0"/>
                        </a:spcBef>
                        <a:spcAft>
                          <a:spcPts val="0"/>
                        </a:spcAft>
                        <a:buNone/>
                      </a:pPr>
                      <a:r>
                        <a:t/>
                      </a:r>
                      <a:endParaRPr sz="800"/>
                    </a:p>
                  </a:txBody>
                  <a:tcPr marT="25400" marB="25400" marR="25400" marL="25400" anchor="b">
                    <a:lnL cap="flat" cmpd="sng" w="9525">
                      <a:solidFill>
                        <a:srgbClr val="D9D9D9"/>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t/>
                      </a:r>
                      <a:endParaRPr sz="800"/>
                    </a:p>
                  </a:txBody>
                  <a:tcPr marT="25400" marB="25400" marR="25400" marL="25400"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r>
              <a:tr h="100000">
                <a:tc>
                  <a:txBody>
                    <a:bodyPr/>
                    <a:lstStyle/>
                    <a:p>
                      <a:pPr indent="0" lvl="0" marL="0" rtl="0" algn="ctr">
                        <a:lnSpc>
                          <a:spcPct val="115000"/>
                        </a:lnSpc>
                        <a:spcBef>
                          <a:spcPts val="0"/>
                        </a:spcBef>
                        <a:spcAft>
                          <a:spcPts val="0"/>
                        </a:spcAft>
                        <a:buNone/>
                      </a:pPr>
                      <a:r>
                        <a:t/>
                      </a:r>
                      <a:endParaRPr sz="8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CCC"/>
                    </a:solidFill>
                  </a:tcPr>
                </a:tc>
                <a:tc>
                  <a:txBody>
                    <a:bodyPr/>
                    <a:lstStyle/>
                    <a:p>
                      <a:pPr indent="0" lvl="0" marL="0" rtl="0" algn="l">
                        <a:lnSpc>
                          <a:spcPct val="115000"/>
                        </a:lnSpc>
                        <a:spcBef>
                          <a:spcPts val="0"/>
                        </a:spcBef>
                        <a:spcAft>
                          <a:spcPts val="0"/>
                        </a:spcAft>
                        <a:buNone/>
                      </a:pPr>
                      <a:r>
                        <a:rPr lang="en" sz="800"/>
                        <a:t>Weatherproof</a:t>
                      </a:r>
                      <a:endParaRPr sz="800"/>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CCC"/>
                    </a:solidFill>
                  </a:tcPr>
                </a:tc>
                <a:tc>
                  <a:txBody>
                    <a:bodyPr/>
                    <a:lstStyle/>
                    <a:p>
                      <a:pPr indent="0" lvl="0" marL="0" rtl="0" algn="ctr">
                        <a:lnSpc>
                          <a:spcPct val="115000"/>
                        </a:lnSpc>
                        <a:spcBef>
                          <a:spcPts val="0"/>
                        </a:spcBef>
                        <a:spcAft>
                          <a:spcPts val="0"/>
                        </a:spcAft>
                        <a:buNone/>
                      </a:pPr>
                      <a:r>
                        <a:rPr lang="en" sz="800"/>
                        <a:t>3 hrs</a:t>
                      </a:r>
                      <a:endParaRPr sz="800"/>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CCC"/>
                    </a:solidFill>
                  </a:tcPr>
                </a:tc>
                <a:tc>
                  <a:txBody>
                    <a:bodyPr/>
                    <a:lstStyle/>
                    <a:p>
                      <a:pPr indent="0" lvl="0" marL="0" rtl="0" algn="r">
                        <a:lnSpc>
                          <a:spcPct val="115000"/>
                        </a:lnSpc>
                        <a:spcBef>
                          <a:spcPts val="0"/>
                        </a:spcBef>
                        <a:spcAft>
                          <a:spcPts val="0"/>
                        </a:spcAft>
                        <a:buNone/>
                      </a:pPr>
                      <a:r>
                        <a:rPr lang="en" sz="800"/>
                        <a:t>Wed 4/14/21</a:t>
                      </a:r>
                      <a:endParaRPr sz="800"/>
                    </a:p>
                  </a:txBody>
                  <a:tcPr marT="25400" marB="25400" marR="25400" marL="25400" anchor="ctr">
                    <a:lnL cap="flat" cmpd="sng" w="9525">
                      <a:solidFill>
                        <a:srgbClr val="CCCCCC"/>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CCC"/>
                    </a:solidFill>
                  </a:tcPr>
                </a:tc>
                <a:tc>
                  <a:txBody>
                    <a:bodyPr/>
                    <a:lstStyle/>
                    <a:p>
                      <a:pPr indent="0" lvl="0" marL="0" rtl="0" algn="r">
                        <a:lnSpc>
                          <a:spcPct val="115000"/>
                        </a:lnSpc>
                        <a:spcBef>
                          <a:spcPts val="0"/>
                        </a:spcBef>
                        <a:spcAft>
                          <a:spcPts val="0"/>
                        </a:spcAft>
                        <a:buNone/>
                      </a:pPr>
                      <a:r>
                        <a:rPr lang="en" sz="800"/>
                        <a:t>Wed 4/14/21</a:t>
                      </a:r>
                      <a:endParaRPr sz="800"/>
                    </a:p>
                  </a:txBody>
                  <a:tcPr marT="25400" marB="25400" marR="25400" marL="2540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4CCCC"/>
                    </a:solidFill>
                  </a:tcPr>
                </a:tc>
                <a:tc>
                  <a:txBody>
                    <a:bodyPr/>
                    <a:lstStyle/>
                    <a:p>
                      <a:pPr indent="0" lvl="0" marL="0" rtl="0" algn="l">
                        <a:lnSpc>
                          <a:spcPct val="115000"/>
                        </a:lnSpc>
                        <a:spcBef>
                          <a:spcPts val="0"/>
                        </a:spcBef>
                        <a:spcAft>
                          <a:spcPts val="0"/>
                        </a:spcAft>
                        <a:buNone/>
                      </a:pPr>
                      <a:r>
                        <a:t/>
                      </a:r>
                      <a:endParaRPr sz="800"/>
                    </a:p>
                  </a:txBody>
                  <a:tcPr marT="25400" marB="25400" marR="25400" marL="25400" anchor="b">
                    <a:lnL cap="flat" cmpd="sng" w="9525">
                      <a:solidFill>
                        <a:srgbClr val="D9D9D9"/>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t/>
                      </a:r>
                      <a:endParaRPr sz="800"/>
                    </a:p>
                  </a:txBody>
                  <a:tcPr marT="25400" marB="25400" marR="25400" marL="25400"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r>
              <a:tr h="100000">
                <a:tc>
                  <a:txBody>
                    <a:bodyPr/>
                    <a:lstStyle/>
                    <a:p>
                      <a:pPr indent="0" lvl="0" marL="0" rtl="0" algn="ctr">
                        <a:lnSpc>
                          <a:spcPct val="115000"/>
                        </a:lnSpc>
                        <a:spcBef>
                          <a:spcPts val="0"/>
                        </a:spcBef>
                        <a:spcAft>
                          <a:spcPts val="0"/>
                        </a:spcAft>
                        <a:buNone/>
                      </a:pPr>
                      <a:r>
                        <a:t/>
                      </a:r>
                      <a:endParaRPr sz="8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CCC"/>
                    </a:solidFill>
                  </a:tcPr>
                </a:tc>
                <a:tc>
                  <a:txBody>
                    <a:bodyPr/>
                    <a:lstStyle/>
                    <a:p>
                      <a:pPr indent="0" lvl="0" marL="0" rtl="0" algn="l">
                        <a:lnSpc>
                          <a:spcPct val="115000"/>
                        </a:lnSpc>
                        <a:spcBef>
                          <a:spcPts val="0"/>
                        </a:spcBef>
                        <a:spcAft>
                          <a:spcPts val="0"/>
                        </a:spcAft>
                        <a:buNone/>
                      </a:pPr>
                      <a:r>
                        <a:rPr lang="en" sz="800"/>
                        <a:t>Test Durability</a:t>
                      </a:r>
                      <a:endParaRPr sz="800"/>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CCC"/>
                    </a:solidFill>
                  </a:tcPr>
                </a:tc>
                <a:tc>
                  <a:txBody>
                    <a:bodyPr/>
                    <a:lstStyle/>
                    <a:p>
                      <a:pPr indent="0" lvl="0" marL="0" rtl="0" algn="ctr">
                        <a:lnSpc>
                          <a:spcPct val="115000"/>
                        </a:lnSpc>
                        <a:spcBef>
                          <a:spcPts val="0"/>
                        </a:spcBef>
                        <a:spcAft>
                          <a:spcPts val="0"/>
                        </a:spcAft>
                        <a:buNone/>
                      </a:pPr>
                      <a:r>
                        <a:rPr lang="en" sz="800"/>
                        <a:t>6 hrs</a:t>
                      </a:r>
                      <a:endParaRPr sz="800"/>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CCC"/>
                    </a:solidFill>
                  </a:tcPr>
                </a:tc>
                <a:tc>
                  <a:txBody>
                    <a:bodyPr/>
                    <a:lstStyle/>
                    <a:p>
                      <a:pPr indent="0" lvl="0" marL="0" rtl="0" algn="r">
                        <a:lnSpc>
                          <a:spcPct val="115000"/>
                        </a:lnSpc>
                        <a:spcBef>
                          <a:spcPts val="0"/>
                        </a:spcBef>
                        <a:spcAft>
                          <a:spcPts val="0"/>
                        </a:spcAft>
                        <a:buNone/>
                      </a:pPr>
                      <a:r>
                        <a:rPr lang="en" sz="800"/>
                        <a:t>Fri 4/16/21</a:t>
                      </a:r>
                      <a:endParaRPr sz="800"/>
                    </a:p>
                  </a:txBody>
                  <a:tcPr marT="25400" marB="25400" marR="25400" marL="25400" anchor="ctr">
                    <a:lnL cap="flat" cmpd="sng" w="9525">
                      <a:solidFill>
                        <a:srgbClr val="CCCCCC"/>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CCC"/>
                    </a:solidFill>
                  </a:tcPr>
                </a:tc>
                <a:tc>
                  <a:txBody>
                    <a:bodyPr/>
                    <a:lstStyle/>
                    <a:p>
                      <a:pPr indent="0" lvl="0" marL="0" rtl="0" algn="r">
                        <a:lnSpc>
                          <a:spcPct val="115000"/>
                        </a:lnSpc>
                        <a:spcBef>
                          <a:spcPts val="0"/>
                        </a:spcBef>
                        <a:spcAft>
                          <a:spcPts val="0"/>
                        </a:spcAft>
                        <a:buNone/>
                      </a:pPr>
                      <a:r>
                        <a:rPr lang="en" sz="800"/>
                        <a:t>Sat 4/17/21</a:t>
                      </a:r>
                      <a:endParaRPr sz="800"/>
                    </a:p>
                  </a:txBody>
                  <a:tcPr marT="25400" marB="25400" marR="25400" marL="2540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4CCCC"/>
                    </a:solidFill>
                  </a:tcPr>
                </a:tc>
                <a:tc>
                  <a:txBody>
                    <a:bodyPr/>
                    <a:lstStyle/>
                    <a:p>
                      <a:pPr indent="0" lvl="0" marL="0" rtl="0" algn="l">
                        <a:lnSpc>
                          <a:spcPct val="115000"/>
                        </a:lnSpc>
                        <a:spcBef>
                          <a:spcPts val="0"/>
                        </a:spcBef>
                        <a:spcAft>
                          <a:spcPts val="0"/>
                        </a:spcAft>
                        <a:buNone/>
                      </a:pPr>
                      <a:r>
                        <a:t/>
                      </a:r>
                      <a:endParaRPr sz="800"/>
                    </a:p>
                  </a:txBody>
                  <a:tcPr marT="25400" marB="25400" marR="25400" marL="25400" anchor="b">
                    <a:lnL cap="flat" cmpd="sng" w="9525">
                      <a:solidFill>
                        <a:srgbClr val="D9D9D9"/>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t/>
                      </a:r>
                      <a:endParaRPr sz="800"/>
                    </a:p>
                  </a:txBody>
                  <a:tcPr marT="25400" marB="25400" marR="25400" marL="25400"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r>
              <a:tr h="200025">
                <a:tc>
                  <a:txBody>
                    <a:bodyPr/>
                    <a:lstStyle/>
                    <a:p>
                      <a:pPr indent="0" lvl="0" marL="0" rtl="0" algn="ctr">
                        <a:lnSpc>
                          <a:spcPct val="115000"/>
                        </a:lnSpc>
                        <a:spcBef>
                          <a:spcPts val="0"/>
                        </a:spcBef>
                        <a:spcAft>
                          <a:spcPts val="0"/>
                        </a:spcAft>
                        <a:buNone/>
                      </a:pPr>
                      <a:r>
                        <a:t/>
                      </a:r>
                      <a:endParaRPr sz="8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9EAD3"/>
                    </a:solidFill>
                  </a:tcPr>
                </a:tc>
                <a:tc>
                  <a:txBody>
                    <a:bodyPr/>
                    <a:lstStyle/>
                    <a:p>
                      <a:pPr indent="0" lvl="0" marL="0" rtl="0" algn="l">
                        <a:lnSpc>
                          <a:spcPct val="115000"/>
                        </a:lnSpc>
                        <a:spcBef>
                          <a:spcPts val="0"/>
                        </a:spcBef>
                        <a:spcAft>
                          <a:spcPts val="0"/>
                        </a:spcAft>
                        <a:buNone/>
                      </a:pPr>
                      <a:r>
                        <a:rPr lang="en" sz="800"/>
                        <a:t>Research Data Collection</a:t>
                      </a:r>
                      <a:endParaRPr sz="800"/>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9EAD3"/>
                    </a:solidFill>
                  </a:tcPr>
                </a:tc>
                <a:tc>
                  <a:txBody>
                    <a:bodyPr/>
                    <a:lstStyle/>
                    <a:p>
                      <a:pPr indent="0" lvl="0" marL="0" rtl="0" algn="ctr">
                        <a:lnSpc>
                          <a:spcPct val="115000"/>
                        </a:lnSpc>
                        <a:spcBef>
                          <a:spcPts val="0"/>
                        </a:spcBef>
                        <a:spcAft>
                          <a:spcPts val="0"/>
                        </a:spcAft>
                        <a:buNone/>
                      </a:pPr>
                      <a:r>
                        <a:rPr lang="en" sz="800"/>
                        <a:t>8 hrs</a:t>
                      </a:r>
                      <a:endParaRPr sz="800"/>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9EAD3"/>
                    </a:solidFill>
                  </a:tcPr>
                </a:tc>
                <a:tc>
                  <a:txBody>
                    <a:bodyPr/>
                    <a:lstStyle/>
                    <a:p>
                      <a:pPr indent="0" lvl="0" marL="0" rtl="0" algn="r">
                        <a:lnSpc>
                          <a:spcPct val="115000"/>
                        </a:lnSpc>
                        <a:spcBef>
                          <a:spcPts val="0"/>
                        </a:spcBef>
                        <a:spcAft>
                          <a:spcPts val="0"/>
                        </a:spcAft>
                        <a:buNone/>
                      </a:pPr>
                      <a:r>
                        <a:rPr lang="en" sz="800"/>
                        <a:t>Wed 3/17/21</a:t>
                      </a:r>
                      <a:endParaRPr sz="800"/>
                    </a:p>
                  </a:txBody>
                  <a:tcPr marT="25400" marB="25400" marR="25400" marL="25400" anchor="ctr">
                    <a:lnL cap="flat" cmpd="sng" w="9525">
                      <a:solidFill>
                        <a:srgbClr val="CCCCCC"/>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9EAD3"/>
                    </a:solidFill>
                  </a:tcPr>
                </a:tc>
                <a:tc>
                  <a:txBody>
                    <a:bodyPr/>
                    <a:lstStyle/>
                    <a:p>
                      <a:pPr indent="0" lvl="0" marL="0" rtl="0" algn="r">
                        <a:lnSpc>
                          <a:spcPct val="115000"/>
                        </a:lnSpc>
                        <a:spcBef>
                          <a:spcPts val="0"/>
                        </a:spcBef>
                        <a:spcAft>
                          <a:spcPts val="0"/>
                        </a:spcAft>
                        <a:buNone/>
                      </a:pPr>
                      <a:r>
                        <a:rPr lang="en" sz="800"/>
                        <a:t>Sat 3/20/21</a:t>
                      </a:r>
                      <a:endParaRPr sz="800"/>
                    </a:p>
                  </a:txBody>
                  <a:tcPr marT="25400" marB="25400" marR="25400" marL="2540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D9EAD3"/>
                    </a:solidFill>
                  </a:tcPr>
                </a:tc>
                <a:tc>
                  <a:txBody>
                    <a:bodyPr/>
                    <a:lstStyle/>
                    <a:p>
                      <a:pPr indent="0" lvl="0" marL="0" rtl="0" algn="l">
                        <a:lnSpc>
                          <a:spcPct val="115000"/>
                        </a:lnSpc>
                        <a:spcBef>
                          <a:spcPts val="0"/>
                        </a:spcBef>
                        <a:spcAft>
                          <a:spcPts val="0"/>
                        </a:spcAft>
                        <a:buNone/>
                      </a:pPr>
                      <a:r>
                        <a:t/>
                      </a:r>
                      <a:endParaRPr sz="800"/>
                    </a:p>
                  </a:txBody>
                  <a:tcPr marT="25400" marB="25400" marR="25400" marL="25400" anchor="b">
                    <a:lnL cap="flat" cmpd="sng" w="9525">
                      <a:solidFill>
                        <a:srgbClr val="D9D9D9"/>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t/>
                      </a:r>
                      <a:endParaRPr sz="800"/>
                    </a:p>
                  </a:txBody>
                  <a:tcPr marT="25400" marB="25400" marR="25400" marL="25400"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r>
              <a:tr h="200025">
                <a:tc>
                  <a:txBody>
                    <a:bodyPr/>
                    <a:lstStyle/>
                    <a:p>
                      <a:pPr indent="0" lvl="0" marL="0" rtl="0" algn="ctr">
                        <a:lnSpc>
                          <a:spcPct val="115000"/>
                        </a:lnSpc>
                        <a:spcBef>
                          <a:spcPts val="0"/>
                        </a:spcBef>
                        <a:spcAft>
                          <a:spcPts val="0"/>
                        </a:spcAft>
                        <a:buNone/>
                      </a:pPr>
                      <a:r>
                        <a:t/>
                      </a:r>
                      <a:endParaRPr sz="8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9EAD3"/>
                    </a:solidFill>
                  </a:tcPr>
                </a:tc>
                <a:tc>
                  <a:txBody>
                    <a:bodyPr/>
                    <a:lstStyle/>
                    <a:p>
                      <a:pPr indent="0" lvl="0" marL="0" rtl="0" algn="l">
                        <a:lnSpc>
                          <a:spcPct val="115000"/>
                        </a:lnSpc>
                        <a:spcBef>
                          <a:spcPts val="0"/>
                        </a:spcBef>
                        <a:spcAft>
                          <a:spcPts val="0"/>
                        </a:spcAft>
                        <a:buNone/>
                      </a:pPr>
                      <a:r>
                        <a:rPr lang="en" sz="800"/>
                        <a:t>Research Data Analysis</a:t>
                      </a:r>
                      <a:endParaRPr sz="800"/>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9EAD3"/>
                    </a:solidFill>
                  </a:tcPr>
                </a:tc>
                <a:tc>
                  <a:txBody>
                    <a:bodyPr/>
                    <a:lstStyle/>
                    <a:p>
                      <a:pPr indent="0" lvl="0" marL="0" rtl="0" algn="ctr">
                        <a:lnSpc>
                          <a:spcPct val="115000"/>
                        </a:lnSpc>
                        <a:spcBef>
                          <a:spcPts val="0"/>
                        </a:spcBef>
                        <a:spcAft>
                          <a:spcPts val="0"/>
                        </a:spcAft>
                        <a:buNone/>
                      </a:pPr>
                      <a:r>
                        <a:rPr lang="en" sz="800"/>
                        <a:t>6 hrs</a:t>
                      </a:r>
                      <a:endParaRPr sz="800"/>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9EAD3"/>
                    </a:solidFill>
                  </a:tcPr>
                </a:tc>
                <a:tc>
                  <a:txBody>
                    <a:bodyPr/>
                    <a:lstStyle/>
                    <a:p>
                      <a:pPr indent="0" lvl="0" marL="0" rtl="0" algn="r">
                        <a:lnSpc>
                          <a:spcPct val="115000"/>
                        </a:lnSpc>
                        <a:spcBef>
                          <a:spcPts val="0"/>
                        </a:spcBef>
                        <a:spcAft>
                          <a:spcPts val="0"/>
                        </a:spcAft>
                        <a:buNone/>
                      </a:pPr>
                      <a:r>
                        <a:rPr lang="en" sz="800"/>
                        <a:t>Wed 3/17/21</a:t>
                      </a:r>
                      <a:endParaRPr sz="800"/>
                    </a:p>
                  </a:txBody>
                  <a:tcPr marT="25400" marB="25400" marR="25400" marL="25400" anchor="ctr">
                    <a:lnL cap="flat" cmpd="sng" w="9525">
                      <a:solidFill>
                        <a:srgbClr val="CCCCCC"/>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9EAD3"/>
                    </a:solidFill>
                  </a:tcPr>
                </a:tc>
                <a:tc>
                  <a:txBody>
                    <a:bodyPr/>
                    <a:lstStyle/>
                    <a:p>
                      <a:pPr indent="0" lvl="0" marL="0" rtl="0" algn="r">
                        <a:lnSpc>
                          <a:spcPct val="115000"/>
                        </a:lnSpc>
                        <a:spcBef>
                          <a:spcPts val="0"/>
                        </a:spcBef>
                        <a:spcAft>
                          <a:spcPts val="0"/>
                        </a:spcAft>
                        <a:buNone/>
                      </a:pPr>
                      <a:r>
                        <a:rPr lang="en" sz="800"/>
                        <a:t>Fri 3/19/21</a:t>
                      </a:r>
                      <a:endParaRPr sz="800"/>
                    </a:p>
                  </a:txBody>
                  <a:tcPr marT="25400" marB="25400" marR="25400" marL="2540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D9EAD3"/>
                    </a:solidFill>
                  </a:tcPr>
                </a:tc>
                <a:tc>
                  <a:txBody>
                    <a:bodyPr/>
                    <a:lstStyle/>
                    <a:p>
                      <a:pPr indent="0" lvl="0" marL="0" rtl="0" algn="l">
                        <a:lnSpc>
                          <a:spcPct val="115000"/>
                        </a:lnSpc>
                        <a:spcBef>
                          <a:spcPts val="0"/>
                        </a:spcBef>
                        <a:spcAft>
                          <a:spcPts val="0"/>
                        </a:spcAft>
                        <a:buNone/>
                      </a:pPr>
                      <a:r>
                        <a:t/>
                      </a:r>
                      <a:endParaRPr sz="800"/>
                    </a:p>
                  </a:txBody>
                  <a:tcPr marT="25400" marB="25400" marR="25400" marL="25400" anchor="b">
                    <a:lnL cap="flat" cmpd="sng" w="9525">
                      <a:solidFill>
                        <a:srgbClr val="D9D9D9"/>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t/>
                      </a:r>
                      <a:endParaRPr sz="800"/>
                    </a:p>
                  </a:txBody>
                  <a:tcPr marT="25400" marB="25400" marR="25400" marL="25400"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r>
              <a:tr h="95250">
                <a:tc>
                  <a:txBody>
                    <a:bodyPr/>
                    <a:lstStyle/>
                    <a:p>
                      <a:pPr indent="0" lvl="0" marL="0" rtl="0" algn="ctr">
                        <a:lnSpc>
                          <a:spcPct val="115000"/>
                        </a:lnSpc>
                        <a:spcBef>
                          <a:spcPts val="0"/>
                        </a:spcBef>
                        <a:spcAft>
                          <a:spcPts val="0"/>
                        </a:spcAft>
                        <a:buNone/>
                      </a:pPr>
                      <a:r>
                        <a:rPr lang="en" sz="800"/>
                        <a:t>•</a:t>
                      </a:r>
                      <a:endParaRPr sz="8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9EAD3"/>
                    </a:solidFill>
                  </a:tcPr>
                </a:tc>
                <a:tc>
                  <a:txBody>
                    <a:bodyPr/>
                    <a:lstStyle/>
                    <a:p>
                      <a:pPr indent="0" lvl="0" marL="0" rtl="0" algn="l">
                        <a:lnSpc>
                          <a:spcPct val="115000"/>
                        </a:lnSpc>
                        <a:spcBef>
                          <a:spcPts val="0"/>
                        </a:spcBef>
                        <a:spcAft>
                          <a:spcPts val="0"/>
                        </a:spcAft>
                        <a:buNone/>
                      </a:pPr>
                      <a:r>
                        <a:rPr lang="en" sz="800"/>
                        <a:t>Research Mobile Development</a:t>
                      </a:r>
                      <a:endParaRPr sz="800"/>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9EAD3"/>
                    </a:solidFill>
                  </a:tcPr>
                </a:tc>
                <a:tc>
                  <a:txBody>
                    <a:bodyPr/>
                    <a:lstStyle/>
                    <a:p>
                      <a:pPr indent="0" lvl="0" marL="0" rtl="0" algn="ctr">
                        <a:lnSpc>
                          <a:spcPct val="115000"/>
                        </a:lnSpc>
                        <a:spcBef>
                          <a:spcPts val="0"/>
                        </a:spcBef>
                        <a:spcAft>
                          <a:spcPts val="0"/>
                        </a:spcAft>
                        <a:buNone/>
                      </a:pPr>
                      <a:r>
                        <a:rPr lang="en" sz="800"/>
                        <a:t>10 hrs</a:t>
                      </a:r>
                      <a:endParaRPr sz="800"/>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9EAD3"/>
                    </a:solidFill>
                  </a:tcPr>
                </a:tc>
                <a:tc>
                  <a:txBody>
                    <a:bodyPr/>
                    <a:lstStyle/>
                    <a:p>
                      <a:pPr indent="0" lvl="0" marL="0" rtl="0" algn="r">
                        <a:lnSpc>
                          <a:spcPct val="115000"/>
                        </a:lnSpc>
                        <a:spcBef>
                          <a:spcPts val="0"/>
                        </a:spcBef>
                        <a:spcAft>
                          <a:spcPts val="0"/>
                        </a:spcAft>
                        <a:buNone/>
                      </a:pPr>
                      <a:r>
                        <a:rPr lang="en" sz="800"/>
                        <a:t>Wed 1/13/21</a:t>
                      </a:r>
                      <a:endParaRPr sz="800"/>
                    </a:p>
                  </a:txBody>
                  <a:tcPr marT="25400" marB="25400" marR="25400" marL="25400" anchor="ctr">
                    <a:lnL cap="flat" cmpd="sng" w="9525">
                      <a:solidFill>
                        <a:srgbClr val="CCCCCC"/>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9EAD3"/>
                    </a:solidFill>
                  </a:tcPr>
                </a:tc>
                <a:tc>
                  <a:txBody>
                    <a:bodyPr/>
                    <a:lstStyle/>
                    <a:p>
                      <a:pPr indent="0" lvl="0" marL="0" rtl="0" algn="r">
                        <a:lnSpc>
                          <a:spcPct val="115000"/>
                        </a:lnSpc>
                        <a:spcBef>
                          <a:spcPts val="0"/>
                        </a:spcBef>
                        <a:spcAft>
                          <a:spcPts val="0"/>
                        </a:spcAft>
                        <a:buNone/>
                      </a:pPr>
                      <a:r>
                        <a:rPr lang="en" sz="800"/>
                        <a:t>Wed 1/20/21</a:t>
                      </a:r>
                      <a:endParaRPr sz="800"/>
                    </a:p>
                  </a:txBody>
                  <a:tcPr marT="25400" marB="25400" marR="25400" marL="2540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D9EAD3"/>
                    </a:solidFill>
                  </a:tcPr>
                </a:tc>
                <a:tc>
                  <a:txBody>
                    <a:bodyPr/>
                    <a:lstStyle/>
                    <a:p>
                      <a:pPr indent="0" lvl="0" marL="0" rtl="0" algn="l">
                        <a:lnSpc>
                          <a:spcPct val="115000"/>
                        </a:lnSpc>
                        <a:spcBef>
                          <a:spcPts val="0"/>
                        </a:spcBef>
                        <a:spcAft>
                          <a:spcPts val="0"/>
                        </a:spcAft>
                        <a:buNone/>
                      </a:pPr>
                      <a:r>
                        <a:t/>
                      </a:r>
                      <a:endParaRPr sz="800"/>
                    </a:p>
                  </a:txBody>
                  <a:tcPr marT="25400" marB="25400" marR="25400" marL="25400" anchor="b">
                    <a:lnL cap="flat" cmpd="sng" w="9525">
                      <a:solidFill>
                        <a:srgbClr val="D9D9D9"/>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t/>
                      </a:r>
                      <a:endParaRPr sz="800"/>
                    </a:p>
                  </a:txBody>
                  <a:tcPr marT="25400" marB="25400" marR="25400" marL="25400"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r>
              <a:tr h="100000">
                <a:tc>
                  <a:txBody>
                    <a:bodyPr/>
                    <a:lstStyle/>
                    <a:p>
                      <a:pPr indent="0" lvl="0" marL="0" rtl="0" algn="ctr">
                        <a:lnSpc>
                          <a:spcPct val="115000"/>
                        </a:lnSpc>
                        <a:spcBef>
                          <a:spcPts val="0"/>
                        </a:spcBef>
                        <a:spcAft>
                          <a:spcPts val="0"/>
                        </a:spcAft>
                        <a:buNone/>
                      </a:pPr>
                      <a:r>
                        <a:rPr lang="en" sz="800"/>
                        <a:t>•</a:t>
                      </a:r>
                      <a:endParaRPr sz="8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2CC"/>
                    </a:solidFill>
                  </a:tcPr>
                </a:tc>
                <a:tc>
                  <a:txBody>
                    <a:bodyPr/>
                    <a:lstStyle/>
                    <a:p>
                      <a:pPr indent="0" lvl="0" marL="0" rtl="0" algn="l">
                        <a:lnSpc>
                          <a:spcPct val="115000"/>
                        </a:lnSpc>
                        <a:spcBef>
                          <a:spcPts val="0"/>
                        </a:spcBef>
                        <a:spcAft>
                          <a:spcPts val="0"/>
                        </a:spcAft>
                        <a:buNone/>
                      </a:pPr>
                      <a:r>
                        <a:rPr lang="en" sz="800"/>
                        <a:t>Code Mobile Application</a:t>
                      </a:r>
                      <a:endParaRPr sz="800"/>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en" sz="800"/>
                        <a:t>78 hrs</a:t>
                      </a:r>
                      <a:endParaRPr sz="800"/>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2CC"/>
                    </a:solidFill>
                  </a:tcPr>
                </a:tc>
                <a:tc>
                  <a:txBody>
                    <a:bodyPr/>
                    <a:lstStyle/>
                    <a:p>
                      <a:pPr indent="0" lvl="0" marL="0" rtl="0" algn="r">
                        <a:lnSpc>
                          <a:spcPct val="115000"/>
                        </a:lnSpc>
                        <a:spcBef>
                          <a:spcPts val="0"/>
                        </a:spcBef>
                        <a:spcAft>
                          <a:spcPts val="0"/>
                        </a:spcAft>
                        <a:buNone/>
                      </a:pPr>
                      <a:r>
                        <a:rPr lang="en" sz="800"/>
                        <a:t>Fri 2/19/21</a:t>
                      </a:r>
                      <a:endParaRPr sz="800"/>
                    </a:p>
                  </a:txBody>
                  <a:tcPr marT="25400" marB="25400" marR="25400" marL="25400" anchor="ctr">
                    <a:lnL cap="flat" cmpd="sng" w="9525">
                      <a:solidFill>
                        <a:srgbClr val="CCCCCC"/>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2CC"/>
                    </a:solidFill>
                  </a:tcPr>
                </a:tc>
                <a:tc>
                  <a:txBody>
                    <a:bodyPr/>
                    <a:lstStyle/>
                    <a:p>
                      <a:pPr indent="0" lvl="0" marL="0" rtl="0" algn="r">
                        <a:lnSpc>
                          <a:spcPct val="115000"/>
                        </a:lnSpc>
                        <a:spcBef>
                          <a:spcPts val="0"/>
                        </a:spcBef>
                        <a:spcAft>
                          <a:spcPts val="0"/>
                        </a:spcAft>
                        <a:buNone/>
                      </a:pPr>
                      <a:r>
                        <a:rPr lang="en" sz="800"/>
                        <a:t>Sat 4/3/21</a:t>
                      </a:r>
                      <a:endParaRPr sz="800"/>
                    </a:p>
                  </a:txBody>
                  <a:tcPr marT="25400" marB="25400" marR="25400" marL="2540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2CC"/>
                    </a:solidFill>
                  </a:tcPr>
                </a:tc>
                <a:tc>
                  <a:txBody>
                    <a:bodyPr/>
                    <a:lstStyle/>
                    <a:p>
                      <a:pPr indent="0" lvl="0" marL="0" rtl="0" algn="l">
                        <a:lnSpc>
                          <a:spcPct val="115000"/>
                        </a:lnSpc>
                        <a:spcBef>
                          <a:spcPts val="0"/>
                        </a:spcBef>
                        <a:spcAft>
                          <a:spcPts val="0"/>
                        </a:spcAft>
                        <a:buNone/>
                      </a:pPr>
                      <a:r>
                        <a:t/>
                      </a:r>
                      <a:endParaRPr sz="800"/>
                    </a:p>
                  </a:txBody>
                  <a:tcPr marT="25400" marB="25400" marR="25400" marL="25400" anchor="b">
                    <a:lnL cap="flat" cmpd="sng" w="9525">
                      <a:solidFill>
                        <a:srgbClr val="D9D9D9"/>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t/>
                      </a:r>
                      <a:endParaRPr sz="800"/>
                    </a:p>
                  </a:txBody>
                  <a:tcPr marT="25400" marB="25400" marR="25400" marL="25400"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r>
              <a:tr h="100000">
                <a:tc>
                  <a:txBody>
                    <a:bodyPr/>
                    <a:lstStyle/>
                    <a:p>
                      <a:pPr indent="0" lvl="0" marL="0" rtl="0" algn="ctr">
                        <a:lnSpc>
                          <a:spcPct val="115000"/>
                        </a:lnSpc>
                        <a:spcBef>
                          <a:spcPts val="0"/>
                        </a:spcBef>
                        <a:spcAft>
                          <a:spcPts val="0"/>
                        </a:spcAft>
                        <a:buNone/>
                      </a:pPr>
                      <a:r>
                        <a:rPr lang="en" sz="800"/>
                        <a:t>•</a:t>
                      </a:r>
                      <a:endParaRPr sz="8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CCC"/>
                    </a:solidFill>
                  </a:tcPr>
                </a:tc>
                <a:tc>
                  <a:txBody>
                    <a:bodyPr/>
                    <a:lstStyle/>
                    <a:p>
                      <a:pPr indent="0" lvl="0" marL="0" rtl="0" algn="l">
                        <a:lnSpc>
                          <a:spcPct val="115000"/>
                        </a:lnSpc>
                        <a:spcBef>
                          <a:spcPts val="0"/>
                        </a:spcBef>
                        <a:spcAft>
                          <a:spcPts val="0"/>
                        </a:spcAft>
                        <a:buNone/>
                      </a:pPr>
                      <a:r>
                        <a:rPr lang="en" sz="800"/>
                        <a:t>Debugging</a:t>
                      </a:r>
                      <a:endParaRPr sz="800"/>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CCC"/>
                    </a:solidFill>
                  </a:tcPr>
                </a:tc>
                <a:tc>
                  <a:txBody>
                    <a:bodyPr/>
                    <a:lstStyle/>
                    <a:p>
                      <a:pPr indent="0" lvl="0" marL="0" rtl="0" algn="ctr">
                        <a:lnSpc>
                          <a:spcPct val="115000"/>
                        </a:lnSpc>
                        <a:spcBef>
                          <a:spcPts val="0"/>
                        </a:spcBef>
                        <a:spcAft>
                          <a:spcPts val="0"/>
                        </a:spcAft>
                        <a:buNone/>
                      </a:pPr>
                      <a:r>
                        <a:rPr lang="en" sz="800"/>
                        <a:t>27 hrs</a:t>
                      </a:r>
                      <a:endParaRPr sz="800"/>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CCC"/>
                    </a:solidFill>
                  </a:tcPr>
                </a:tc>
                <a:tc>
                  <a:txBody>
                    <a:bodyPr/>
                    <a:lstStyle/>
                    <a:p>
                      <a:pPr indent="0" lvl="0" marL="0" rtl="0" algn="r">
                        <a:lnSpc>
                          <a:spcPct val="115000"/>
                        </a:lnSpc>
                        <a:spcBef>
                          <a:spcPts val="0"/>
                        </a:spcBef>
                        <a:spcAft>
                          <a:spcPts val="0"/>
                        </a:spcAft>
                        <a:buNone/>
                      </a:pPr>
                      <a:r>
                        <a:rPr lang="en" sz="800"/>
                        <a:t>Mon 4/5/21</a:t>
                      </a:r>
                      <a:endParaRPr sz="800"/>
                    </a:p>
                  </a:txBody>
                  <a:tcPr marT="25400" marB="25400" marR="25400" marL="25400" anchor="ctr">
                    <a:lnL cap="flat" cmpd="sng" w="9525">
                      <a:solidFill>
                        <a:srgbClr val="CCCCCC"/>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CCC"/>
                    </a:solidFill>
                  </a:tcPr>
                </a:tc>
                <a:tc>
                  <a:txBody>
                    <a:bodyPr/>
                    <a:lstStyle/>
                    <a:p>
                      <a:pPr indent="0" lvl="0" marL="0" rtl="0" algn="r">
                        <a:lnSpc>
                          <a:spcPct val="115000"/>
                        </a:lnSpc>
                        <a:spcBef>
                          <a:spcPts val="0"/>
                        </a:spcBef>
                        <a:spcAft>
                          <a:spcPts val="0"/>
                        </a:spcAft>
                        <a:buNone/>
                      </a:pPr>
                      <a:r>
                        <a:rPr lang="en" sz="800"/>
                        <a:t>Mon 4/19/21</a:t>
                      </a:r>
                      <a:endParaRPr sz="800"/>
                    </a:p>
                  </a:txBody>
                  <a:tcPr marT="25400" marB="25400" marR="25400" marL="2540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4CCCC"/>
                    </a:solidFill>
                  </a:tcPr>
                </a:tc>
                <a:tc>
                  <a:txBody>
                    <a:bodyPr/>
                    <a:lstStyle/>
                    <a:p>
                      <a:pPr indent="0" lvl="0" marL="0" rtl="0" algn="l">
                        <a:lnSpc>
                          <a:spcPct val="115000"/>
                        </a:lnSpc>
                        <a:spcBef>
                          <a:spcPts val="0"/>
                        </a:spcBef>
                        <a:spcAft>
                          <a:spcPts val="0"/>
                        </a:spcAft>
                        <a:buNone/>
                      </a:pPr>
                      <a:r>
                        <a:t/>
                      </a:r>
                      <a:endParaRPr sz="800"/>
                    </a:p>
                  </a:txBody>
                  <a:tcPr marT="25400" marB="25400" marR="25400" marL="25400" anchor="b">
                    <a:lnL cap="flat" cmpd="sng" w="9525">
                      <a:solidFill>
                        <a:srgbClr val="D9D9D9"/>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t/>
                      </a:r>
                      <a:endParaRPr sz="800"/>
                    </a:p>
                  </a:txBody>
                  <a:tcPr marT="25400" marB="25400" marR="25400" marL="25400"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ga79ffe57d7_0_25"/>
          <p:cNvSpPr txBox="1"/>
          <p:nvPr>
            <p:ph type="title"/>
          </p:nvPr>
        </p:nvSpPr>
        <p:spPr>
          <a:xfrm>
            <a:off x="191325" y="170700"/>
            <a:ext cx="2819700" cy="611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GANTT CHART</a:t>
            </a:r>
            <a:endParaRPr/>
          </a:p>
        </p:txBody>
      </p:sp>
      <p:pic>
        <p:nvPicPr>
          <p:cNvPr id="91" name="Google Shape;91;ga79ffe57d7_0_25"/>
          <p:cNvPicPr preferRelativeResize="0"/>
          <p:nvPr/>
        </p:nvPicPr>
        <p:blipFill>
          <a:blip r:embed="rId3">
            <a:alphaModFix/>
          </a:blip>
          <a:stretch>
            <a:fillRect/>
          </a:stretch>
        </p:blipFill>
        <p:spPr>
          <a:xfrm>
            <a:off x="858600" y="815625"/>
            <a:ext cx="7426805" cy="40566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graphicFrame>
        <p:nvGraphicFramePr>
          <p:cNvPr id="96" name="Google Shape;96;ga79ffe57d7_0_0"/>
          <p:cNvGraphicFramePr/>
          <p:nvPr/>
        </p:nvGraphicFramePr>
        <p:xfrm>
          <a:off x="1402788" y="824725"/>
          <a:ext cx="3000000" cy="3000000"/>
        </p:xfrm>
        <a:graphic>
          <a:graphicData uri="http://schemas.openxmlformats.org/drawingml/2006/table">
            <a:tbl>
              <a:tblPr>
                <a:noFill/>
                <a:tableStyleId>{8EE3784E-7765-409E-9C27-12478ACC3733}</a:tableStyleId>
              </a:tblPr>
              <a:tblGrid>
                <a:gridCol w="933450"/>
                <a:gridCol w="2057400"/>
                <a:gridCol w="590550"/>
                <a:gridCol w="533400"/>
                <a:gridCol w="2143125"/>
              </a:tblGrid>
              <a:tr h="200025">
                <a:tc>
                  <a:txBody>
                    <a:bodyPr/>
                    <a:lstStyle/>
                    <a:p>
                      <a:pPr indent="0" lvl="0" marL="0" rtl="0" algn="l">
                        <a:lnSpc>
                          <a:spcPct val="115000"/>
                        </a:lnSpc>
                        <a:spcBef>
                          <a:spcPts val="0"/>
                        </a:spcBef>
                        <a:spcAft>
                          <a:spcPts val="0"/>
                        </a:spcAft>
                        <a:buNone/>
                      </a:pPr>
                      <a:r>
                        <a:rPr b="1" lang="en" sz="900"/>
                        <a:t>Part Number</a:t>
                      </a:r>
                      <a:endParaRPr sz="900"/>
                    </a:p>
                  </a:txBody>
                  <a:tcPr marT="25400" marB="25400" marR="25400" marL="25400"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900"/>
                        <a:t>Product Name</a:t>
                      </a:r>
                      <a:endParaRPr sz="900"/>
                    </a:p>
                  </a:txBody>
                  <a:tcPr marT="25400" marB="25400" marR="25400" marL="25400"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900"/>
                        <a:t>Quantity</a:t>
                      </a:r>
                      <a:endParaRPr sz="900"/>
                    </a:p>
                  </a:txBody>
                  <a:tcPr marT="25400" marB="25400" marR="25400" marL="25400"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900"/>
                        <a:t>Actual Cost</a:t>
                      </a:r>
                      <a:endParaRPr sz="900"/>
                    </a:p>
                  </a:txBody>
                  <a:tcPr marT="25400" marB="25400" marR="25400" marL="25400"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900"/>
                        <a:t>Description</a:t>
                      </a:r>
                      <a:endParaRPr sz="900"/>
                    </a:p>
                  </a:txBody>
                  <a:tcPr marT="25400" marB="25400" marR="25400" marL="25400"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 sz="900"/>
                        <a:t>ABX00027</a:t>
                      </a:r>
                      <a:endParaRPr sz="900"/>
                    </a:p>
                  </a:txBody>
                  <a:tcPr marT="25400" marB="25400" marR="25400" marL="254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t>Arduino Nano 33 IOT</a:t>
                      </a:r>
                      <a:endParaRPr sz="900"/>
                    </a:p>
                  </a:txBody>
                  <a:tcPr marT="25400" marB="25400" marR="25400" marL="254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2</a:t>
                      </a:r>
                      <a:endParaRPr sz="900"/>
                    </a:p>
                  </a:txBody>
                  <a:tcPr marT="25400" marB="25400" marR="25400" marL="254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$18.40</a:t>
                      </a:r>
                      <a:endParaRPr sz="900"/>
                    </a:p>
                  </a:txBody>
                  <a:tcPr marT="25400" marB="25400" marR="25400" marL="254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t>Microcontrollers with Bluetooth</a:t>
                      </a:r>
                      <a:endParaRPr sz="900"/>
                    </a:p>
                  </a:txBody>
                  <a:tcPr marT="25400" marB="25400" marR="25400" marL="254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 sz="900"/>
                        <a:t>Adafruit PID: 4224</a:t>
                      </a:r>
                      <a:endParaRPr sz="900"/>
                    </a:p>
                  </a:txBody>
                  <a:tcPr marT="25400" marB="25400" marR="25400" marL="254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t>Adafruit eInk Breakout Friend with 32KB SRAM</a:t>
                      </a:r>
                      <a:endParaRPr sz="900"/>
                    </a:p>
                  </a:txBody>
                  <a:tcPr marT="25400" marB="25400" marR="25400" marL="254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1</a:t>
                      </a:r>
                      <a:endParaRPr sz="900"/>
                    </a:p>
                  </a:txBody>
                  <a:tcPr marT="25400" marB="25400" marR="25400" marL="254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$8.50</a:t>
                      </a:r>
                      <a:endParaRPr sz="900"/>
                    </a:p>
                  </a:txBody>
                  <a:tcPr marT="25400" marB="25400" marR="25400" marL="254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t>Memory buffer for eInk display</a:t>
                      </a:r>
                      <a:endParaRPr sz="900"/>
                    </a:p>
                  </a:txBody>
                  <a:tcPr marT="25400" marB="25400" marR="25400" marL="254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 sz="900"/>
                        <a:t>Adafruit PID: 4262</a:t>
                      </a:r>
                      <a:endParaRPr sz="900"/>
                    </a:p>
                  </a:txBody>
                  <a:tcPr marT="25400" marB="25400" marR="25400" marL="254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t>2.9" Flexible Monochrome eInk</a:t>
                      </a:r>
                      <a:endParaRPr sz="900"/>
                    </a:p>
                  </a:txBody>
                  <a:tcPr marT="25400" marB="25400" marR="25400" marL="254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1</a:t>
                      </a:r>
                      <a:endParaRPr sz="900"/>
                    </a:p>
                  </a:txBody>
                  <a:tcPr marT="25400" marB="25400" marR="25400" marL="254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$26.95</a:t>
                      </a:r>
                      <a:endParaRPr sz="900"/>
                    </a:p>
                  </a:txBody>
                  <a:tcPr marT="25400" marB="25400" marR="25400" marL="254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t>Low power eInk display</a:t>
                      </a:r>
                      <a:endParaRPr sz="900"/>
                    </a:p>
                  </a:txBody>
                  <a:tcPr marT="25400" marB="25400" marR="25400" marL="254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 sz="900"/>
                        <a:t>C000160</a:t>
                      </a:r>
                      <a:endParaRPr sz="900"/>
                    </a:p>
                  </a:txBody>
                  <a:tcPr marT="25400" marB="25400" marR="25400" marL="254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t>Grove - Infrared Reflective Sensor V1.2</a:t>
                      </a:r>
                      <a:endParaRPr sz="900"/>
                    </a:p>
                  </a:txBody>
                  <a:tcPr marT="25400" marB="25400" marR="25400" marL="254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2</a:t>
                      </a:r>
                      <a:endParaRPr sz="900"/>
                    </a:p>
                  </a:txBody>
                  <a:tcPr marT="25400" marB="25400" marR="25400" marL="254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$5.90</a:t>
                      </a:r>
                      <a:endParaRPr sz="900"/>
                    </a:p>
                  </a:txBody>
                  <a:tcPr marT="25400" marB="25400" marR="25400" marL="254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t>Measures angular frequency</a:t>
                      </a:r>
                      <a:endParaRPr sz="900"/>
                    </a:p>
                  </a:txBody>
                  <a:tcPr marT="25400" marB="25400" marR="25400" marL="254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 sz="900"/>
                        <a:t>CEA-06-125UT-350</a:t>
                      </a:r>
                      <a:endParaRPr sz="900"/>
                    </a:p>
                  </a:txBody>
                  <a:tcPr marT="25400" marB="25400" marR="25400" marL="254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2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t>Micro Measurements Strain Gages</a:t>
                      </a:r>
                      <a:endParaRPr sz="900"/>
                    </a:p>
                  </a:txBody>
                  <a:tcPr marT="25400" marB="25400" marR="25400" marL="254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2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1</a:t>
                      </a:r>
                      <a:endParaRPr sz="900"/>
                    </a:p>
                  </a:txBody>
                  <a:tcPr marT="25400" marB="25400" marR="25400" marL="254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2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$29.99</a:t>
                      </a:r>
                      <a:endParaRPr sz="900"/>
                    </a:p>
                  </a:txBody>
                  <a:tcPr marT="25400" marB="25400" marR="25400" marL="254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2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t>Measures sheer force</a:t>
                      </a:r>
                      <a:endParaRPr sz="900"/>
                    </a:p>
                  </a:txBody>
                  <a:tcPr marT="25400" marB="25400" marR="25400" marL="254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2CC"/>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 sz="900"/>
                        <a:t>HX711</a:t>
                      </a:r>
                      <a:endParaRPr sz="900"/>
                    </a:p>
                  </a:txBody>
                  <a:tcPr marT="25400" marB="25400" marR="25400" marL="25400">
                    <a:lnL cap="flat" cmpd="sng" w="9525">
                      <a:solidFill>
                        <a:srgbClr val="FFF2CC"/>
                      </a:solidFill>
                      <a:prstDash val="solid"/>
                      <a:round/>
                      <a:headEnd len="sm" w="sm" type="none"/>
                      <a:tailEnd len="sm" w="sm" type="none"/>
                    </a:lnL>
                    <a:lnR cap="flat" cmpd="sng" w="9525">
                      <a:solidFill>
                        <a:srgbClr val="FFF2CC"/>
                      </a:solidFill>
                      <a:prstDash val="solid"/>
                      <a:round/>
                      <a:headEnd len="sm" w="sm" type="none"/>
                      <a:tailEnd len="sm" w="sm" type="none"/>
                    </a:lnR>
                    <a:lnT cap="flat" cmpd="sng" w="9525">
                      <a:solidFill>
                        <a:srgbClr val="FFF2CC"/>
                      </a:solidFill>
                      <a:prstDash val="solid"/>
                      <a:round/>
                      <a:headEnd len="sm" w="sm" type="none"/>
                      <a:tailEnd len="sm" w="sm" type="none"/>
                    </a:lnT>
                    <a:lnB cap="flat" cmpd="sng" w="9525">
                      <a:solidFill>
                        <a:srgbClr val="FFF2CC"/>
                      </a:solidFill>
                      <a:prstDash val="solid"/>
                      <a:round/>
                      <a:headEnd len="sm" w="sm" type="none"/>
                      <a:tailEnd len="sm" w="sm" type="none"/>
                    </a:lnB>
                    <a:solidFill>
                      <a:srgbClr val="FFF2CC"/>
                    </a:solidFill>
                  </a:tcPr>
                </a:tc>
                <a:tc>
                  <a:txBody>
                    <a:bodyPr/>
                    <a:lstStyle/>
                    <a:p>
                      <a:pPr indent="0" lvl="0" marL="0" rtl="0" algn="l">
                        <a:lnSpc>
                          <a:spcPct val="115000"/>
                        </a:lnSpc>
                        <a:spcBef>
                          <a:spcPts val="0"/>
                        </a:spcBef>
                        <a:spcAft>
                          <a:spcPts val="0"/>
                        </a:spcAft>
                        <a:buNone/>
                      </a:pPr>
                      <a:r>
                        <a:rPr lang="en" sz="900"/>
                        <a:t>Load Cell Amplifier / ADC</a:t>
                      </a:r>
                      <a:endParaRPr sz="900"/>
                    </a:p>
                  </a:txBody>
                  <a:tcPr marT="25400" marB="25400" marR="25400" marL="25400">
                    <a:lnL cap="flat" cmpd="sng" w="9525">
                      <a:solidFill>
                        <a:srgbClr val="FFF2CC"/>
                      </a:solidFill>
                      <a:prstDash val="solid"/>
                      <a:round/>
                      <a:headEnd len="sm" w="sm" type="none"/>
                      <a:tailEnd len="sm" w="sm" type="none"/>
                    </a:lnL>
                    <a:lnR cap="flat" cmpd="sng" w="9525">
                      <a:solidFill>
                        <a:srgbClr val="FFF2CC"/>
                      </a:solidFill>
                      <a:prstDash val="solid"/>
                      <a:round/>
                      <a:headEnd len="sm" w="sm" type="none"/>
                      <a:tailEnd len="sm" w="sm" type="none"/>
                    </a:lnR>
                    <a:lnT cap="flat" cmpd="sng" w="9525">
                      <a:solidFill>
                        <a:srgbClr val="FFF2CC"/>
                      </a:solidFill>
                      <a:prstDash val="solid"/>
                      <a:round/>
                      <a:headEnd len="sm" w="sm" type="none"/>
                      <a:tailEnd len="sm" w="sm" type="none"/>
                    </a:lnT>
                    <a:lnB cap="flat" cmpd="sng" w="9525">
                      <a:solidFill>
                        <a:srgbClr val="FFF2CC"/>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en" sz="900"/>
                        <a:t>1</a:t>
                      </a:r>
                      <a:endParaRPr sz="900"/>
                    </a:p>
                  </a:txBody>
                  <a:tcPr marT="25400" marB="25400" marR="25400" marL="25400">
                    <a:lnL cap="flat" cmpd="sng" w="9525">
                      <a:solidFill>
                        <a:srgbClr val="FFF2CC"/>
                      </a:solidFill>
                      <a:prstDash val="solid"/>
                      <a:round/>
                      <a:headEnd len="sm" w="sm" type="none"/>
                      <a:tailEnd len="sm" w="sm" type="none"/>
                    </a:lnL>
                    <a:lnR cap="flat" cmpd="sng" w="9525">
                      <a:solidFill>
                        <a:srgbClr val="FFF2CC"/>
                      </a:solidFill>
                      <a:prstDash val="solid"/>
                      <a:round/>
                      <a:headEnd len="sm" w="sm" type="none"/>
                      <a:tailEnd len="sm" w="sm" type="none"/>
                    </a:lnR>
                    <a:lnT cap="flat" cmpd="sng" w="9525">
                      <a:solidFill>
                        <a:srgbClr val="FFF2CC"/>
                      </a:solidFill>
                      <a:prstDash val="solid"/>
                      <a:round/>
                      <a:headEnd len="sm" w="sm" type="none"/>
                      <a:tailEnd len="sm" w="sm" type="none"/>
                    </a:lnT>
                    <a:lnB cap="flat" cmpd="sng" w="9525">
                      <a:solidFill>
                        <a:srgbClr val="FFF2CC"/>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en" sz="900"/>
                        <a:t>$9.95</a:t>
                      </a:r>
                      <a:endParaRPr sz="900"/>
                    </a:p>
                  </a:txBody>
                  <a:tcPr marT="25400" marB="25400" marR="25400" marL="25400">
                    <a:lnL cap="flat" cmpd="sng" w="9525">
                      <a:solidFill>
                        <a:srgbClr val="FFF2CC"/>
                      </a:solidFill>
                      <a:prstDash val="solid"/>
                      <a:round/>
                      <a:headEnd len="sm" w="sm" type="none"/>
                      <a:tailEnd len="sm" w="sm" type="none"/>
                    </a:lnL>
                    <a:lnR cap="flat" cmpd="sng" w="9525">
                      <a:solidFill>
                        <a:srgbClr val="FFF2CC"/>
                      </a:solidFill>
                      <a:prstDash val="solid"/>
                      <a:round/>
                      <a:headEnd len="sm" w="sm" type="none"/>
                      <a:tailEnd len="sm" w="sm" type="none"/>
                    </a:lnR>
                    <a:lnT cap="flat" cmpd="sng" w="9525">
                      <a:solidFill>
                        <a:srgbClr val="FFF2CC"/>
                      </a:solidFill>
                      <a:prstDash val="solid"/>
                      <a:round/>
                      <a:headEnd len="sm" w="sm" type="none"/>
                      <a:tailEnd len="sm" w="sm" type="none"/>
                    </a:lnT>
                    <a:lnB cap="flat" cmpd="sng" w="9525">
                      <a:solidFill>
                        <a:srgbClr val="FFF2CC"/>
                      </a:solidFill>
                      <a:prstDash val="solid"/>
                      <a:round/>
                      <a:headEnd len="sm" w="sm" type="none"/>
                      <a:tailEnd len="sm" w="sm" type="none"/>
                    </a:lnB>
                    <a:solidFill>
                      <a:srgbClr val="FFF2CC"/>
                    </a:solidFill>
                  </a:tcPr>
                </a:tc>
                <a:tc>
                  <a:txBody>
                    <a:bodyPr/>
                    <a:lstStyle/>
                    <a:p>
                      <a:pPr indent="0" lvl="0" marL="0" rtl="0" algn="l">
                        <a:lnSpc>
                          <a:spcPct val="115000"/>
                        </a:lnSpc>
                        <a:spcBef>
                          <a:spcPts val="0"/>
                        </a:spcBef>
                        <a:spcAft>
                          <a:spcPts val="0"/>
                        </a:spcAft>
                        <a:buNone/>
                      </a:pPr>
                      <a:r>
                        <a:rPr lang="en" sz="900"/>
                        <a:t>Reads strain from gauges</a:t>
                      </a:r>
                      <a:endParaRPr sz="900"/>
                    </a:p>
                  </a:txBody>
                  <a:tcPr marT="25400" marB="25400" marR="25400" marL="25400">
                    <a:lnL cap="flat" cmpd="sng" w="9525">
                      <a:solidFill>
                        <a:srgbClr val="FFF2CC"/>
                      </a:solidFill>
                      <a:prstDash val="solid"/>
                      <a:round/>
                      <a:headEnd len="sm" w="sm" type="none"/>
                      <a:tailEnd len="sm" w="sm" type="none"/>
                    </a:lnL>
                    <a:lnR cap="flat" cmpd="sng" w="9525">
                      <a:solidFill>
                        <a:srgbClr val="FFF2CC"/>
                      </a:solidFill>
                      <a:prstDash val="solid"/>
                      <a:round/>
                      <a:headEnd len="sm" w="sm" type="none"/>
                      <a:tailEnd len="sm" w="sm" type="none"/>
                    </a:lnR>
                    <a:lnT cap="flat" cmpd="sng" w="9525">
                      <a:solidFill>
                        <a:srgbClr val="FFF2CC"/>
                      </a:solidFill>
                      <a:prstDash val="solid"/>
                      <a:round/>
                      <a:headEnd len="sm" w="sm" type="none"/>
                      <a:tailEnd len="sm" w="sm" type="none"/>
                    </a:lnT>
                    <a:lnB cap="flat" cmpd="sng" w="9525">
                      <a:solidFill>
                        <a:srgbClr val="FFF2CC"/>
                      </a:solidFill>
                      <a:prstDash val="solid"/>
                      <a:round/>
                      <a:headEnd len="sm" w="sm" type="none"/>
                      <a:tailEnd len="sm" w="sm" type="none"/>
                    </a:lnB>
                    <a:solidFill>
                      <a:srgbClr val="FFF2CC"/>
                    </a:solidFill>
                  </a:tcPr>
                </a:tc>
              </a:tr>
              <a:tr h="200025">
                <a:tc>
                  <a:txBody>
                    <a:bodyPr/>
                    <a:lstStyle/>
                    <a:p>
                      <a:pPr indent="0" lvl="0" marL="0" rtl="0" algn="l">
                        <a:lnSpc>
                          <a:spcPct val="115000"/>
                        </a:lnSpc>
                        <a:spcBef>
                          <a:spcPts val="0"/>
                        </a:spcBef>
                        <a:spcAft>
                          <a:spcPts val="0"/>
                        </a:spcAft>
                        <a:buNone/>
                      </a:pPr>
                      <a:r>
                        <a:rPr lang="en" sz="900"/>
                        <a:t>176SF1D-L394</a:t>
                      </a:r>
                      <a:endParaRPr sz="900"/>
                    </a:p>
                  </a:txBody>
                  <a:tcPr marT="25400" marB="25400" marR="25400" marL="254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2CC"/>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t>Honeywell Precision Continuous 10K Potentiometer</a:t>
                      </a:r>
                      <a:endParaRPr sz="900"/>
                    </a:p>
                  </a:txBody>
                  <a:tcPr marT="25400" marB="25400" marR="25400" marL="254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2CC"/>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1</a:t>
                      </a:r>
                      <a:endParaRPr sz="900"/>
                    </a:p>
                  </a:txBody>
                  <a:tcPr marT="25400" marB="25400" marR="25400" marL="254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2CC"/>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$22.95</a:t>
                      </a:r>
                      <a:endParaRPr sz="900"/>
                    </a:p>
                  </a:txBody>
                  <a:tcPr marT="25400" marB="25400" marR="25400" marL="254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2CC"/>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t>Measures wind angle</a:t>
                      </a:r>
                      <a:endParaRPr sz="900"/>
                    </a:p>
                  </a:txBody>
                  <a:tcPr marT="25400" marB="25400" marR="25400" marL="254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2CC"/>
                      </a:solidFill>
                      <a:prstDash val="solid"/>
                      <a:round/>
                      <a:headEnd len="sm" w="sm" type="none"/>
                      <a:tailEnd len="sm" w="sm" type="none"/>
                    </a:lnT>
                    <a:lnB cap="flat" cmpd="sng" w="9525">
                      <a:solidFill>
                        <a:srgbClr val="FFFFFF"/>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 sz="900"/>
                        <a:t>PA1010D</a:t>
                      </a:r>
                      <a:endParaRPr sz="900"/>
                    </a:p>
                  </a:txBody>
                  <a:tcPr marT="25400" marB="25400" marR="25400" marL="254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t>Adafruit Mini GPS</a:t>
                      </a:r>
                      <a:endParaRPr sz="900"/>
                    </a:p>
                  </a:txBody>
                  <a:tcPr marT="25400" marB="25400" marR="25400" marL="254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1</a:t>
                      </a:r>
                      <a:endParaRPr sz="900"/>
                    </a:p>
                  </a:txBody>
                  <a:tcPr marT="25400" marB="25400" marR="25400" marL="254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$29.95</a:t>
                      </a:r>
                      <a:endParaRPr sz="900"/>
                    </a:p>
                  </a:txBody>
                  <a:tcPr marT="25400" marB="25400" marR="25400" marL="254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t>10Hz GPS module</a:t>
                      </a:r>
                      <a:endParaRPr sz="900"/>
                    </a:p>
                  </a:txBody>
                  <a:tcPr marT="25400" marB="25400" marR="25400" marL="254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 sz="900"/>
                        <a:t>LP785060</a:t>
                      </a:r>
                      <a:endParaRPr sz="900"/>
                    </a:p>
                  </a:txBody>
                  <a:tcPr marT="25400" marB="25400" marR="25400" marL="254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t>Lithium Ion Polymer Battery - 3.7v 2500mAh</a:t>
                      </a:r>
                      <a:endParaRPr sz="900"/>
                    </a:p>
                  </a:txBody>
                  <a:tcPr marT="25400" marB="25400" marR="25400" marL="254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1</a:t>
                      </a:r>
                      <a:endParaRPr sz="900"/>
                    </a:p>
                  </a:txBody>
                  <a:tcPr marT="25400" marB="25400" marR="25400" marL="254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$14.95</a:t>
                      </a:r>
                      <a:endParaRPr sz="900"/>
                    </a:p>
                  </a:txBody>
                  <a:tcPr marT="25400" marB="25400" marR="25400" marL="254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t>Power for Microcontrollers</a:t>
                      </a:r>
                      <a:endParaRPr sz="900"/>
                    </a:p>
                  </a:txBody>
                  <a:tcPr marT="25400" marB="25400" marR="25400" marL="254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t/>
                      </a:r>
                      <a:endParaRPr sz="900"/>
                    </a:p>
                  </a:txBody>
                  <a:tcPr marT="25400" marB="25400" marR="25400" marL="254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2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t>Metal Crank Arm</a:t>
                      </a:r>
                      <a:endParaRPr sz="900"/>
                    </a:p>
                  </a:txBody>
                  <a:tcPr marT="25400" marB="25400" marR="25400" marL="254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2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900"/>
                        <a:t>1</a:t>
                      </a:r>
                      <a:endParaRPr sz="900"/>
                    </a:p>
                  </a:txBody>
                  <a:tcPr marT="25400" marB="25400" marR="25400" marL="254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2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900"/>
                        <a:t>$13.63</a:t>
                      </a:r>
                      <a:endParaRPr sz="900"/>
                    </a:p>
                  </a:txBody>
                  <a:tcPr marT="25400" marB="25400" marR="25400" marL="254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2CC"/>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t/>
                      </a:r>
                      <a:endParaRPr sz="900"/>
                    </a:p>
                  </a:txBody>
                  <a:tcPr marT="25400" marB="25400" marR="25400" marL="254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2CC"/>
                      </a:solidFill>
                      <a:prstDash val="solid"/>
                      <a:round/>
                      <a:headEnd len="sm" w="sm" type="none"/>
                      <a:tailEnd len="sm" w="sm" type="none"/>
                    </a:lnB>
                    <a:solidFill>
                      <a:srgbClr val="FFFFFF"/>
                    </a:solidFill>
                  </a:tcPr>
                </a:tc>
              </a:tr>
              <a:tr h="333375">
                <a:tc>
                  <a:txBody>
                    <a:bodyPr/>
                    <a:lstStyle/>
                    <a:p>
                      <a:pPr indent="0" lvl="0" marL="0" rtl="0" algn="l">
                        <a:lnSpc>
                          <a:spcPct val="115000"/>
                        </a:lnSpc>
                        <a:spcBef>
                          <a:spcPts val="0"/>
                        </a:spcBef>
                        <a:spcAft>
                          <a:spcPts val="0"/>
                        </a:spcAft>
                        <a:buNone/>
                      </a:pPr>
                      <a:r>
                        <a:t/>
                      </a:r>
                      <a:endParaRPr sz="900"/>
                    </a:p>
                  </a:txBody>
                  <a:tcPr marT="25400" marB="25400" marR="25400" marL="25400">
                    <a:lnL cap="flat" cmpd="sng" w="9525">
                      <a:solidFill>
                        <a:srgbClr val="FFF2CC"/>
                      </a:solidFill>
                      <a:prstDash val="solid"/>
                      <a:round/>
                      <a:headEnd len="sm" w="sm" type="none"/>
                      <a:tailEnd len="sm" w="sm" type="none"/>
                    </a:lnL>
                    <a:lnR cap="flat" cmpd="sng" w="9525">
                      <a:solidFill>
                        <a:srgbClr val="FFF2CC"/>
                      </a:solidFill>
                      <a:prstDash val="solid"/>
                      <a:round/>
                      <a:headEnd len="sm" w="sm" type="none"/>
                      <a:tailEnd len="sm" w="sm" type="none"/>
                    </a:lnR>
                    <a:lnT cap="flat" cmpd="sng" w="9525">
                      <a:solidFill>
                        <a:srgbClr val="FFF2CC"/>
                      </a:solidFill>
                      <a:prstDash val="solid"/>
                      <a:round/>
                      <a:headEnd len="sm" w="sm" type="none"/>
                      <a:tailEnd len="sm" w="sm" type="none"/>
                    </a:lnT>
                    <a:lnB cap="flat" cmpd="sng" w="9525">
                      <a:solidFill>
                        <a:srgbClr val="FFF2CC"/>
                      </a:solidFill>
                      <a:prstDash val="solid"/>
                      <a:round/>
                      <a:headEnd len="sm" w="sm" type="none"/>
                      <a:tailEnd len="sm" w="sm" type="none"/>
                    </a:lnB>
                    <a:solidFill>
                      <a:srgbClr val="FFF2CC"/>
                    </a:solidFill>
                  </a:tcPr>
                </a:tc>
                <a:tc>
                  <a:txBody>
                    <a:bodyPr/>
                    <a:lstStyle/>
                    <a:p>
                      <a:pPr indent="0" lvl="0" marL="0" rtl="0" algn="l">
                        <a:lnSpc>
                          <a:spcPct val="115000"/>
                        </a:lnSpc>
                        <a:spcBef>
                          <a:spcPts val="0"/>
                        </a:spcBef>
                        <a:spcAft>
                          <a:spcPts val="0"/>
                        </a:spcAft>
                        <a:buNone/>
                      </a:pPr>
                      <a:r>
                        <a:rPr lang="en" sz="900"/>
                        <a:t>Misc</a:t>
                      </a:r>
                      <a:endParaRPr sz="900"/>
                    </a:p>
                  </a:txBody>
                  <a:tcPr marT="25400" marB="25400" marR="25400" marL="25400">
                    <a:lnL cap="flat" cmpd="sng" w="9525">
                      <a:solidFill>
                        <a:srgbClr val="FFF2CC"/>
                      </a:solidFill>
                      <a:prstDash val="solid"/>
                      <a:round/>
                      <a:headEnd len="sm" w="sm" type="none"/>
                      <a:tailEnd len="sm" w="sm" type="none"/>
                    </a:lnL>
                    <a:lnR cap="flat" cmpd="sng" w="9525">
                      <a:solidFill>
                        <a:srgbClr val="FFF2CC"/>
                      </a:solidFill>
                      <a:prstDash val="solid"/>
                      <a:round/>
                      <a:headEnd len="sm" w="sm" type="none"/>
                      <a:tailEnd len="sm" w="sm" type="none"/>
                    </a:lnR>
                    <a:lnT cap="flat" cmpd="sng" w="9525">
                      <a:solidFill>
                        <a:srgbClr val="FFF2CC"/>
                      </a:solidFill>
                      <a:prstDash val="solid"/>
                      <a:round/>
                      <a:headEnd len="sm" w="sm" type="none"/>
                      <a:tailEnd len="sm" w="sm" type="none"/>
                    </a:lnT>
                    <a:lnB cap="flat" cmpd="sng" w="9525">
                      <a:solidFill>
                        <a:srgbClr val="FFF2CC"/>
                      </a:solidFill>
                      <a:prstDash val="solid"/>
                      <a:round/>
                      <a:headEnd len="sm" w="sm" type="none"/>
                      <a:tailEnd len="sm" w="sm" type="none"/>
                    </a:lnB>
                    <a:solidFill>
                      <a:srgbClr val="FFF2CC"/>
                    </a:solidFill>
                  </a:tcPr>
                </a:tc>
                <a:tc>
                  <a:txBody>
                    <a:bodyPr/>
                    <a:lstStyle/>
                    <a:p>
                      <a:pPr indent="0" lvl="0" marL="0" rtl="0" algn="l">
                        <a:lnSpc>
                          <a:spcPct val="115000"/>
                        </a:lnSpc>
                        <a:spcBef>
                          <a:spcPts val="0"/>
                        </a:spcBef>
                        <a:spcAft>
                          <a:spcPts val="0"/>
                        </a:spcAft>
                        <a:buNone/>
                      </a:pPr>
                      <a:r>
                        <a:t/>
                      </a:r>
                      <a:endParaRPr sz="900"/>
                    </a:p>
                  </a:txBody>
                  <a:tcPr marT="25400" marB="25400" marR="25400" marL="25400">
                    <a:lnL cap="flat" cmpd="sng" w="9525">
                      <a:solidFill>
                        <a:srgbClr val="FFF2CC"/>
                      </a:solidFill>
                      <a:prstDash val="solid"/>
                      <a:round/>
                      <a:headEnd len="sm" w="sm" type="none"/>
                      <a:tailEnd len="sm" w="sm" type="none"/>
                    </a:lnL>
                    <a:lnR cap="flat" cmpd="sng" w="9525">
                      <a:solidFill>
                        <a:srgbClr val="FFF2CC"/>
                      </a:solidFill>
                      <a:prstDash val="solid"/>
                      <a:round/>
                      <a:headEnd len="sm" w="sm" type="none"/>
                      <a:tailEnd len="sm" w="sm" type="none"/>
                    </a:lnR>
                    <a:lnT cap="flat" cmpd="sng" w="9525">
                      <a:solidFill>
                        <a:srgbClr val="FFF2CC"/>
                      </a:solidFill>
                      <a:prstDash val="solid"/>
                      <a:round/>
                      <a:headEnd len="sm" w="sm" type="none"/>
                      <a:tailEnd len="sm" w="sm" type="none"/>
                    </a:lnT>
                    <a:lnB cap="flat" cmpd="sng" w="9525">
                      <a:solidFill>
                        <a:srgbClr val="FFF2CC"/>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en" sz="900"/>
                        <a:t>$165.87</a:t>
                      </a:r>
                      <a:endParaRPr sz="900"/>
                    </a:p>
                  </a:txBody>
                  <a:tcPr marT="25400" marB="25400" marR="25400" marL="25400">
                    <a:lnL cap="flat" cmpd="sng" w="9525">
                      <a:solidFill>
                        <a:srgbClr val="FFF2CC"/>
                      </a:solidFill>
                      <a:prstDash val="solid"/>
                      <a:round/>
                      <a:headEnd len="sm" w="sm" type="none"/>
                      <a:tailEnd len="sm" w="sm" type="none"/>
                    </a:lnL>
                    <a:lnR cap="flat" cmpd="sng" w="9525">
                      <a:solidFill>
                        <a:srgbClr val="FFF2CC"/>
                      </a:solidFill>
                      <a:prstDash val="solid"/>
                      <a:round/>
                      <a:headEnd len="sm" w="sm" type="none"/>
                      <a:tailEnd len="sm" w="sm" type="none"/>
                    </a:lnR>
                    <a:lnT cap="flat" cmpd="sng" w="9525">
                      <a:solidFill>
                        <a:srgbClr val="FFF2CC"/>
                      </a:solidFill>
                      <a:prstDash val="solid"/>
                      <a:round/>
                      <a:headEnd len="sm" w="sm" type="none"/>
                      <a:tailEnd len="sm" w="sm" type="none"/>
                    </a:lnT>
                    <a:lnB cap="flat" cmpd="sng" w="9525">
                      <a:solidFill>
                        <a:srgbClr val="FFF2CC"/>
                      </a:solidFill>
                      <a:prstDash val="solid"/>
                      <a:round/>
                      <a:headEnd len="sm" w="sm" type="none"/>
                      <a:tailEnd len="sm" w="sm" type="none"/>
                    </a:lnB>
                    <a:solidFill>
                      <a:srgbClr val="FFF2CC"/>
                    </a:solidFill>
                  </a:tcPr>
                </a:tc>
                <a:tc>
                  <a:txBody>
                    <a:bodyPr/>
                    <a:lstStyle/>
                    <a:p>
                      <a:pPr indent="0" lvl="0" marL="0" rtl="0" algn="l">
                        <a:lnSpc>
                          <a:spcPct val="115000"/>
                        </a:lnSpc>
                        <a:spcBef>
                          <a:spcPts val="0"/>
                        </a:spcBef>
                        <a:spcAft>
                          <a:spcPts val="0"/>
                        </a:spcAft>
                        <a:buNone/>
                      </a:pPr>
                      <a:r>
                        <a:rPr lang="en" sz="900"/>
                        <a:t>Jumpers, Headers, Solder, additional strain gages, glue, catalyst, etc.</a:t>
                      </a:r>
                      <a:endParaRPr sz="900"/>
                    </a:p>
                  </a:txBody>
                  <a:tcPr marT="25400" marB="25400" marR="25400" marL="25400">
                    <a:lnL cap="flat" cmpd="sng" w="9525">
                      <a:solidFill>
                        <a:srgbClr val="FFF2CC"/>
                      </a:solidFill>
                      <a:prstDash val="solid"/>
                      <a:round/>
                      <a:headEnd len="sm" w="sm" type="none"/>
                      <a:tailEnd len="sm" w="sm" type="none"/>
                    </a:lnL>
                    <a:lnR cap="flat" cmpd="sng" w="9525">
                      <a:solidFill>
                        <a:srgbClr val="FFF2CC"/>
                      </a:solidFill>
                      <a:prstDash val="solid"/>
                      <a:round/>
                      <a:headEnd len="sm" w="sm" type="none"/>
                      <a:tailEnd len="sm" w="sm" type="none"/>
                    </a:lnR>
                    <a:lnT cap="flat" cmpd="sng" w="9525">
                      <a:solidFill>
                        <a:srgbClr val="FFF2CC"/>
                      </a:solidFill>
                      <a:prstDash val="solid"/>
                      <a:round/>
                      <a:headEnd len="sm" w="sm" type="none"/>
                      <a:tailEnd len="sm" w="sm" type="none"/>
                    </a:lnT>
                    <a:lnB cap="flat" cmpd="sng" w="9525">
                      <a:solidFill>
                        <a:srgbClr val="FFF2CC"/>
                      </a:solidFill>
                      <a:prstDash val="solid"/>
                      <a:round/>
                      <a:headEnd len="sm" w="sm" type="none"/>
                      <a:tailEnd len="sm" w="sm" type="none"/>
                    </a:lnB>
                    <a:solidFill>
                      <a:srgbClr val="FFF2CC"/>
                    </a:solidFill>
                  </a:tcPr>
                </a:tc>
              </a:tr>
              <a:tr h="200025">
                <a:tc>
                  <a:txBody>
                    <a:bodyPr/>
                    <a:lstStyle/>
                    <a:p>
                      <a:pPr indent="0" lvl="0" marL="0" rtl="0" algn="l">
                        <a:lnSpc>
                          <a:spcPct val="115000"/>
                        </a:lnSpc>
                        <a:spcBef>
                          <a:spcPts val="0"/>
                        </a:spcBef>
                        <a:spcAft>
                          <a:spcPts val="0"/>
                        </a:spcAft>
                        <a:buNone/>
                      </a:pPr>
                      <a:r>
                        <a:t/>
                      </a:r>
                      <a:endParaRPr sz="900"/>
                    </a:p>
                  </a:txBody>
                  <a:tcPr marT="25400" marB="25400" marR="25400" marL="254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2CC"/>
                      </a:solidFill>
                      <a:prstDash val="solid"/>
                      <a:round/>
                      <a:headEnd len="sm" w="sm" type="none"/>
                      <a:tailEnd len="sm" w="sm" type="none"/>
                    </a:lnT>
                    <a:lnB cap="flat" cmpd="sng" w="9525">
                      <a:solidFill>
                        <a:srgbClr val="FFF2CC"/>
                      </a:solidFill>
                      <a:prstDash val="solid"/>
                      <a:round/>
                      <a:headEnd len="sm" w="sm" type="none"/>
                      <a:tailEnd len="sm" w="sm" type="none"/>
                    </a:lnB>
                  </a:tcPr>
                </a:tc>
                <a:tc gridSpan="2">
                  <a:txBody>
                    <a:bodyPr/>
                    <a:lstStyle/>
                    <a:p>
                      <a:pPr indent="0" lvl="0" marL="0" rtl="0" algn="l">
                        <a:lnSpc>
                          <a:spcPct val="115000"/>
                        </a:lnSpc>
                        <a:spcBef>
                          <a:spcPts val="0"/>
                        </a:spcBef>
                        <a:spcAft>
                          <a:spcPts val="0"/>
                        </a:spcAft>
                        <a:buNone/>
                      </a:pPr>
                      <a:r>
                        <a:rPr lang="en" sz="900"/>
                        <a:t>Shipping</a:t>
                      </a:r>
                      <a:endParaRPr sz="900"/>
                    </a:p>
                  </a:txBody>
                  <a:tcPr marT="25400" marB="25400" marR="25400" marL="254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2CC"/>
                      </a:solidFill>
                      <a:prstDash val="solid"/>
                      <a:round/>
                      <a:headEnd len="sm" w="sm" type="none"/>
                      <a:tailEnd len="sm" w="sm" type="none"/>
                    </a:lnT>
                    <a:lnB cap="flat" cmpd="sng" w="9525">
                      <a:solidFill>
                        <a:srgbClr val="FFF2CC"/>
                      </a:solidFill>
                      <a:prstDash val="solid"/>
                      <a:round/>
                      <a:headEnd len="sm" w="sm" type="none"/>
                      <a:tailEnd len="sm" w="sm" type="none"/>
                    </a:lnB>
                  </a:tcPr>
                </a:tc>
                <a:tc hMerge="1"/>
                <a:tc>
                  <a:txBody>
                    <a:bodyPr/>
                    <a:lstStyle/>
                    <a:p>
                      <a:pPr indent="0" lvl="0" marL="0" rtl="0" algn="ctr">
                        <a:lnSpc>
                          <a:spcPct val="115000"/>
                        </a:lnSpc>
                        <a:spcBef>
                          <a:spcPts val="0"/>
                        </a:spcBef>
                        <a:spcAft>
                          <a:spcPts val="0"/>
                        </a:spcAft>
                        <a:buNone/>
                      </a:pPr>
                      <a:r>
                        <a:rPr lang="en" sz="900"/>
                        <a:t>$53.75</a:t>
                      </a:r>
                      <a:endParaRPr sz="900"/>
                    </a:p>
                  </a:txBody>
                  <a:tcPr marT="25400" marB="25400" marR="25400" marL="254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2CC"/>
                      </a:solidFill>
                      <a:prstDash val="solid"/>
                      <a:round/>
                      <a:headEnd len="sm" w="sm" type="none"/>
                      <a:tailEnd len="sm" w="sm" type="none"/>
                    </a:lnT>
                    <a:lnB cap="flat" cmpd="sng" w="9525">
                      <a:solidFill>
                        <a:srgbClr val="FFF2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t/>
                      </a:r>
                      <a:endParaRPr sz="900"/>
                    </a:p>
                  </a:txBody>
                  <a:tcPr marT="25400" marB="25400" marR="25400" marL="254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2CC"/>
                      </a:solidFill>
                      <a:prstDash val="solid"/>
                      <a:round/>
                      <a:headEnd len="sm" w="sm" type="none"/>
                      <a:tailEnd len="sm" w="sm" type="none"/>
                    </a:lnT>
                    <a:lnB cap="flat" cmpd="sng" w="9525">
                      <a:solidFill>
                        <a:srgbClr val="FFF2CC"/>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t/>
                      </a:r>
                      <a:endParaRPr sz="900"/>
                    </a:p>
                  </a:txBody>
                  <a:tcPr marT="25400" marB="25400" marR="25400" marL="25400" anchor="b">
                    <a:lnL cap="flat" cmpd="sng" w="9525">
                      <a:solidFill>
                        <a:srgbClr val="FFF2CC"/>
                      </a:solidFill>
                      <a:prstDash val="solid"/>
                      <a:round/>
                      <a:headEnd len="sm" w="sm" type="none"/>
                      <a:tailEnd len="sm" w="sm" type="none"/>
                    </a:lnL>
                    <a:lnR cap="flat" cmpd="sng" w="9525">
                      <a:solidFill>
                        <a:srgbClr val="FFF2CC"/>
                      </a:solidFill>
                      <a:prstDash val="solid"/>
                      <a:round/>
                      <a:headEnd len="sm" w="sm" type="none"/>
                      <a:tailEnd len="sm" w="sm" type="none"/>
                    </a:lnR>
                    <a:lnT cap="flat" cmpd="sng" w="9525">
                      <a:solidFill>
                        <a:srgbClr val="FFF2CC"/>
                      </a:solidFill>
                      <a:prstDash val="solid"/>
                      <a:round/>
                      <a:headEnd len="sm" w="sm" type="none"/>
                      <a:tailEnd len="sm" w="sm" type="none"/>
                    </a:lnT>
                    <a:lnB cap="flat" cmpd="sng" w="9525">
                      <a:solidFill>
                        <a:srgbClr val="FFF2CC"/>
                      </a:solidFill>
                      <a:prstDash val="solid"/>
                      <a:round/>
                      <a:headEnd len="sm" w="sm" type="none"/>
                      <a:tailEnd len="sm" w="sm" type="none"/>
                    </a:lnB>
                    <a:solidFill>
                      <a:srgbClr val="FFF2CC"/>
                    </a:solidFill>
                  </a:tcPr>
                </a:tc>
                <a:tc gridSpan="2">
                  <a:txBody>
                    <a:bodyPr/>
                    <a:lstStyle/>
                    <a:p>
                      <a:pPr indent="0" lvl="0" marL="0" rtl="0" algn="r">
                        <a:lnSpc>
                          <a:spcPct val="115000"/>
                        </a:lnSpc>
                        <a:spcBef>
                          <a:spcPts val="0"/>
                        </a:spcBef>
                        <a:spcAft>
                          <a:spcPts val="0"/>
                        </a:spcAft>
                        <a:buNone/>
                      </a:pPr>
                      <a:r>
                        <a:rPr b="1" lang="en" sz="900"/>
                        <a:t>TOTAL</a:t>
                      </a:r>
                      <a:endParaRPr sz="900"/>
                    </a:p>
                  </a:txBody>
                  <a:tcPr marT="25400" marB="25400" marR="25400" marL="25400">
                    <a:lnL cap="flat" cmpd="sng" w="9525">
                      <a:solidFill>
                        <a:srgbClr val="FFF2CC"/>
                      </a:solidFill>
                      <a:prstDash val="solid"/>
                      <a:round/>
                      <a:headEnd len="sm" w="sm" type="none"/>
                      <a:tailEnd len="sm" w="sm" type="none"/>
                    </a:lnL>
                    <a:lnR cap="flat" cmpd="sng" w="9525">
                      <a:solidFill>
                        <a:srgbClr val="FFF2CC"/>
                      </a:solidFill>
                      <a:prstDash val="solid"/>
                      <a:round/>
                      <a:headEnd len="sm" w="sm" type="none"/>
                      <a:tailEnd len="sm" w="sm" type="none"/>
                    </a:lnR>
                    <a:lnT cap="flat" cmpd="sng" w="9525">
                      <a:solidFill>
                        <a:srgbClr val="FFF2CC"/>
                      </a:solidFill>
                      <a:prstDash val="solid"/>
                      <a:round/>
                      <a:headEnd len="sm" w="sm" type="none"/>
                      <a:tailEnd len="sm" w="sm" type="none"/>
                    </a:lnT>
                    <a:lnB cap="flat" cmpd="sng" w="9525">
                      <a:solidFill>
                        <a:srgbClr val="FFF2CC"/>
                      </a:solidFill>
                      <a:prstDash val="solid"/>
                      <a:round/>
                      <a:headEnd len="sm" w="sm" type="none"/>
                      <a:tailEnd len="sm" w="sm" type="none"/>
                    </a:lnB>
                    <a:solidFill>
                      <a:srgbClr val="FFF2CC"/>
                    </a:solidFill>
                  </a:tcPr>
                </a:tc>
                <a:tc hMerge="1"/>
                <a:tc>
                  <a:txBody>
                    <a:bodyPr/>
                    <a:lstStyle/>
                    <a:p>
                      <a:pPr indent="0" lvl="0" marL="0" rtl="0" algn="ctr">
                        <a:lnSpc>
                          <a:spcPct val="115000"/>
                        </a:lnSpc>
                        <a:spcBef>
                          <a:spcPts val="0"/>
                        </a:spcBef>
                        <a:spcAft>
                          <a:spcPts val="0"/>
                        </a:spcAft>
                        <a:buNone/>
                      </a:pPr>
                      <a:r>
                        <a:rPr b="1" lang="en" sz="900"/>
                        <a:t>$400.79</a:t>
                      </a:r>
                      <a:endParaRPr sz="900"/>
                    </a:p>
                  </a:txBody>
                  <a:tcPr marT="25400" marB="25400" marR="25400" marL="25400">
                    <a:lnL cap="flat" cmpd="sng" w="9525">
                      <a:solidFill>
                        <a:srgbClr val="FFF2CC"/>
                      </a:solidFill>
                      <a:prstDash val="solid"/>
                      <a:round/>
                      <a:headEnd len="sm" w="sm" type="none"/>
                      <a:tailEnd len="sm" w="sm" type="none"/>
                    </a:lnL>
                    <a:lnR cap="flat" cmpd="sng" w="9525">
                      <a:solidFill>
                        <a:srgbClr val="FFF2CC"/>
                      </a:solidFill>
                      <a:prstDash val="solid"/>
                      <a:round/>
                      <a:headEnd len="sm" w="sm" type="none"/>
                      <a:tailEnd len="sm" w="sm" type="none"/>
                    </a:lnR>
                    <a:lnT cap="flat" cmpd="sng" w="9525">
                      <a:solidFill>
                        <a:srgbClr val="FFF2CC"/>
                      </a:solidFill>
                      <a:prstDash val="solid"/>
                      <a:round/>
                      <a:headEnd len="sm" w="sm" type="none"/>
                      <a:tailEnd len="sm" w="sm" type="none"/>
                    </a:lnT>
                    <a:lnB cap="flat" cmpd="sng" w="9525">
                      <a:solidFill>
                        <a:srgbClr val="FFF2CC"/>
                      </a:solidFill>
                      <a:prstDash val="solid"/>
                      <a:round/>
                      <a:headEnd len="sm" w="sm" type="none"/>
                      <a:tailEnd len="sm" w="sm" type="none"/>
                    </a:lnB>
                    <a:solidFill>
                      <a:srgbClr val="FFF2CC"/>
                    </a:solidFill>
                  </a:tcPr>
                </a:tc>
                <a:tc>
                  <a:txBody>
                    <a:bodyPr/>
                    <a:lstStyle/>
                    <a:p>
                      <a:pPr indent="0" lvl="0" marL="0" rtl="0" algn="l">
                        <a:lnSpc>
                          <a:spcPct val="115000"/>
                        </a:lnSpc>
                        <a:spcBef>
                          <a:spcPts val="0"/>
                        </a:spcBef>
                        <a:spcAft>
                          <a:spcPts val="0"/>
                        </a:spcAft>
                        <a:buNone/>
                      </a:pPr>
                      <a:r>
                        <a:t/>
                      </a:r>
                      <a:endParaRPr sz="900"/>
                    </a:p>
                  </a:txBody>
                  <a:tcPr marT="25400" marB="25400" marR="25400" marL="25400">
                    <a:lnL cap="flat" cmpd="sng" w="9525">
                      <a:solidFill>
                        <a:srgbClr val="FFF2CC"/>
                      </a:solidFill>
                      <a:prstDash val="solid"/>
                      <a:round/>
                      <a:headEnd len="sm" w="sm" type="none"/>
                      <a:tailEnd len="sm" w="sm" type="none"/>
                    </a:lnL>
                    <a:lnR cap="flat" cmpd="sng" w="9525">
                      <a:solidFill>
                        <a:srgbClr val="FFF2CC"/>
                      </a:solidFill>
                      <a:prstDash val="solid"/>
                      <a:round/>
                      <a:headEnd len="sm" w="sm" type="none"/>
                      <a:tailEnd len="sm" w="sm" type="none"/>
                    </a:lnR>
                    <a:lnT cap="flat" cmpd="sng" w="9525">
                      <a:solidFill>
                        <a:srgbClr val="FFF2CC"/>
                      </a:solidFill>
                      <a:prstDash val="solid"/>
                      <a:round/>
                      <a:headEnd len="sm" w="sm" type="none"/>
                      <a:tailEnd len="sm" w="sm" type="none"/>
                    </a:lnT>
                    <a:lnB cap="flat" cmpd="sng" w="9525">
                      <a:solidFill>
                        <a:srgbClr val="FFF2CC"/>
                      </a:solidFill>
                      <a:prstDash val="solid"/>
                      <a:round/>
                      <a:headEnd len="sm" w="sm" type="none"/>
                      <a:tailEnd len="sm" w="sm" type="none"/>
                    </a:lnB>
                    <a:solidFill>
                      <a:srgbClr val="FFF2CC"/>
                    </a:solidFill>
                  </a:tcPr>
                </a:tc>
              </a:tr>
            </a:tbl>
          </a:graphicData>
        </a:graphic>
      </p:graphicFrame>
      <p:sp>
        <p:nvSpPr>
          <p:cNvPr id="97" name="Google Shape;97;ga79ffe57d7_0_0"/>
          <p:cNvSpPr txBox="1"/>
          <p:nvPr>
            <p:ph type="title"/>
          </p:nvPr>
        </p:nvSpPr>
        <p:spPr>
          <a:xfrm>
            <a:off x="191325" y="170750"/>
            <a:ext cx="3597600" cy="466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BILL OF MATERIALS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ga715356b46_0_10"/>
          <p:cNvSpPr txBox="1"/>
          <p:nvPr>
            <p:ph type="title"/>
          </p:nvPr>
        </p:nvSpPr>
        <p:spPr>
          <a:xfrm>
            <a:off x="339700" y="149650"/>
            <a:ext cx="27318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latin typeface="Calibri"/>
                <a:ea typeface="Calibri"/>
                <a:cs typeface="Calibri"/>
                <a:sym typeface="Calibri"/>
              </a:rPr>
              <a:t>BLOCK DIAGRAM</a:t>
            </a:r>
            <a:endParaRPr>
              <a:latin typeface="Calibri"/>
              <a:ea typeface="Calibri"/>
              <a:cs typeface="Calibri"/>
              <a:sym typeface="Calibri"/>
            </a:endParaRPr>
          </a:p>
        </p:txBody>
      </p:sp>
      <p:pic>
        <p:nvPicPr>
          <p:cNvPr id="103" name="Google Shape;103;ga715356b46_0_10"/>
          <p:cNvPicPr preferRelativeResize="0"/>
          <p:nvPr/>
        </p:nvPicPr>
        <p:blipFill>
          <a:blip r:embed="rId3">
            <a:alphaModFix/>
          </a:blip>
          <a:stretch>
            <a:fillRect/>
          </a:stretch>
        </p:blipFill>
        <p:spPr>
          <a:xfrm>
            <a:off x="1782513" y="909487"/>
            <a:ext cx="5634974" cy="39889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gba8d29d8b3_0_15"/>
          <p:cNvSpPr txBox="1"/>
          <p:nvPr/>
        </p:nvSpPr>
        <p:spPr>
          <a:xfrm>
            <a:off x="2521950" y="213750"/>
            <a:ext cx="41001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Companion Mobile Application Demonstration</a:t>
            </a:r>
            <a:endParaRPr b="0" i="0" sz="1400" u="none" cap="none" strike="noStrike">
              <a:solidFill>
                <a:srgbClr val="000000"/>
              </a:solidFill>
              <a:latin typeface="Arial"/>
              <a:ea typeface="Arial"/>
              <a:cs typeface="Arial"/>
              <a:sym typeface="Arial"/>
            </a:endParaRPr>
          </a:p>
        </p:txBody>
      </p:sp>
      <p:pic>
        <p:nvPicPr>
          <p:cNvPr id="109" name="Google Shape;109;gba8d29d8b3_0_15" title="March Monthly Report App Video">
            <a:hlinkClick r:id="rId3"/>
          </p:cNvPr>
          <p:cNvPicPr preferRelativeResize="0"/>
          <p:nvPr/>
        </p:nvPicPr>
        <p:blipFill>
          <a:blip r:embed="rId4">
            <a:alphaModFix/>
          </a:blip>
          <a:stretch>
            <a:fillRect/>
          </a:stretch>
        </p:blipFill>
        <p:spPr>
          <a:xfrm>
            <a:off x="1825125" y="737650"/>
            <a:ext cx="5493750" cy="4120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
                                        </p:tgtEl>
                                        <p:attrNameLst>
                                          <p:attrName>style.visibility</p:attrName>
                                        </p:attrNameLst>
                                      </p:cBhvr>
                                      <p:to>
                                        <p:strVal val="visible"/>
                                      </p:to>
                                    </p:set>
                                    <p:animEffect filter="fade" transition="in">
                                      <p:cBhvr>
                                        <p:cTn dur="1000"/>
                                        <p:tgtEl>
                                          <p:spTgt spid="1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gba8d29d8b3_0_24"/>
          <p:cNvSpPr txBox="1"/>
          <p:nvPr/>
        </p:nvSpPr>
        <p:spPr>
          <a:xfrm>
            <a:off x="2371050" y="457050"/>
            <a:ext cx="44019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Hardware Demonstration</a:t>
            </a:r>
            <a:endParaRPr b="0" i="0" sz="1400" u="none" cap="none" strike="noStrike">
              <a:solidFill>
                <a:srgbClr val="000000"/>
              </a:solidFill>
              <a:latin typeface="Arial"/>
              <a:ea typeface="Arial"/>
              <a:cs typeface="Arial"/>
              <a:sym typeface="Arial"/>
            </a:endParaRPr>
          </a:p>
        </p:txBody>
      </p:sp>
      <p:pic>
        <p:nvPicPr>
          <p:cNvPr id="115" name="Google Shape;115;gba8d29d8b3_0_24"/>
          <p:cNvPicPr preferRelativeResize="0"/>
          <p:nvPr/>
        </p:nvPicPr>
        <p:blipFill>
          <a:blip r:embed="rId3">
            <a:alphaModFix/>
          </a:blip>
          <a:stretch>
            <a:fillRect/>
          </a:stretch>
        </p:blipFill>
        <p:spPr>
          <a:xfrm>
            <a:off x="804500" y="920825"/>
            <a:ext cx="7614301" cy="376014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gc7f677dab1_0_14"/>
          <p:cNvSpPr txBox="1"/>
          <p:nvPr/>
        </p:nvSpPr>
        <p:spPr>
          <a:xfrm>
            <a:off x="2371050" y="160775"/>
            <a:ext cx="44019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Hardware Demonstration</a:t>
            </a:r>
            <a:endParaRPr b="0" i="0" sz="1400" u="none" cap="none" strike="noStrike">
              <a:solidFill>
                <a:srgbClr val="000000"/>
              </a:solidFill>
              <a:latin typeface="Arial"/>
              <a:ea typeface="Arial"/>
              <a:cs typeface="Arial"/>
              <a:sym typeface="Arial"/>
            </a:endParaRPr>
          </a:p>
        </p:txBody>
      </p:sp>
      <p:pic>
        <p:nvPicPr>
          <p:cNvPr id="121" name="Google Shape;121;gc7f677dab1_0_14" title="IR test">
            <a:hlinkClick r:id="rId3"/>
          </p:cNvPr>
          <p:cNvPicPr preferRelativeResize="0"/>
          <p:nvPr/>
        </p:nvPicPr>
        <p:blipFill>
          <a:blip r:embed="rId4">
            <a:alphaModFix/>
          </a:blip>
          <a:stretch>
            <a:fillRect/>
          </a:stretch>
        </p:blipFill>
        <p:spPr>
          <a:xfrm>
            <a:off x="1627175" y="560975"/>
            <a:ext cx="5889625" cy="44172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
                                        </p:tgtEl>
                                        <p:attrNameLst>
                                          <p:attrName>style.visibility</p:attrName>
                                        </p:attrNameLst>
                                      </p:cBhvr>
                                      <p:to>
                                        <p:strVal val="visible"/>
                                      </p:to>
                                    </p:set>
                                    <p:animEffect filter="fade" transition="in">
                                      <p:cBhvr>
                                        <p:cTn dur="1000"/>
                                        <p:tgtEl>
                                          <p:spTgt spid="1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gc7f677dab1_0_10"/>
          <p:cNvSpPr txBox="1"/>
          <p:nvPr/>
        </p:nvSpPr>
        <p:spPr>
          <a:xfrm>
            <a:off x="2371050" y="152775"/>
            <a:ext cx="44019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Hardware Demonstration</a:t>
            </a:r>
            <a:endParaRPr b="0" i="0" sz="1400" u="none" cap="none" strike="noStrike">
              <a:solidFill>
                <a:srgbClr val="000000"/>
              </a:solidFill>
              <a:latin typeface="Arial"/>
              <a:ea typeface="Arial"/>
              <a:cs typeface="Arial"/>
              <a:sym typeface="Arial"/>
            </a:endParaRPr>
          </a:p>
        </p:txBody>
      </p:sp>
      <p:pic>
        <p:nvPicPr>
          <p:cNvPr id="127" name="Google Shape;127;gc7f677dab1_0_10" title="weight test">
            <a:hlinkClick r:id="rId3"/>
          </p:cNvPr>
          <p:cNvPicPr preferRelativeResize="0"/>
          <p:nvPr/>
        </p:nvPicPr>
        <p:blipFill>
          <a:blip r:embed="rId4">
            <a:alphaModFix/>
          </a:blip>
          <a:stretch>
            <a:fillRect/>
          </a:stretch>
        </p:blipFill>
        <p:spPr>
          <a:xfrm>
            <a:off x="1759400" y="552975"/>
            <a:ext cx="5625226" cy="4339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
                                        </p:tgtEl>
                                        <p:attrNameLst>
                                          <p:attrName>style.visibility</p:attrName>
                                        </p:attrNameLst>
                                      </p:cBhvr>
                                      <p:to>
                                        <p:strVal val="visible"/>
                                      </p:to>
                                    </p:set>
                                    <p:animEffect filter="fade" transition="in">
                                      <p:cBhvr>
                                        <p:cTn dur="1000"/>
                                        <p:tgtEl>
                                          <p:spTgt spid="1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gc7fafa20c4_0_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QUESTIONS?</a:t>
            </a:r>
            <a:endParaRPr/>
          </a:p>
        </p:txBody>
      </p:sp>
      <p:sp>
        <p:nvSpPr>
          <p:cNvPr id="133" name="Google Shape;133;gc7fafa20c4_0_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342900" lvl="0" marL="457200" rtl="0" algn="l">
              <a:spcBef>
                <a:spcPts val="0"/>
              </a:spcBef>
              <a:spcAft>
                <a:spcPts val="0"/>
              </a:spcAft>
              <a:buSzPts val="1800"/>
              <a:buChar char="-"/>
            </a:pPr>
            <a:r>
              <a:rPr i="1" lang="en" sz="1900"/>
              <a:t>Cody Klingler</a:t>
            </a:r>
            <a:r>
              <a:rPr lang="en"/>
              <a:t>  cwk15@pitt.edu</a:t>
            </a:r>
            <a:endParaRPr/>
          </a:p>
          <a:p>
            <a:pPr indent="0" lvl="0" marL="0" rtl="0" algn="l">
              <a:spcBef>
                <a:spcPts val="0"/>
              </a:spcBef>
              <a:spcAft>
                <a:spcPts val="0"/>
              </a:spcAft>
              <a:buNone/>
            </a:pPr>
            <a:r>
              <a:t/>
            </a:r>
            <a:endParaRPr/>
          </a:p>
          <a:p>
            <a:pPr indent="-342900" lvl="0" marL="457200" rtl="0" algn="l">
              <a:spcBef>
                <a:spcPts val="0"/>
              </a:spcBef>
              <a:spcAft>
                <a:spcPts val="0"/>
              </a:spcAft>
              <a:buSzPts val="1800"/>
              <a:buChar char="-"/>
            </a:pPr>
            <a:r>
              <a:rPr i="1" lang="en" sz="1900"/>
              <a:t>Jacob Hoffman</a:t>
            </a:r>
            <a:r>
              <a:rPr lang="en"/>
              <a:t>  jah292@pitt.edu</a:t>
            </a:r>
            <a:r>
              <a:rPr lang="en" u="sng"/>
              <a:t> </a:t>
            </a:r>
            <a:endParaRPr u="sng"/>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